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D9962-4547-42AB-9C0F-D71AE010DA69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A05DE-BCFA-476A-AEDA-9698189B4F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02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63609-BA21-407C-8C78-B49151A0FF4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49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1B530-194C-2C8D-FC15-D2AEBBC27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F0DE38-D209-11DC-8F5B-004045E2A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6E6C6-EDDD-1EDE-7FF9-84EBB6F2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6C07E-030C-4A58-1877-EC721BA8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85537D-850A-DA62-EC82-E550EC68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6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DD56F-6ACE-3FD9-E99C-354ED768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A0F4E-501C-62C6-30F5-0C782BCE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3E035C-3D45-57F0-EB66-DF4D537D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C2C06-78CE-0303-5F11-B6827189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3C662-0935-62C7-68B3-D1F63206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19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A2940-F5F7-877A-B50D-03B30959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EB7EC-437A-4AE4-3E5C-0DF3A94B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DDCBD-1127-BC21-B0C2-FA39E83E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755A9-EE22-D5E9-403A-9A76FC70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3D6F0-0E6F-A3BD-618A-12D58429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909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41545-DEFA-D833-8D7D-A8081AC9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536DF-2CE5-8426-D0EB-FDFB8A2E2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882F59-1E4D-595F-B009-F4D823BA4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990703-1ADB-5E39-C6B1-74D44BFB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77D6B-49CD-FA3D-DE3B-3954AAEA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8FCD9E-F0D4-A477-B3A4-DF340F56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72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FC679-41AD-1DAC-92E2-8B43BDCE6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F9877D-05DB-9715-F3CA-299663518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B6E766-4D61-B354-B463-0D897C5AC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FF7834-1A84-B8AF-F995-794CC9FE6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9D8B52-51DD-C003-C91E-FB7A784B5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34B12E-F39C-86CE-2A66-190FE7B0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3E5A38-A330-372D-767B-23C58F49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1F94A4-6428-B297-C6A7-B82CF0BA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33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2A9D6-203F-54F8-9A39-DA4CC94F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FA8F14-E13F-332F-3D83-76202732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E5F324-2EA6-6773-B448-0F32F861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DEB197-D70A-8812-7145-248499E0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3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B45FAF-6C82-E1C6-4622-9A32DA01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70805F-D5BC-5CA4-2488-6B864BD3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B9F716-C6BB-9559-765B-B795A1E4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2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4F425-05E4-89E8-CEB7-A1A35DD5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22EC7-6DD7-90DF-DA9F-62B8BF932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D1C98D-5201-D971-FFBE-4C8F9AAB7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080495-B854-64F6-6678-01E1B908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B85630-3AE2-3EC9-CD71-47B6D4EA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EDC121-52CA-C446-9C5A-ABD35EC9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9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6DBE2-B43E-A86D-29B6-97295749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024C05-5329-2761-F024-E992B5305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70CFCD-AD83-B566-D957-576C0EF6F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6778FA-2D7D-A10A-0CE8-0A5C42CC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6055E9-52E3-4F17-AFF9-79ACFEB2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729519-D506-7AC5-9A41-EE067376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5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A1A81-E762-3057-51FB-02FBCF02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967356-5692-F3A2-A62F-6A721BA2D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4B181A-42C6-EC49-660D-795FB9AF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A3CEA-18B4-8274-336D-A865F29B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4DE7F1-AB01-9DE4-6149-81040169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9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26AE07-F868-D38F-EB7D-06D1CC4C0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4076D6-E4D0-920C-B2DB-A60B84DBB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F4B4D-6232-5034-7721-14A30D9E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0A3D1-74C4-D80D-E50A-DAB496BB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7F394-617C-5A4A-E9A5-EDA2186B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09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A78530-2D21-9E4B-4057-4578DAB3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0DD44C-B8A4-5696-B440-68D70CD63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2FFA6-ADD6-EEF2-3C2E-E3B8D4A49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E79B4-068B-43A7-A018-59BB036CF522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7F73FE-1BBB-B195-C462-212A79B24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60DA3-9166-6C65-BF9A-B1067B219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B990F-78F1-41CE-964E-A6220D9B6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86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6EBFB89-538A-05DF-F478-C3617600CE8A}"/>
              </a:ext>
            </a:extLst>
          </p:cNvPr>
          <p:cNvCxnSpPr>
            <a:cxnSpLocks/>
          </p:cNvCxnSpPr>
          <p:nvPr/>
        </p:nvCxnSpPr>
        <p:spPr>
          <a:xfrm>
            <a:off x="9976274" y="4720440"/>
            <a:ext cx="778086" cy="0"/>
          </a:xfrm>
          <a:prstGeom prst="straightConnector1">
            <a:avLst/>
          </a:prstGeom>
          <a:ln w="38100">
            <a:solidFill>
              <a:srgbClr val="747E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209800" cy="2116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"/>
            <a:ext cx="9982200" cy="2116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8" y="804334"/>
            <a:ext cx="9533467" cy="84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1" y="6536268"/>
            <a:ext cx="9533467" cy="846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769600" y="567267"/>
            <a:ext cx="9652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altLang="ko-KR" sz="1200" dirty="0">
                <a:solidFill>
                  <a:srgbClr val="9E9E9E"/>
                </a:solidFill>
                <a:ea typeface="Pretendard Regular"/>
              </a:rPr>
              <a:t>LLM</a:t>
            </a:r>
            <a:r>
              <a:rPr lang="ko-KR" altLang="en-US" sz="1200" dirty="0">
                <a:solidFill>
                  <a:srgbClr val="9E9E9E"/>
                </a:solidFill>
                <a:ea typeface="Pretendard Regular"/>
              </a:rPr>
              <a:t>의 정상화</a:t>
            </a:r>
            <a:endParaRPr lang="ko-KR" altLang="ko-KR" sz="1200" dirty="0">
              <a:solidFill>
                <a:srgbClr val="9E9E9E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9464" y="922868"/>
            <a:ext cx="6070600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33" b="1">
                <a:solidFill>
                  <a:srgbClr val="558ED5"/>
                </a:solidFill>
                <a:latin typeface="+mj-ea"/>
                <a:ea typeface="+mj-ea"/>
              </a:rPr>
              <a:t>주가 </a:t>
            </a:r>
            <a:r>
              <a:rPr lang="ko-KR" altLang="en-US" sz="2333" b="1" dirty="0">
                <a:solidFill>
                  <a:srgbClr val="558ED5"/>
                </a:solidFill>
                <a:latin typeface="+mj-ea"/>
                <a:ea typeface="+mj-ea"/>
              </a:rPr>
              <a:t>질문 처리 </a:t>
            </a:r>
            <a:r>
              <a:rPr lang="en-US" altLang="ko-KR" sz="2333" b="1" dirty="0">
                <a:solidFill>
                  <a:srgbClr val="558ED5"/>
                </a:solidFill>
                <a:latin typeface="+mj-ea"/>
                <a:ea typeface="+mj-ea"/>
              </a:rPr>
              <a:t>&amp; </a:t>
            </a:r>
            <a:r>
              <a:rPr lang="ko-KR" altLang="en-US" sz="2333" b="1" dirty="0">
                <a:solidFill>
                  <a:srgbClr val="558ED5"/>
                </a:solidFill>
                <a:latin typeface="+mj-ea"/>
                <a:ea typeface="+mj-ea"/>
              </a:rPr>
              <a:t>답변 생성 </a:t>
            </a:r>
            <a:r>
              <a:rPr lang="en-US" altLang="ko-KR" sz="2333" b="1" dirty="0">
                <a:solidFill>
                  <a:srgbClr val="558ED5"/>
                </a:solidFill>
                <a:latin typeface="+mj-ea"/>
                <a:ea typeface="+mj-ea"/>
              </a:rPr>
              <a:t>Flowchart</a:t>
            </a:r>
            <a:endParaRPr lang="en-US" sz="2333" b="1" dirty="0">
              <a:solidFill>
                <a:srgbClr val="558ED5"/>
              </a:solidFill>
              <a:latin typeface="+mj-ea"/>
              <a:ea typeface="+mj-ea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FF2F1EB-A762-770B-23DF-78D13794D689}"/>
              </a:ext>
            </a:extLst>
          </p:cNvPr>
          <p:cNvGrpSpPr/>
          <p:nvPr/>
        </p:nvGrpSpPr>
        <p:grpSpPr>
          <a:xfrm>
            <a:off x="828034" y="2073657"/>
            <a:ext cx="10535932" cy="4328374"/>
            <a:chOff x="2893836" y="3142276"/>
            <a:chExt cx="14053062" cy="5043344"/>
          </a:xfrm>
        </p:grpSpPr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6FFA7551-2A9D-AFF9-AE7E-0044BF7C17BA}"/>
                </a:ext>
              </a:extLst>
            </p:cNvPr>
            <p:cNvCxnSpPr>
              <a:cxnSpLocks/>
            </p:cNvCxnSpPr>
            <p:nvPr/>
          </p:nvCxnSpPr>
          <p:spPr>
            <a:xfrm>
              <a:off x="14732187" y="4870432"/>
              <a:ext cx="1401605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FAC18E3B-F457-925D-547E-AFD8E5FE4512}"/>
                </a:ext>
              </a:extLst>
            </p:cNvPr>
            <p:cNvCxnSpPr>
              <a:cxnSpLocks/>
            </p:cNvCxnSpPr>
            <p:nvPr/>
          </p:nvCxnSpPr>
          <p:spPr>
            <a:xfrm>
              <a:off x="9192946" y="4881712"/>
              <a:ext cx="1401605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1D879CD4-812E-979C-FECD-6160E9F80535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595" y="6704188"/>
              <a:ext cx="8795" cy="40422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순서도: 수행의 시작/종료 13">
              <a:extLst>
                <a:ext uri="{FF2B5EF4-FFF2-40B4-BE49-F238E27FC236}">
                  <a16:creationId xmlns:a16="http://schemas.microsoft.com/office/drawing/2014/main" id="{51DE8DBF-8BA1-40B2-8736-B1ABBFAC52C0}"/>
                </a:ext>
              </a:extLst>
            </p:cNvPr>
            <p:cNvSpPr/>
            <p:nvPr/>
          </p:nvSpPr>
          <p:spPr>
            <a:xfrm>
              <a:off x="15270498" y="7314931"/>
              <a:ext cx="1676400" cy="698501"/>
            </a:xfrm>
            <a:prstGeom prst="flowChartTerminator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결과 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return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56D5966E-97FB-458F-885F-730FA5952052}"/>
                </a:ext>
              </a:extLst>
            </p:cNvPr>
            <p:cNvCxnSpPr/>
            <p:nvPr/>
          </p:nvCxnSpPr>
          <p:spPr>
            <a:xfrm>
              <a:off x="4570236" y="3578279"/>
              <a:ext cx="685800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A3F2A2FF-B06E-4A11-9424-E6A1BDAC86C8}"/>
                </a:ext>
              </a:extLst>
            </p:cNvPr>
            <p:cNvCxnSpPr/>
            <p:nvPr/>
          </p:nvCxnSpPr>
          <p:spPr>
            <a:xfrm>
              <a:off x="9908751" y="3627999"/>
              <a:ext cx="68579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B0DC5C-21F8-4E22-BB1E-C1792A18F3D2}"/>
                </a:ext>
              </a:extLst>
            </p:cNvPr>
            <p:cNvSpPr txBox="1"/>
            <p:nvPr/>
          </p:nvSpPr>
          <p:spPr>
            <a:xfrm>
              <a:off x="10080602" y="3362222"/>
              <a:ext cx="434466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no</a:t>
              </a:r>
              <a:endParaRPr lang="ko-KR" altLang="en-US" sz="933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B0AF58-105C-4CA7-8A37-3E3233804629}"/>
                </a:ext>
              </a:extLst>
            </p:cNvPr>
            <p:cNvSpPr txBox="1"/>
            <p:nvPr/>
          </p:nvSpPr>
          <p:spPr>
            <a:xfrm>
              <a:off x="8978576" y="4082595"/>
              <a:ext cx="479368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yes</a:t>
              </a:r>
              <a:endParaRPr lang="ko-KR" altLang="en-US" sz="933" dirty="0"/>
            </a:p>
          </p:txBody>
        </p:sp>
        <p:sp>
          <p:nvSpPr>
            <p:cNvPr id="24" name="순서도: 문서 23">
              <a:extLst>
                <a:ext uri="{FF2B5EF4-FFF2-40B4-BE49-F238E27FC236}">
                  <a16:creationId xmlns:a16="http://schemas.microsoft.com/office/drawing/2014/main" id="{49A53E48-ECB3-4161-9FEE-ED2D902CF466}"/>
                </a:ext>
              </a:extLst>
            </p:cNvPr>
            <p:cNvSpPr/>
            <p:nvPr/>
          </p:nvSpPr>
          <p:spPr>
            <a:xfrm>
              <a:off x="10594550" y="3171923"/>
              <a:ext cx="1651277" cy="1004889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</a:rPr>
                <a:t>해당하는 질문 타입에 대한 함수 실행</a:t>
              </a:r>
              <a:r>
                <a:rPr lang="en-US" altLang="ko-KR" sz="933" dirty="0">
                  <a:solidFill>
                    <a:schemeClr val="tx1"/>
                  </a:solidFill>
                </a:rPr>
                <a:t>, </a:t>
              </a:r>
              <a:r>
                <a:rPr lang="ko-KR" altLang="en-US" sz="933" dirty="0">
                  <a:solidFill>
                    <a:schemeClr val="tx1"/>
                  </a:solidFill>
                </a:rPr>
                <a:t>결과 출력</a:t>
              </a:r>
            </a:p>
          </p:txBody>
        </p:sp>
        <p:sp>
          <p:nvSpPr>
            <p:cNvPr id="31" name="순서도: 수행의 시작/종료 30">
              <a:extLst>
                <a:ext uri="{FF2B5EF4-FFF2-40B4-BE49-F238E27FC236}">
                  <a16:creationId xmlns:a16="http://schemas.microsoft.com/office/drawing/2014/main" id="{E2DD208C-CE9D-4EE1-ABFD-F2E0DB715CCD}"/>
                </a:ext>
              </a:extLst>
            </p:cNvPr>
            <p:cNvSpPr/>
            <p:nvPr/>
          </p:nvSpPr>
          <p:spPr>
            <a:xfrm>
              <a:off x="2893836" y="3229028"/>
              <a:ext cx="1676400" cy="698501"/>
            </a:xfrm>
            <a:prstGeom prst="flowChartTerminator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>
                  <a:solidFill>
                    <a:schemeClr val="tx1"/>
                  </a:solidFill>
                  <a:latin typeface="+mn-ea"/>
                </a:rPr>
                <a:t>START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18891BF4-E2B6-47F7-8EC2-79CE4DB7EF45}"/>
                </a:ext>
              </a:extLst>
            </p:cNvPr>
            <p:cNvCxnSpPr>
              <a:cxnSpLocks/>
            </p:cNvCxnSpPr>
            <p:nvPr/>
          </p:nvCxnSpPr>
          <p:spPr>
            <a:xfrm>
              <a:off x="6602707" y="3613808"/>
              <a:ext cx="1401605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C6C69A3-FF7D-4BBD-93FE-52CF5AE0E24A}"/>
                </a:ext>
              </a:extLst>
            </p:cNvPr>
            <p:cNvCxnSpPr>
              <a:cxnSpLocks/>
            </p:cNvCxnSpPr>
            <p:nvPr/>
          </p:nvCxnSpPr>
          <p:spPr>
            <a:xfrm>
              <a:off x="8969781" y="4051041"/>
              <a:ext cx="8795" cy="40422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6C2FB15B-01A5-4200-AF0E-53F0BB723568}"/>
                </a:ext>
              </a:extLst>
            </p:cNvPr>
            <p:cNvCxnSpPr/>
            <p:nvPr/>
          </p:nvCxnSpPr>
          <p:spPr>
            <a:xfrm>
              <a:off x="9920367" y="6252049"/>
              <a:ext cx="685799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순서도: 문서 45">
              <a:extLst>
                <a:ext uri="{FF2B5EF4-FFF2-40B4-BE49-F238E27FC236}">
                  <a16:creationId xmlns:a16="http://schemas.microsoft.com/office/drawing/2014/main" id="{67C2B6FB-3B72-46ED-BC73-DC158EC58A61}"/>
                </a:ext>
              </a:extLst>
            </p:cNvPr>
            <p:cNvSpPr/>
            <p:nvPr/>
          </p:nvSpPr>
          <p:spPr>
            <a:xfrm>
              <a:off x="10595068" y="7142742"/>
              <a:ext cx="1978261" cy="1042878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{‘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시가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현재가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고가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저가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‘success’}  </a:t>
              </a:r>
              <a:r>
                <a:rPr lang="en-US" altLang="ko-KR" sz="933" dirty="0" err="1">
                  <a:solidFill>
                    <a:srgbClr val="212529"/>
                  </a:solidFill>
                  <a:latin typeface="+mn-ea"/>
                </a:rPr>
                <a:t>json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 데이터 생성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 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B92D0302-1AC8-4254-AF8B-A05A0118AFE4}"/>
                </a:ext>
              </a:extLst>
            </p:cNvPr>
            <p:cNvCxnSpPr>
              <a:cxnSpLocks/>
              <a:stCxn id="46" idx="3"/>
              <a:endCxn id="14" idx="1"/>
            </p:cNvCxnSpPr>
            <p:nvPr/>
          </p:nvCxnSpPr>
          <p:spPr>
            <a:xfrm>
              <a:off x="12573329" y="7664181"/>
              <a:ext cx="2697169" cy="0"/>
            </a:xfrm>
            <a:prstGeom prst="straightConnector1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2372394C-69E0-4489-91B2-C8BCA10EC728}"/>
                </a:ext>
              </a:extLst>
            </p:cNvPr>
            <p:cNvCxnSpPr>
              <a:cxnSpLocks/>
              <a:stCxn id="24" idx="3"/>
              <a:endCxn id="14" idx="0"/>
            </p:cNvCxnSpPr>
            <p:nvPr/>
          </p:nvCxnSpPr>
          <p:spPr>
            <a:xfrm>
              <a:off x="12245828" y="3674368"/>
              <a:ext cx="3862871" cy="3640563"/>
            </a:xfrm>
            <a:prstGeom prst="bentConnector2">
              <a:avLst/>
            </a:prstGeom>
            <a:ln w="38100">
              <a:solidFill>
                <a:srgbClr val="747E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5E54447-5B3A-475A-8D23-DF1222F27D2A}"/>
                </a:ext>
              </a:extLst>
            </p:cNvPr>
            <p:cNvSpPr/>
            <p:nvPr/>
          </p:nvSpPr>
          <p:spPr>
            <a:xfrm>
              <a:off x="5256035" y="3194066"/>
              <a:ext cx="1966512" cy="81746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>
                  <a:solidFill>
                    <a:schemeClr val="tx1"/>
                  </a:solidFill>
                  <a:latin typeface="+mn-ea"/>
                </a:rPr>
                <a:t>GPT-4o</a:t>
              </a:r>
              <a:r>
                <a:rPr lang="ko-KR" altLang="en-US" sz="933">
                  <a:solidFill>
                    <a:schemeClr val="tx1"/>
                  </a:solidFill>
                  <a:latin typeface="+mn-ea"/>
                </a:rPr>
                <a:t>를 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통해 질문 타입 분류</a:t>
              </a:r>
            </a:p>
          </p:txBody>
        </p:sp>
        <p:sp>
          <p:nvSpPr>
            <p:cNvPr id="17" name="순서도: 판단 16">
              <a:extLst>
                <a:ext uri="{FF2B5EF4-FFF2-40B4-BE49-F238E27FC236}">
                  <a16:creationId xmlns:a16="http://schemas.microsoft.com/office/drawing/2014/main" id="{D906DD5B-3037-4D7D-B1AE-FB12107111A3}"/>
                </a:ext>
              </a:extLst>
            </p:cNvPr>
            <p:cNvSpPr/>
            <p:nvPr/>
          </p:nvSpPr>
          <p:spPr>
            <a:xfrm>
              <a:off x="10620268" y="5760011"/>
              <a:ext cx="1895535" cy="979240"/>
            </a:xfrm>
            <a:prstGeom prst="flowChartDecisi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실시간 </a:t>
              </a:r>
              <a:endParaRPr lang="en-US" altLang="ko-KR" sz="933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주가를 </a:t>
              </a:r>
              <a:endParaRPr lang="en-US" altLang="ko-KR" sz="933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묻는 질문인가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?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순서도: 문서 38">
              <a:extLst>
                <a:ext uri="{FF2B5EF4-FFF2-40B4-BE49-F238E27FC236}">
                  <a16:creationId xmlns:a16="http://schemas.microsoft.com/office/drawing/2014/main" id="{A9DDE7D6-6861-E56A-B1C4-476F5B942D17}"/>
                </a:ext>
              </a:extLst>
            </p:cNvPr>
            <p:cNvSpPr/>
            <p:nvPr/>
          </p:nvSpPr>
          <p:spPr>
            <a:xfrm>
              <a:off x="13188132" y="5767720"/>
              <a:ext cx="1978261" cy="1042876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{‘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시가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종가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고가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저가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‘success’}  </a:t>
              </a:r>
              <a:r>
                <a:rPr lang="en-US" altLang="ko-KR" sz="933" dirty="0" err="1">
                  <a:solidFill>
                    <a:srgbClr val="212529"/>
                  </a:solidFill>
                  <a:latin typeface="+mn-ea"/>
                </a:rPr>
                <a:t>json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 데이터 생성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 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순서도: 판단 53">
              <a:extLst>
                <a:ext uri="{FF2B5EF4-FFF2-40B4-BE49-F238E27FC236}">
                  <a16:creationId xmlns:a16="http://schemas.microsoft.com/office/drawing/2014/main" id="{2190669B-273E-0FB8-8E0C-C21813C52CB7}"/>
                </a:ext>
              </a:extLst>
            </p:cNvPr>
            <p:cNvSpPr/>
            <p:nvPr/>
          </p:nvSpPr>
          <p:spPr>
            <a:xfrm>
              <a:off x="8016506" y="3142276"/>
              <a:ext cx="1895535" cy="979240"/>
            </a:xfrm>
            <a:prstGeom prst="flowChartDecisi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주식 가격을 묻는 질문인가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?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61EC24F-28F1-4B16-BE5F-3C37E8D14167}"/>
                </a:ext>
              </a:extLst>
            </p:cNvPr>
            <p:cNvSpPr/>
            <p:nvPr/>
          </p:nvSpPr>
          <p:spPr>
            <a:xfrm>
              <a:off x="8014946" y="4461702"/>
              <a:ext cx="1966512" cy="81746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GPT-4o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를 통해 질문으로부터 종목 코드와 해당 날자 추출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4BF87E4-7556-486F-BB16-B0890D6FA8D4}"/>
                </a:ext>
              </a:extLst>
            </p:cNvPr>
            <p:cNvSpPr/>
            <p:nvPr/>
          </p:nvSpPr>
          <p:spPr>
            <a:xfrm>
              <a:off x="8014547" y="5838453"/>
              <a:ext cx="1966512" cy="81746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 err="1">
                  <a:solidFill>
                    <a:schemeClr val="tx1"/>
                  </a:solidFill>
                  <a:latin typeface="+mn-ea"/>
                </a:rPr>
                <a:t>FinanceDataReader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함수에 해당 값을 인수로 넣어 주가 데이터 수집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EB36E6-A709-5D2C-2EF8-FFA3491B41BC}"/>
                </a:ext>
              </a:extLst>
            </p:cNvPr>
            <p:cNvSpPr txBox="1"/>
            <p:nvPr/>
          </p:nvSpPr>
          <p:spPr>
            <a:xfrm>
              <a:off x="11596491" y="6713158"/>
              <a:ext cx="479368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yes</a:t>
              </a:r>
              <a:endParaRPr lang="ko-KR" altLang="en-US" sz="933" dirty="0"/>
            </a:p>
          </p:txBody>
        </p: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EC1563D9-8BFD-4B72-55FA-A1AD95520A54}"/>
                </a:ext>
              </a:extLst>
            </p:cNvPr>
            <p:cNvCxnSpPr/>
            <p:nvPr/>
          </p:nvCxnSpPr>
          <p:spPr>
            <a:xfrm>
              <a:off x="12456178" y="6238005"/>
              <a:ext cx="68579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3839C69-DB49-BCB8-240A-CFEBE8F6DD6B}"/>
                </a:ext>
              </a:extLst>
            </p:cNvPr>
            <p:cNvSpPr txBox="1"/>
            <p:nvPr/>
          </p:nvSpPr>
          <p:spPr>
            <a:xfrm>
              <a:off x="12628029" y="5972228"/>
              <a:ext cx="434466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no</a:t>
              </a:r>
              <a:endParaRPr lang="ko-KR" altLang="en-US" sz="933" dirty="0"/>
            </a:p>
          </p:txBody>
        </p:sp>
        <p:sp>
          <p:nvSpPr>
            <p:cNvPr id="86" name="순서도: 판단 85">
              <a:extLst>
                <a:ext uri="{FF2B5EF4-FFF2-40B4-BE49-F238E27FC236}">
                  <a16:creationId xmlns:a16="http://schemas.microsoft.com/office/drawing/2014/main" id="{8AA893FF-70C2-9997-C5FE-C13A11439C7C}"/>
                </a:ext>
              </a:extLst>
            </p:cNvPr>
            <p:cNvSpPr/>
            <p:nvPr/>
          </p:nvSpPr>
          <p:spPr>
            <a:xfrm>
              <a:off x="10620268" y="4392271"/>
              <a:ext cx="1895535" cy="979240"/>
            </a:xfrm>
            <a:prstGeom prst="flowChartDecisi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33" dirty="0">
                  <a:solidFill>
                    <a:schemeClr val="tx1"/>
                  </a:solidFill>
                  <a:latin typeface="+mn-ea"/>
                </a:rPr>
                <a:t>단일 주식 질문인가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?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188846E1-7207-69DB-B55B-FC8C2239F95E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 flipH="1">
              <a:off x="9050028" y="5371511"/>
              <a:ext cx="2518007" cy="48534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12E675F-6DD2-1327-D9C7-DBA019AD077B}"/>
                </a:ext>
              </a:extLst>
            </p:cNvPr>
            <p:cNvSpPr txBox="1"/>
            <p:nvPr/>
          </p:nvSpPr>
          <p:spPr>
            <a:xfrm>
              <a:off x="9862843" y="5371511"/>
              <a:ext cx="479368" cy="274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933" dirty="0"/>
                <a:t>yes</a:t>
              </a:r>
              <a:endParaRPr lang="ko-KR" altLang="en-US" sz="933" dirty="0"/>
            </a:p>
          </p:txBody>
        </p:sp>
        <p:sp>
          <p:nvSpPr>
            <p:cNvPr id="93" name="순서도: 문서 92">
              <a:extLst>
                <a:ext uri="{FF2B5EF4-FFF2-40B4-BE49-F238E27FC236}">
                  <a16:creationId xmlns:a16="http://schemas.microsoft.com/office/drawing/2014/main" id="{E0A31E27-C137-E8D8-A55C-CEDFEE13F3B2}"/>
                </a:ext>
              </a:extLst>
            </p:cNvPr>
            <p:cNvSpPr/>
            <p:nvPr/>
          </p:nvSpPr>
          <p:spPr>
            <a:xfrm>
              <a:off x="13188132" y="4435995"/>
              <a:ext cx="1978261" cy="1042876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rgbClr val="747E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{‘message’ : ‘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단일 주식을 검색해주세요</a:t>
              </a:r>
              <a:r>
                <a:rPr lang="en-US" altLang="ko-KR" sz="933" dirty="0">
                  <a:solidFill>
                    <a:srgbClr val="212529"/>
                  </a:solidFill>
                  <a:latin typeface="+mn-ea"/>
                </a:rPr>
                <a:t>’, ‘success’: True}  </a:t>
              </a:r>
              <a:r>
                <a:rPr lang="en-US" altLang="ko-KR" sz="933" dirty="0" err="1">
                  <a:solidFill>
                    <a:srgbClr val="212529"/>
                  </a:solidFill>
                  <a:latin typeface="+mn-ea"/>
                </a:rPr>
                <a:t>json</a:t>
              </a:r>
              <a:r>
                <a:rPr lang="ko-KR" altLang="en-US" sz="933" dirty="0">
                  <a:solidFill>
                    <a:srgbClr val="212529"/>
                  </a:solidFill>
                  <a:latin typeface="+mn-ea"/>
                </a:rPr>
                <a:t> 데이터 생성</a:t>
              </a:r>
              <a:r>
                <a:rPr lang="en-US" altLang="ko-KR" sz="933" dirty="0">
                  <a:solidFill>
                    <a:schemeClr val="tx1"/>
                  </a:solidFill>
                  <a:latin typeface="+mn-ea"/>
                </a:rPr>
                <a:t> </a:t>
              </a:r>
              <a:endParaRPr lang="ko-KR" altLang="en-US" sz="933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64C253BF-5FED-CEA7-C8FA-36E262E33013}"/>
              </a:ext>
            </a:extLst>
          </p:cNvPr>
          <p:cNvCxnSpPr/>
          <p:nvPr/>
        </p:nvCxnSpPr>
        <p:spPr>
          <a:xfrm>
            <a:off x="8020021" y="3564660"/>
            <a:ext cx="51416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8461110-2771-DD06-EACE-9680A17B83CD}"/>
              </a:ext>
            </a:extLst>
          </p:cNvPr>
          <p:cNvSpPr txBox="1"/>
          <p:nvPr/>
        </p:nvSpPr>
        <p:spPr>
          <a:xfrm>
            <a:off x="8148862" y="3336561"/>
            <a:ext cx="325730" cy="2358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933" dirty="0"/>
              <a:t>no</a:t>
            </a:r>
            <a:endParaRPr lang="ko-KR" altLang="en-US" sz="933" dirty="0"/>
          </a:p>
        </p:txBody>
      </p:sp>
    </p:spTree>
    <p:extLst>
      <p:ext uri="{BB962C8B-B14F-4D97-AF65-F5344CB8AC3E}">
        <p14:creationId xmlns:p14="http://schemas.microsoft.com/office/powerpoint/2010/main" val="940385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</Words>
  <Application>Microsoft Office PowerPoint</Application>
  <PresentationFormat>와이드스크린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Regular</vt:lpstr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1</cp:revision>
  <dcterms:created xsi:type="dcterms:W3CDTF">2024-12-17T02:58:05Z</dcterms:created>
  <dcterms:modified xsi:type="dcterms:W3CDTF">2024-12-17T03:15:14Z</dcterms:modified>
</cp:coreProperties>
</file>