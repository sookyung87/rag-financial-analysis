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4"/>
  </p:notesMasterIdLst>
  <p:sldIdLst>
    <p:sldId id="256" r:id="rId2"/>
    <p:sldId id="419" r:id="rId3"/>
    <p:sldId id="420" r:id="rId4"/>
    <p:sldId id="359" r:id="rId5"/>
    <p:sldId id="376" r:id="rId6"/>
    <p:sldId id="300" r:id="rId7"/>
    <p:sldId id="377" r:id="rId8"/>
    <p:sldId id="378" r:id="rId9"/>
    <p:sldId id="379" r:id="rId10"/>
    <p:sldId id="368" r:id="rId11"/>
    <p:sldId id="375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61" r:id="rId20"/>
    <p:sldId id="388" r:id="rId21"/>
    <p:sldId id="389" r:id="rId22"/>
    <p:sldId id="390" r:id="rId23"/>
    <p:sldId id="391" r:id="rId24"/>
    <p:sldId id="392" r:id="rId25"/>
    <p:sldId id="393" r:id="rId26"/>
    <p:sldId id="387" r:id="rId27"/>
    <p:sldId id="362" r:id="rId28"/>
    <p:sldId id="394" r:id="rId29"/>
    <p:sldId id="395" r:id="rId30"/>
    <p:sldId id="363" r:id="rId31"/>
    <p:sldId id="396" r:id="rId32"/>
    <p:sldId id="398" r:id="rId33"/>
    <p:sldId id="397" r:id="rId34"/>
    <p:sldId id="399" r:id="rId35"/>
    <p:sldId id="400" r:id="rId36"/>
    <p:sldId id="401" r:id="rId37"/>
    <p:sldId id="402" r:id="rId38"/>
    <p:sldId id="403" r:id="rId39"/>
    <p:sldId id="406" r:id="rId40"/>
    <p:sldId id="404" r:id="rId41"/>
    <p:sldId id="405" r:id="rId42"/>
    <p:sldId id="407" r:id="rId43"/>
    <p:sldId id="408" r:id="rId44"/>
    <p:sldId id="421" r:id="rId45"/>
    <p:sldId id="422" r:id="rId46"/>
    <p:sldId id="364" r:id="rId47"/>
    <p:sldId id="410" r:id="rId48"/>
    <p:sldId id="411" r:id="rId49"/>
    <p:sldId id="412" r:id="rId50"/>
    <p:sldId id="413" r:id="rId51"/>
    <p:sldId id="414" r:id="rId52"/>
    <p:sldId id="415" r:id="rId53"/>
    <p:sldId id="416" r:id="rId54"/>
    <p:sldId id="417" r:id="rId55"/>
    <p:sldId id="418" r:id="rId56"/>
    <p:sldId id="365" r:id="rId57"/>
    <p:sldId id="409" r:id="rId58"/>
    <p:sldId id="366" r:id="rId59"/>
    <p:sldId id="423" r:id="rId60"/>
    <p:sldId id="367" r:id="rId61"/>
    <p:sldId id="343" r:id="rId62"/>
    <p:sldId id="286" r:id="rId63"/>
  </p:sldIdLst>
  <p:sldSz cx="18288000" cy="10287000"/>
  <p:notesSz cx="6858000" cy="9144000"/>
  <p:embeddedFontLst>
    <p:embeddedFont>
      <p:font typeface="Abadi" panose="020B0604020104020204" pitchFamily="34" charset="0"/>
      <p:regular r:id="rId65"/>
    </p:embeddedFont>
    <p:embeddedFont>
      <p:font typeface="Arimo" panose="020B0600000101010101" charset="0"/>
      <p:regular r:id="rId66"/>
    </p:embeddedFont>
    <p:embeddedFont>
      <p:font typeface="Arimo Bold" panose="020B0600000101010101" charset="0"/>
      <p:regular r:id="rId67"/>
    </p:embeddedFont>
    <p:embeddedFont>
      <p:font typeface="Cafe" charset="-79"/>
      <p:regular r:id="rId68"/>
    </p:embeddedFont>
    <p:embeddedFont>
      <p:font typeface="Calibri (MS)" panose="020B0600000101010101" charset="0"/>
      <p:regular r:id="rId69"/>
    </p:embeddedFont>
    <p:embeddedFont>
      <p:font typeface="Calibri (MS) Bold" panose="020B0600000101010101" charset="0"/>
      <p:regular r:id="rId70"/>
    </p:embeddedFont>
    <p:embeddedFont>
      <p:font typeface="Calibri (MS) Light" panose="020B0600000101010101" charset="0"/>
      <p:regular r:id="rId71"/>
    </p:embeddedFont>
    <p:embeddedFont>
      <p:font typeface="맑은 고딕" panose="020B0503020000020004" pitchFamily="50" charset="-127"/>
      <p:regular r:id="rId72"/>
      <p:bold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69B"/>
    <a:srgbClr val="747EA7"/>
    <a:srgbClr val="FFFFFF"/>
    <a:srgbClr val="FC3753"/>
    <a:srgbClr val="FCFCFC"/>
    <a:srgbClr val="C1C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79058" autoAdjust="0"/>
  </p:normalViewPr>
  <p:slideViewPr>
    <p:cSldViewPr>
      <p:cViewPr varScale="1">
        <p:scale>
          <a:sx n="43" d="100"/>
          <a:sy n="43" d="100"/>
        </p:scale>
        <p:origin x="14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288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3021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ko-KR" altLang="en-US" dirty="0"/>
              <a:t>역할 분담입니다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정찬우 팀장과 이승준 팀원 은 각각 서버와 프론트 엔드를 담당하였고</a:t>
            </a:r>
            <a:r>
              <a:rPr lang="en-US" altLang="ko-KR" dirty="0"/>
              <a:t>, </a:t>
            </a:r>
            <a:r>
              <a:rPr lang="ko-KR" altLang="en-US" dirty="0"/>
              <a:t>데이터 수집 및 </a:t>
            </a:r>
            <a:r>
              <a:rPr lang="ko-KR" altLang="en-US" dirty="0" err="1"/>
              <a:t>크롤링</a:t>
            </a:r>
            <a:r>
              <a:rPr lang="ko-KR" altLang="en-US" dirty="0"/>
              <a:t> 기능을 맡았습니다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이수경 팀원과 김현우 팀원은 </a:t>
            </a:r>
            <a:r>
              <a:rPr lang="en-US" altLang="ko-KR" dirty="0"/>
              <a:t>rag </a:t>
            </a:r>
            <a:r>
              <a:rPr lang="ko-KR" altLang="en-US" dirty="0"/>
              <a:t>모델 구현을 담당하였으며 이수경 팀원은 </a:t>
            </a:r>
            <a:r>
              <a:rPr lang="en-US" altLang="ko-KR" dirty="0"/>
              <a:t>rag </a:t>
            </a:r>
            <a:r>
              <a:rPr lang="ko-KR" altLang="en-US" dirty="0"/>
              <a:t>프롬프트 분석</a:t>
            </a:r>
            <a:r>
              <a:rPr lang="en-US" altLang="ko-KR" dirty="0"/>
              <a:t>, </a:t>
            </a:r>
            <a:r>
              <a:rPr lang="ko-KR" altLang="en-US" dirty="0"/>
              <a:t>김현우 팀원은 영어 </a:t>
            </a:r>
            <a:r>
              <a:rPr lang="en-US" altLang="ko-KR" dirty="0"/>
              <a:t>rag </a:t>
            </a:r>
            <a:r>
              <a:rPr lang="ko-KR" altLang="en-US" dirty="0"/>
              <a:t>모델 구현을 담당하였습니다</a:t>
            </a:r>
            <a:r>
              <a:rPr lang="en-US" altLang="ko-KR" dirty="0"/>
              <a:t>.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4371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3114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3114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31149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31149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0650" lvl="1" algn="l">
              <a:lnSpc>
                <a:spcPts val="3600"/>
              </a:lnSpc>
            </a:pPr>
            <a:r>
              <a:rPr lang="ko-KR" altLang="en-US" sz="1200" dirty="0">
                <a:sym typeface="Calibri (MS) Bold"/>
              </a:rPr>
              <a:t>시시각각 변하는 시장 상황에 민감한 금융 데이터 특성 상 최신 정보 수집 능력이 굉장히 중요</a:t>
            </a:r>
            <a:r>
              <a:rPr lang="en-US" altLang="ko-KR" sz="1200" dirty="0">
                <a:sym typeface="Calibri (MS) Bold"/>
              </a:rPr>
              <a:t>!  *****</a:t>
            </a:r>
            <a:r>
              <a:rPr lang="ko-KR" altLang="en-US" sz="1200" dirty="0">
                <a:sym typeface="Calibri (MS) Bold"/>
              </a:rPr>
              <a:t>이 내용 </a:t>
            </a:r>
            <a:r>
              <a:rPr lang="ko-KR" altLang="en-US" sz="1200" dirty="0" err="1">
                <a:sym typeface="Calibri (MS) Bold"/>
              </a:rPr>
              <a:t>네모칸에</a:t>
            </a:r>
            <a:r>
              <a:rPr lang="ko-KR" altLang="en-US" sz="1200" dirty="0">
                <a:sym typeface="Calibri (MS) Bold"/>
              </a:rPr>
              <a:t> 넣으면 넘 길어서 걍 줄여서 넣음 대본에는 다 </a:t>
            </a:r>
            <a:r>
              <a:rPr lang="ko-KR" altLang="en-US" sz="1200" dirty="0" err="1">
                <a:sym typeface="Calibri (MS) Bold"/>
              </a:rPr>
              <a:t>말하는게</a:t>
            </a:r>
            <a:r>
              <a:rPr lang="ko-KR" altLang="en-US" sz="1200" dirty="0">
                <a:sym typeface="Calibri (MS) Bold"/>
              </a:rPr>
              <a:t> 좋을 듯</a:t>
            </a:r>
            <a:endParaRPr lang="en-US" altLang="ko-KR" sz="1200" dirty="0">
              <a:sym typeface="Calibri (MS) Bold"/>
            </a:endParaRPr>
          </a:p>
          <a:p>
            <a:pPr marL="120650" lvl="1" algn="l">
              <a:lnSpc>
                <a:spcPct val="150000"/>
              </a:lnSpc>
            </a:pPr>
            <a:r>
              <a:rPr lang="ko-KR" altLang="en-US" sz="1200" dirty="0">
                <a:latin typeface="Abadi" panose="020B0604020104020204" pitchFamily="34" charset="0"/>
              </a:rPr>
              <a:t>하지만</a:t>
            </a:r>
            <a:r>
              <a:rPr lang="en-US" altLang="ko-KR" sz="1200" i="0" dirty="0">
                <a:effectLst/>
                <a:latin typeface="Abadi" panose="020B0604020104020204" pitchFamily="34" charset="0"/>
              </a:rPr>
              <a:t>GPT</a:t>
            </a:r>
            <a:r>
              <a:rPr lang="ko-KR" altLang="en-US" sz="1200" i="0" dirty="0">
                <a:effectLst/>
                <a:latin typeface="Abadi" panose="020B0604020104020204" pitchFamily="34" charset="0"/>
              </a:rPr>
              <a:t>는 최신 데이터에 접근할 수 없기 때문에</a:t>
            </a:r>
            <a:r>
              <a:rPr lang="en-US" altLang="ko-KR" sz="1200" i="0" dirty="0">
                <a:effectLst/>
                <a:latin typeface="Abadi" panose="020B0604020104020204" pitchFamily="34" charset="0"/>
              </a:rPr>
              <a:t>, </a:t>
            </a:r>
            <a:r>
              <a:rPr lang="ko-KR" altLang="en-US" sz="1200" i="0" dirty="0">
                <a:effectLst/>
                <a:latin typeface="Abadi" panose="020B0604020104020204" pitchFamily="34" charset="0"/>
              </a:rPr>
              <a:t>제공하는 정보를 무조건 신뢰할 수 없다</a:t>
            </a:r>
            <a:r>
              <a:rPr lang="en-US" altLang="ko-KR" sz="1200" i="0" dirty="0">
                <a:effectLst/>
                <a:latin typeface="Abadi" panose="020B0604020104020204" pitchFamily="34" charset="0"/>
              </a:rPr>
              <a:t>.</a:t>
            </a:r>
          </a:p>
          <a:p>
            <a:pPr marL="120650" lvl="1" algn="l">
              <a:lnSpc>
                <a:spcPct val="150000"/>
              </a:lnSpc>
            </a:pPr>
            <a:r>
              <a:rPr lang="ko-KR" altLang="en-US" sz="1200" i="0" dirty="0">
                <a:effectLst/>
                <a:latin typeface="Abadi" panose="020B0604020104020204" pitchFamily="34" charset="0"/>
              </a:rPr>
              <a:t>이를 해결하기 위한 기술이 추가로 필요하다</a:t>
            </a:r>
            <a:r>
              <a:rPr lang="en-US" altLang="ko-KR" sz="1200" i="0" dirty="0">
                <a:effectLst/>
                <a:latin typeface="Abadi" panose="020B0604020104020204" pitchFamily="34" charset="0"/>
              </a:rPr>
              <a:t>. </a:t>
            </a:r>
            <a:r>
              <a:rPr lang="ko-KR" altLang="en-US" sz="1200" i="0" dirty="0">
                <a:effectLst/>
                <a:latin typeface="Abadi" panose="020B0604020104020204" pitchFamily="34" charset="0"/>
              </a:rPr>
              <a:t>따라서 </a:t>
            </a:r>
            <a:r>
              <a:rPr lang="en-US" altLang="ko-KR" sz="1200" dirty="0">
                <a:sym typeface="Calibri (MS) Bold"/>
              </a:rPr>
              <a:t>RAG </a:t>
            </a:r>
            <a:r>
              <a:rPr lang="ko-KR" altLang="en-US" sz="1200" dirty="0">
                <a:sym typeface="Calibri (MS) Bold"/>
              </a:rPr>
              <a:t>을 활용하여 이러한 문제를 해결해보자</a:t>
            </a:r>
            <a:r>
              <a:rPr lang="en-US" altLang="ko-KR" sz="1200" dirty="0">
                <a:sym typeface="Calibri (MS) Bold"/>
              </a:rPr>
              <a:t>!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31149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외부에서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다향한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파일 형태인 데이터들을 수집한다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파일형태 예시로는 워드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, pdf, 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웹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크롤링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등이 있다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12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수집한 데이터들을 텍스트화 한다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예를들어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워드같은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문서파일을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텍스트화함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 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텍스트한 데이터를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전처리하는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과정을 거친다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데이터를 분할 하는 이유로는 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ppt 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참고</a:t>
            </a: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13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전처리된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데이터들을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임베딩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하는 단계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임베딩은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</a:t>
            </a:r>
            <a:r>
              <a:rPr lang="ko-KR" altLang="en-US" sz="12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자연어를 수치화 된 벡터로 변환하고</a:t>
            </a:r>
            <a:r>
              <a:rPr lang="en-US" altLang="ko-KR" sz="12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</a:t>
            </a:r>
            <a:r>
              <a:rPr lang="ko-KR" altLang="en-US" sz="12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이 벡터를 통해 데이터간 유사도나 관계를 수학적으로 계산할 수 있게 한다</a:t>
            </a:r>
            <a:r>
              <a:rPr lang="en-US" altLang="ko-KR" sz="12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임베딩을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거치면 문서가 숫자 벡터로 변환되며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벡터의 길이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(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차원 수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)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는 사용하는 </a:t>
            </a:r>
            <a:r>
              <a:rPr lang="ko-KR" altLang="en-US" sz="1200" b="0" strike="noStrike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임베딩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모델에 따라 달라진다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예를 들어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4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차원 </a:t>
            </a:r>
            <a:r>
              <a:rPr lang="ko-KR" altLang="en-US" sz="1200" b="0" strike="noStrike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임베딩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모델을 사용하면 벡터는 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4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개의 수로 구성되고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768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차원 모델을 사용하면 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768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개의 수로 구성된다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00" dirty="0">
              <a:solidFill>
                <a:srgbClr val="000000"/>
              </a:solidFill>
              <a:latin typeface="+mn-ea"/>
              <a:cs typeface="Arimo"/>
              <a:sym typeface="Arimo"/>
            </a:endParaRP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"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차원이 높을수록 더 미세한 의미 차이까지 표현할 수 있지만</a:t>
            </a:r>
            <a:r>
              <a:rPr lang="en-US" altLang="ko-KR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모델 크기와 </a:t>
            </a:r>
            <a:r>
              <a:rPr lang="ko-KR" altLang="en-US" sz="1200" b="0" strike="noStrike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계산량도</a:t>
            </a:r>
            <a:r>
              <a:rPr lang="ko-KR" altLang="en-US" sz="1200" b="0" strike="noStrike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커진다</a:t>
            </a:r>
            <a:r>
              <a:rPr lang="en-US" altLang="ko-KR" sz="1200" b="0" strike="noStrike" spc="-100">
                <a:solidFill>
                  <a:srgbClr val="000000"/>
                </a:solidFill>
                <a:latin typeface="+mn-ea"/>
                <a:cs typeface="Arimo"/>
                <a:sym typeface="Arimo"/>
              </a:rPr>
              <a:t>."</a:t>
            </a:r>
            <a:endParaRPr lang="en-US" altLang="ko-KR" sz="1200" b="0" strike="noStrike" spc="-100" dirty="0">
              <a:solidFill>
                <a:srgbClr val="000000"/>
              </a:solidFill>
              <a:latin typeface="+mn-ea"/>
              <a:cs typeface="Arimo"/>
              <a:sym typeface="Arimo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임베딩된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벡터값들을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벡터 스토어에 저장</a:t>
            </a: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임베딩한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사용자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잘문과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외부 데이터들끼리 유사도 계산을 하여 유사도 높은 데이터를 추출합니다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16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여기서 유사도 계산이란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임베딩한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</a:t>
            </a:r>
            <a:r>
              <a:rPr lang="ko-KR" altLang="en-US" sz="1200" b="0" strike="noStrike" spc="-1" dirty="0" err="1">
                <a:solidFill>
                  <a:srgbClr val="564866"/>
                </a:solidFill>
                <a:latin typeface="+mn-ea"/>
              </a:rPr>
              <a:t>벡터값들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 끼리 비교하여 자료간 유사도를 계산 하는 과정을 의미함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.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예시 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ppt 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참고 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(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삼성전자와 애플의 유사도차이</a:t>
            </a:r>
            <a:r>
              <a:rPr lang="en-US" altLang="ko-KR" sz="1200" b="0" strike="noStrike" spc="-1" dirty="0">
                <a:solidFill>
                  <a:srgbClr val="564866"/>
                </a:solidFill>
                <a:latin typeface="+mn-ea"/>
              </a:rPr>
              <a:t>)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17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F7AB-AC20-4318-3892-0EAA4A8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042AB-66C2-0F20-7A6F-B41EBAF80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8BFC4-F8A8-D39A-EEE9-038D2E25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사용자의 질문과 유사도 높은 데이터를 활용하여 프롬프트 생성 </a:t>
            </a: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생성된 프롬프트를 통해 </a:t>
            </a:r>
            <a:r>
              <a:rPr lang="en-US" altLang="ko-KR" sz="1200" b="0" strike="noStrike" spc="-1" dirty="0" err="1">
                <a:solidFill>
                  <a:srgbClr val="564866"/>
                </a:solidFill>
                <a:latin typeface="+mn-ea"/>
              </a:rPr>
              <a:t>llm</a:t>
            </a:r>
            <a:r>
              <a:rPr lang="ko-KR" altLang="en-US" sz="1200" b="0" strike="noStrike" spc="-1" dirty="0">
                <a:solidFill>
                  <a:srgbClr val="564866"/>
                </a:solidFill>
                <a:latin typeface="+mn-ea"/>
              </a:rPr>
              <a:t>에게 전달 후 답변생성 </a:t>
            </a: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0CDC-EC6A-071F-4BCB-33159A37D10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18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35056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8FA8-7790-0B85-8E76-671D799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4B31A-5439-0760-60ED-00593333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7F8CB6-EFB2-F18C-C196-84F34E98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569A5-13D6-95E4-4A95-202FF4724C7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20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87062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8FA8-7790-0B85-8E76-671D799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4B31A-5439-0760-60ED-00593333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7F8CB6-EFB2-F18C-C196-84F34E98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569A5-13D6-95E4-4A95-202FF4724C7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21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87062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8FA8-7790-0B85-8E76-671D799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4B31A-5439-0760-60ED-00593333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7F8CB6-EFB2-F18C-C196-84F34E98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569A5-13D6-95E4-4A95-202FF4724C7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22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87062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8FA8-7790-0B85-8E76-671D799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4B31A-5439-0760-60ED-00593333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7F8CB6-EFB2-F18C-C196-84F34E98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569A5-13D6-95E4-4A95-202FF4724C7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23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87062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17D1-FCAE-6937-CCCD-ECB69B65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FE20C7-3BA5-4B74-47C2-BDDE8F4B4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024F7-5F2A-7D99-669C-506F35B2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492F5-CFB5-366D-5918-5EFA82468517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24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129097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C2BD-F7E8-9CAF-B30E-BD03AB37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5AE9A1-64B1-26C7-D323-170056364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2F497-FCC0-BC5A-E01C-6CB942C19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405C0D-F98E-7F74-C5C2-7D62CAC62980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439641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8FA8-7790-0B85-8E76-671D799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4B31A-5439-0760-60ED-00593333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7F8CB6-EFB2-F18C-C196-84F34E98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569A5-13D6-95E4-4A95-202FF4724C7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26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870629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8758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B97-7C00-3C56-8343-5191C37C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282CD-89E2-0C01-0F96-5452B0545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9BBAE8-8219-2F89-7BB5-119B032AA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E3FAA-F6F4-4550-BD68-5BC1ADD4960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28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65480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B97-7C00-3C56-8343-5191C37C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282CD-89E2-0C01-0F96-5452B0545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9BBAE8-8219-2F89-7BB5-119B032AA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E3FAA-F6F4-4550-BD68-5BC1ADD4960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29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654801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DEA8-3705-09C4-DF35-450CCAAE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66614-1344-E72B-C8B3-964FFC575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42B0D-99FE-28AC-3ED7-CF1CA6E3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4DBBC-0E0B-B28E-C9E2-3064C12210B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31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0309635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83BE9-C975-DC27-796D-41DD78FF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E5BB60-D569-D5FF-F565-C2C756D37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46F78C-E19A-0BB4-03E3-B77307DDE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EF87D-7F8D-AECC-936B-755CA9D431A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32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2903435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DEA8-3705-09C4-DF35-450CCAAE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66614-1344-E72B-C8B3-964FFC575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42B0D-99FE-28AC-3ED7-CF1CA6E3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4DBBC-0E0B-B28E-C9E2-3064C12210B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33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030963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431B-DF0D-FCF5-3F23-0B37848B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4ED2FC-3C32-8E2D-C72C-B4620718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6E19AC-F45C-B491-5F30-C2C32821D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24659E-5140-68CF-7380-9FA5AD62B6A9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34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8836278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2C99-0BA6-4394-7E71-97DC92C6B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2C1A36-0EEF-EE43-C2A1-687A94743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0D588-B392-0DBE-AD20-519417327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ED13C4-87D2-D730-70E1-CB62E69D7FD3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41247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4115-013C-DF0F-D095-1E3FDC24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51318A-C5BE-733E-29D8-B52421655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C7D815-024D-E0A6-05DA-0FBDC16B6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BA919-36C0-27C5-C7BA-43FDFB33B7E4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36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7106317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E2E3-2163-672B-7EFB-FCC3152F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FA391-70B7-7EDC-88D6-746F1150B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205C19-6E23-5A8D-E766-E3EC8DE94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BAF8B-D30E-A55F-06E0-F756BB6E8A6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37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9570164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1FFC7-91E2-176F-0D01-DD6E8512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20CD50-1F17-47C9-9F9C-461CEC2E2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5CEFF-CAE0-59DD-A730-A315C1665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F276A-F58D-0286-6802-EF5196060A1A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38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51087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B584-AB98-E32C-C0DD-274F3943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0B4904-75CF-5476-0E3F-1C7BA16E0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5E91FD-999F-9978-0467-41FC88E6B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B8EC19-9FC0-EE8D-1C7E-85E84ED3ABB0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39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3421098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C6FB-CDE0-4408-921E-752C090C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F8915D-78E8-7ACD-F6D3-0FA2F51CB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98E9E4-67B5-0081-DD0D-A4495E93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DA506-E044-CF46-8C59-F403ADE44576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40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633060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5624-F24E-F59A-3A15-032B5DCE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138AD9-F2F3-3E34-6DFA-6FED09800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CFEAB3-FD99-ECC1-8448-C22442932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C7410-B7AA-FA49-88C9-8A59686E6638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41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4218098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7319-C732-981C-51BA-C82AE7AB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1F81E7-5766-DF23-210F-4C351C85B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E379BF-C1D4-AFCE-11C7-562AF749A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18FA0-9235-B77F-6158-D66890D6BFD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42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6291652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22CA-E2EF-41DD-23D7-D72C8852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694E5-F14F-D132-84E4-55889B4AA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FBFB44-AB93-D500-F1E9-101F1D75F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0C84A-6E09-3631-7024-16ED03EAEFD9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43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9967082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DEA8-3705-09C4-DF35-450CCAAE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66614-1344-E72B-C8B3-964FFC575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42B0D-99FE-28AC-3ED7-CF1CA6E3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이것이 저희 프로젝트의 인터페이스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왼쪽부터 사용자의 질문과 상위 </a:t>
            </a:r>
            <a:r>
              <a:rPr lang="en-US" altLang="ko-KR" dirty="0"/>
              <a:t>5</a:t>
            </a:r>
            <a:r>
              <a:rPr lang="ko-KR" altLang="en-US" dirty="0"/>
              <a:t>개의 문서</a:t>
            </a:r>
            <a:endParaRPr lang="en-US" altLang="ko-KR" dirty="0"/>
          </a:p>
          <a:p>
            <a:r>
              <a:rPr lang="ko-KR" altLang="en-US" dirty="0"/>
              <a:t>오른쪽 파란 박스는 </a:t>
            </a:r>
            <a:r>
              <a:rPr lang="en-US" altLang="ko-KR" dirty="0" err="1"/>
              <a:t>llm</a:t>
            </a:r>
            <a:r>
              <a:rPr lang="ko-KR" altLang="en-US" dirty="0"/>
              <a:t>에게 보낼 프롬프트</a:t>
            </a:r>
            <a:endParaRPr lang="en-US" altLang="ko-KR" dirty="0"/>
          </a:p>
          <a:p>
            <a:r>
              <a:rPr lang="ko-KR" altLang="en-US" dirty="0"/>
              <a:t>초록색 박스는 프롬프트를 거친 </a:t>
            </a:r>
            <a:r>
              <a:rPr lang="en-US" altLang="ko-KR" dirty="0" err="1"/>
              <a:t>llm</a:t>
            </a:r>
            <a:r>
              <a:rPr lang="ko-KR" altLang="en-US" dirty="0"/>
              <a:t>의 답변 </a:t>
            </a:r>
            <a:r>
              <a:rPr lang="en-US" altLang="ko-KR" dirty="0"/>
              <a:t>(rag </a:t>
            </a:r>
            <a:r>
              <a:rPr lang="ko-KR" altLang="en-US" dirty="0"/>
              <a:t>답변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노란색 박스는 프롬프트를 거치지 않은 일반 </a:t>
            </a:r>
            <a:r>
              <a:rPr lang="en-US" altLang="ko-KR" dirty="0" err="1"/>
              <a:t>llm</a:t>
            </a:r>
            <a:r>
              <a:rPr lang="ko-KR" altLang="en-US" dirty="0"/>
              <a:t>의 답변입니다</a:t>
            </a:r>
            <a:r>
              <a:rPr lang="en-US" altLang="ko-KR" dirty="0"/>
              <a:t>. 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4DBBC-0E0B-B28E-C9E2-3064C12210B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44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0309635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01F1-D123-EC88-88A4-6128A7E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CA2F90-D72E-2823-E613-8EC119446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9F3E3C-9480-56B0-7A52-F33EF9492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이것이 저희 프로젝트의 인터페이스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왼쪽부터 사용자의 질문과 상위 </a:t>
            </a:r>
            <a:r>
              <a:rPr lang="en-US" altLang="ko-KR" dirty="0"/>
              <a:t>5</a:t>
            </a:r>
            <a:r>
              <a:rPr lang="ko-KR" altLang="en-US" dirty="0"/>
              <a:t>개의 문서</a:t>
            </a:r>
            <a:endParaRPr lang="en-US" altLang="ko-KR" dirty="0"/>
          </a:p>
          <a:p>
            <a:r>
              <a:rPr lang="ko-KR" altLang="en-US" dirty="0"/>
              <a:t>오른쪽 파란 박스는 </a:t>
            </a:r>
            <a:r>
              <a:rPr lang="en-US" altLang="ko-KR" dirty="0" err="1"/>
              <a:t>llm</a:t>
            </a:r>
            <a:r>
              <a:rPr lang="ko-KR" altLang="en-US" dirty="0"/>
              <a:t>에게 보낼 프롬프트</a:t>
            </a:r>
            <a:endParaRPr lang="en-US" altLang="ko-KR" dirty="0"/>
          </a:p>
          <a:p>
            <a:r>
              <a:rPr lang="ko-KR" altLang="en-US" dirty="0"/>
              <a:t>초록색 박스는 프롬프트를 거친 </a:t>
            </a:r>
            <a:r>
              <a:rPr lang="en-US" altLang="ko-KR" dirty="0" err="1"/>
              <a:t>llm</a:t>
            </a:r>
            <a:r>
              <a:rPr lang="ko-KR" altLang="en-US" dirty="0"/>
              <a:t>의 답변 </a:t>
            </a:r>
            <a:r>
              <a:rPr lang="en-US" altLang="ko-KR" dirty="0"/>
              <a:t>(rag </a:t>
            </a:r>
            <a:r>
              <a:rPr lang="ko-KR" altLang="en-US" dirty="0"/>
              <a:t>답변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노란색 박스는 프롬프트를 거치지 않은 일반 </a:t>
            </a:r>
            <a:r>
              <a:rPr lang="en-US" altLang="ko-KR" dirty="0" err="1"/>
              <a:t>llm</a:t>
            </a:r>
            <a:r>
              <a:rPr lang="ko-KR" altLang="en-US" dirty="0"/>
              <a:t>의 답변입니다</a:t>
            </a:r>
            <a:r>
              <a:rPr lang="en-US" altLang="ko-KR" dirty="0"/>
              <a:t>. </a:t>
            </a:r>
          </a:p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903A6-8DBB-1C6B-6E05-CC41BF17AEF6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5365027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AEF4-033C-5083-5C96-DC5586B0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C9120-1A1B-8117-745A-DB18ACA84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9F5B1E-D53D-DBD2-C09C-162EE2F59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4ED1A-BA30-38C9-CBE2-96B3770B83D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47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2287998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91D9-5511-9922-0149-FE05FFFA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D01498-54AB-63CB-C4E7-9733EB356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8F1B19-2FEF-B5CB-84E7-BFC661021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F9A6E2-FB4F-CE7A-CFF7-78BDC5E0B9AA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48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501651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88B1-361F-5E23-ED31-29BCEC14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188B44-E79B-9C7C-2619-38C73070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C4751-13DC-4DF0-216C-8F37CE64E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A851B6-42C8-6244-3F40-FB722AE082FA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49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1982301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43B9-0C95-0383-D510-1DE1D9E5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AFF228-2735-30E2-BC08-520610999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6EBDE0-C163-CB91-60FD-10F5B0DF1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63B31-E9F1-297A-0D3D-FEAAE654B9EC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50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41311464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3984-077E-A4AF-3290-1E6C3F2E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078947-0D9A-AFCD-8697-D247225FD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19702E-167C-E0D5-6B20-D4468D1AB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C5C9CF-1EAB-620B-E7AD-1CE007F621A1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51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9160537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59B6-D53C-6EE0-5B49-FB9C5089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82027E-5196-7760-A94A-7561BAE5E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C6440-BFD5-3F20-8345-DC90C2B0E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2D92F-F5EB-65F9-16BE-1BC494A645C8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52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42261731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C9E1-18E6-B367-1B15-0719D201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1A1832-6D9B-F0E7-20C7-33459CB0E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C06723-BE9C-7D63-A57A-982535477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EA714-9ADF-574A-1031-27001420B23B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53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3470153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84507-9A88-9AED-ECF7-D135D7E2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17B768-258C-2030-6339-CDD8C574B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436A27-54B5-67C5-C408-1AE0961A5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D9E73-82E6-C716-5FC4-3A0669186EA5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54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0085320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61CA-F721-6820-CFF9-6B97113B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1BCEA-110A-E4B6-6F6E-2760A93AF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F377D-584A-F074-C0EA-A12070330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58AAA-548D-C80C-8B59-9420696581D9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55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7455869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EBB0F-195A-14AB-140F-3924AC60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1E9BD9-D066-1C7F-5418-CDC45D933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EB927D-3864-2E27-DB2C-2C8A8155E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4DE403-10B5-92F4-C651-59FE599C98FD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57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0192479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DB65-B003-ECCF-75E5-BF37488B1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740322-F0AE-82D9-1944-4CA7BD853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3B9411-1F3F-F069-37BB-40BBD83BE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>
              <a:lnSpc>
                <a:spcPct val="150000"/>
              </a:lnSpc>
              <a:buClr>
                <a:srgbClr val="403152"/>
              </a:buClr>
              <a:buFont typeface="Arial"/>
              <a:buNone/>
            </a:pPr>
            <a:endParaRPr lang="en-US" altLang="ko-KR" sz="1200" b="0" strike="noStrike" spc="-1" dirty="0">
              <a:solidFill>
                <a:srgbClr val="56486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B861F-14AA-5CBE-F036-2C7AED609AF2}"/>
              </a:ext>
            </a:extLst>
          </p:cNvPr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909C31-9EEE-4818-89F7-D0EC35EEEB14}" type="slidenum">
              <a:rPr lang="en-US" sz="1400" b="0" strike="noStrike" spc="-1" smtClean="0">
                <a:solidFill>
                  <a:srgbClr val="000000"/>
                </a:solidFill>
                <a:latin typeface="바탕"/>
              </a:rPr>
              <a:t>59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767740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00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1.jpe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4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5" Type="http://schemas.openxmlformats.org/officeDocument/2006/relationships/image" Target="../media/image46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8.png"/><Relationship Id="rId21" Type="http://schemas.openxmlformats.org/officeDocument/2006/relationships/image" Target="../media/image58.png"/><Relationship Id="rId7" Type="http://schemas.openxmlformats.org/officeDocument/2006/relationships/image" Target="../media/image22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24" Type="http://schemas.openxmlformats.org/officeDocument/2006/relationships/image" Target="../media/image61.jpeg"/><Relationship Id="rId5" Type="http://schemas.openxmlformats.org/officeDocument/2006/relationships/image" Target="../media/image10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23.png"/><Relationship Id="rId19" Type="http://schemas.openxmlformats.org/officeDocument/2006/relationships/image" Target="../media/image56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51.png"/><Relationship Id="rId22" Type="http://schemas.openxmlformats.org/officeDocument/2006/relationships/image" Target="../media/image5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2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3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68.jpe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6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69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2.jpe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7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17" Type="http://schemas.openxmlformats.org/officeDocument/2006/relationships/image" Target="../media/image61.jpe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3.jpeg"/><Relationship Id="rId5" Type="http://schemas.openxmlformats.org/officeDocument/2006/relationships/image" Target="../media/image10.png"/><Relationship Id="rId15" Type="http://schemas.openxmlformats.org/officeDocument/2006/relationships/image" Target="../media/image75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4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6.jpe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3.png"/><Relationship Id="rId5" Type="http://schemas.openxmlformats.org/officeDocument/2006/relationships/image" Target="../media/image10.png"/><Relationship Id="rId15" Type="http://schemas.openxmlformats.org/officeDocument/2006/relationships/image" Target="../media/image78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81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9.png"/><Relationship Id="rId5" Type="http://schemas.openxmlformats.org/officeDocument/2006/relationships/image" Target="../media/image10.png"/><Relationship Id="rId15" Type="http://schemas.openxmlformats.org/officeDocument/2006/relationships/image" Target="../media/image39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1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3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1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5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6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8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93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1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4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6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8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02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0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3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7.png"/><Relationship Id="rId3" Type="http://schemas.openxmlformats.org/officeDocument/2006/relationships/image" Target="../media/image104.png"/><Relationship Id="rId7" Type="http://schemas.openxmlformats.org/officeDocument/2006/relationships/image" Target="../media/image41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08.png"/><Relationship Id="rId5" Type="http://schemas.openxmlformats.org/officeDocument/2006/relationships/image" Target="../media/image106.png"/><Relationship Id="rId10" Type="http://schemas.openxmlformats.org/officeDocument/2006/relationships/image" Target="../media/image107.png"/><Relationship Id="rId4" Type="http://schemas.openxmlformats.org/officeDocument/2006/relationships/image" Target="../media/image105.png"/><Relationship Id="rId9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369640" y="361440"/>
            <a:ext cx="1802880" cy="16713000"/>
          </a:xfrm>
          <a:custGeom>
            <a:avLst/>
            <a:gdLst/>
            <a:ahLst/>
            <a:cxnLst/>
            <a:rect l="l" t="t" r="r" b="b"/>
            <a:pathLst>
              <a:path w="1802880" h="16713000">
                <a:moveTo>
                  <a:pt x="0" y="0"/>
                </a:moveTo>
                <a:lnTo>
                  <a:pt x="1802880" y="0"/>
                </a:lnTo>
                <a:lnTo>
                  <a:pt x="1802880" y="16713000"/>
                </a:lnTo>
                <a:lnTo>
                  <a:pt x="0" y="1671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" b="-8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" r="-19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Freeform 4"/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" r="-4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reeform 5"/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" r="-4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reeform 6"/>
          <p:cNvSpPr/>
          <p:nvPr/>
        </p:nvSpPr>
        <p:spPr>
          <a:xfrm rot="5400000">
            <a:off x="5956560" y="-37717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" r="-4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Freeform 7"/>
          <p:cNvSpPr/>
          <p:nvPr/>
        </p:nvSpPr>
        <p:spPr>
          <a:xfrm>
            <a:off x="4438800" y="6562440"/>
            <a:ext cx="520200" cy="520200"/>
          </a:xfrm>
          <a:custGeom>
            <a:avLst/>
            <a:gdLst/>
            <a:ahLst/>
            <a:cxnLst/>
            <a:rect l="l" t="t" r="r" b="b"/>
            <a:pathLst>
              <a:path w="520200" h="520200">
                <a:moveTo>
                  <a:pt x="0" y="0"/>
                </a:moveTo>
                <a:lnTo>
                  <a:pt x="520200" y="0"/>
                </a:lnTo>
                <a:lnTo>
                  <a:pt x="520200" y="520200"/>
                </a:lnTo>
                <a:lnTo>
                  <a:pt x="0" y="520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Freeform 8"/>
          <p:cNvSpPr/>
          <p:nvPr/>
        </p:nvSpPr>
        <p:spPr>
          <a:xfrm>
            <a:off x="4572000" y="6743880"/>
            <a:ext cx="253800" cy="190080"/>
          </a:xfrm>
          <a:custGeom>
            <a:avLst/>
            <a:gdLst/>
            <a:ahLst/>
            <a:cxnLst/>
            <a:rect l="l" t="t" r="r" b="b"/>
            <a:pathLst>
              <a:path w="253800" h="190080">
                <a:moveTo>
                  <a:pt x="0" y="0"/>
                </a:moveTo>
                <a:lnTo>
                  <a:pt x="253800" y="0"/>
                </a:lnTo>
                <a:lnTo>
                  <a:pt x="253800" y="190080"/>
                </a:lnTo>
                <a:lnTo>
                  <a:pt x="0" y="190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925" b="-1925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Freeform 9"/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08" r="-190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" name="Group 10"/>
          <p:cNvGrpSpPr/>
          <p:nvPr/>
        </p:nvGrpSpPr>
        <p:grpSpPr>
          <a:xfrm>
            <a:off x="2120760" y="3429000"/>
            <a:ext cx="10451880" cy="2653920"/>
            <a:chOff x="0" y="0"/>
            <a:chExt cx="13935840" cy="3538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35839" cy="3538560"/>
            </a:xfrm>
            <a:custGeom>
              <a:avLst/>
              <a:gdLst/>
              <a:ahLst/>
              <a:cxnLst/>
              <a:rect l="l" t="t" r="r" b="b"/>
              <a:pathLst>
                <a:path w="13935839" h="3538560">
                  <a:moveTo>
                    <a:pt x="0" y="0"/>
                  </a:moveTo>
                  <a:lnTo>
                    <a:pt x="13935839" y="0"/>
                  </a:lnTo>
                  <a:lnTo>
                    <a:pt x="13935839" y="3538560"/>
                  </a:lnTo>
                  <a:lnTo>
                    <a:pt x="0" y="3538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3935840" cy="3595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976"/>
                </a:lnSpc>
              </a:pPr>
              <a:r>
                <a:rPr lang="en-US" sz="8500" b="1" spc="-301" dirty="0">
                  <a:solidFill>
                    <a:srgbClr val="747E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</a:t>
              </a:r>
              <a:r>
                <a:rPr lang="en-US" sz="8500" b="1" spc="-301" dirty="0" err="1">
                  <a:solidFill>
                    <a:srgbClr val="747E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기술을</a:t>
              </a:r>
              <a:r>
                <a:rPr lang="en-US" sz="8500" b="1" spc="-301">
                  <a:solidFill>
                    <a:srgbClr val="747E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활용한</a:t>
              </a:r>
            </a:p>
            <a:p>
              <a:pPr algn="l">
                <a:lnSpc>
                  <a:spcPts val="8976"/>
                </a:lnSpc>
              </a:pPr>
              <a:r>
                <a:rPr lang="en-US" sz="8500" b="1" spc="-301">
                  <a:solidFill>
                    <a:srgbClr val="747E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금융정보 분석 API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2440" y="6545160"/>
            <a:ext cx="5067000" cy="507600"/>
            <a:chOff x="0" y="0"/>
            <a:chExt cx="6756000" cy="676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56000" cy="676800"/>
            </a:xfrm>
            <a:custGeom>
              <a:avLst/>
              <a:gdLst/>
              <a:ahLst/>
              <a:cxnLst/>
              <a:rect l="l" t="t" r="r" b="b"/>
              <a:pathLst>
                <a:path w="6756000" h="676800">
                  <a:moveTo>
                    <a:pt x="0" y="0"/>
                  </a:moveTo>
                  <a:lnTo>
                    <a:pt x="6756000" y="0"/>
                  </a:lnTo>
                  <a:lnTo>
                    <a:pt x="6756000" y="676800"/>
                  </a:lnTo>
                  <a:lnTo>
                    <a:pt x="0" y="676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6756000" cy="724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6"/>
                </a:lnSpc>
              </a:pPr>
              <a:r>
                <a:rPr lang="en-US" sz="2799" spc="0">
                  <a:solidFill>
                    <a:srgbClr val="747EA7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LLM</a:t>
              </a:r>
              <a:r>
                <a:rPr lang="en-US" sz="2799" spc="0">
                  <a:solidFill>
                    <a:srgbClr val="747E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의 정상화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11760" y="8559720"/>
            <a:ext cx="12394800" cy="317160"/>
            <a:chOff x="0" y="0"/>
            <a:chExt cx="16526400" cy="422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26401" cy="422880"/>
            </a:xfrm>
            <a:custGeom>
              <a:avLst/>
              <a:gdLst/>
              <a:ahLst/>
              <a:cxnLst/>
              <a:rect l="l" t="t" r="r" b="b"/>
              <a:pathLst>
                <a:path w="16526401" h="422880">
                  <a:moveTo>
                    <a:pt x="0" y="0"/>
                  </a:moveTo>
                  <a:lnTo>
                    <a:pt x="16526401" y="0"/>
                  </a:lnTo>
                  <a:lnTo>
                    <a:pt x="16526401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526400" cy="460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19"/>
                </a:lnSpc>
              </a:pPr>
              <a:r>
                <a:rPr lang="en-US" sz="1700" spc="-1">
                  <a:solidFill>
                    <a:srgbClr val="604A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|    정찬우    |    이승준    |    이수경    |    김현우    |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C41F4D-D30B-527A-CAFF-8A10C7A0B6B1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B3943C3-1301-9715-EDB0-50CE4068D46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C7A7E61-D66A-8198-731C-3E6F9CD0EDF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6" name="Picture 3">
                <a:extLst>
                  <a:ext uri="{FF2B5EF4-FFF2-40B4-BE49-F238E27FC236}">
                    <a16:creationId xmlns:a16="http://schemas.microsoft.com/office/drawing/2014/main" id="{774144D9-869C-9E24-C6C7-50B55C0B66F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2" name="Picture 4">
                <a:extLst>
                  <a:ext uri="{FF2B5EF4-FFF2-40B4-BE49-F238E27FC236}">
                    <a16:creationId xmlns:a16="http://schemas.microsoft.com/office/drawing/2014/main" id="{11B57021-398E-DAAD-DBE7-0912311D4D61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3" name="Picture 5">
                <a:extLst>
                  <a:ext uri="{FF2B5EF4-FFF2-40B4-BE49-F238E27FC236}">
                    <a16:creationId xmlns:a16="http://schemas.microsoft.com/office/drawing/2014/main" id="{42D9A831-F8B2-49D5-7422-AD9480174A1A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66BE0B8-2015-3891-2BCC-066CD6BB827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6222960" y="1041420"/>
            <a:ext cx="5829120" cy="143460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7213680" y="952500"/>
            <a:ext cx="3847680" cy="1536480"/>
            <a:chOff x="0" y="0"/>
            <a:chExt cx="5130240" cy="20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0240" cy="2048640"/>
            </a:xfrm>
            <a:custGeom>
              <a:avLst/>
              <a:gdLst/>
              <a:ahLst/>
              <a:cxnLst/>
              <a:rect l="l" t="t" r="r" b="b"/>
              <a:pathLst>
                <a:path w="5130240" h="2048640">
                  <a:moveTo>
                    <a:pt x="0" y="0"/>
                  </a:moveTo>
                  <a:lnTo>
                    <a:pt x="5130240" y="0"/>
                  </a:lnTo>
                  <a:lnTo>
                    <a:pt x="5130240" y="2048640"/>
                  </a:lnTo>
                  <a:lnTo>
                    <a:pt x="0" y="204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130240" cy="20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17"/>
                </a:lnSpc>
              </a:pPr>
              <a:r>
                <a:rPr lang="en-US" sz="8601" spc="-99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INDEX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9287187-916C-85A5-D21A-A07091D9E642}"/>
              </a:ext>
            </a:extLst>
          </p:cNvPr>
          <p:cNvGrpSpPr/>
          <p:nvPr/>
        </p:nvGrpSpPr>
        <p:grpSpPr>
          <a:xfrm>
            <a:off x="9334619" y="3693089"/>
            <a:ext cx="6845040" cy="1053720"/>
            <a:chOff x="9334620" y="4127220"/>
            <a:chExt cx="6845040" cy="1053720"/>
          </a:xfrm>
        </p:grpSpPr>
        <p:sp>
          <p:nvSpPr>
            <p:cNvPr id="11" name="Freeform 11"/>
            <p:cNvSpPr/>
            <p:nvPr/>
          </p:nvSpPr>
          <p:spPr>
            <a:xfrm rot="5400000">
              <a:off x="12230280" y="123156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448920" y="4216320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474120" y="4394160"/>
              <a:ext cx="799920" cy="482400"/>
              <a:chOff x="0" y="0"/>
              <a:chExt cx="1066560" cy="643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02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769760" y="4356000"/>
              <a:ext cx="4571640" cy="495000"/>
              <a:chOff x="0" y="0"/>
              <a:chExt cx="6095520" cy="66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RAG </a:t>
                </a:r>
                <a:r>
                  <a:rPr lang="en-US" sz="2799" b="1" spc="-99" dirty="0" err="1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기술</a:t>
                </a:r>
                <a:r>
                  <a:rPr 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 </a:t>
                </a:r>
                <a:r>
                  <a:rPr lang="en-US" sz="2799" b="1" spc="-99" dirty="0" err="1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설명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7F623D2-73FB-2FE7-57E4-63EC91C5F894}"/>
              </a:ext>
            </a:extLst>
          </p:cNvPr>
          <p:cNvGrpSpPr/>
          <p:nvPr/>
        </p:nvGrpSpPr>
        <p:grpSpPr>
          <a:xfrm>
            <a:off x="9334619" y="5239160"/>
            <a:ext cx="6845040" cy="1053720"/>
            <a:chOff x="9334620" y="5355647"/>
            <a:chExt cx="6845040" cy="1053720"/>
          </a:xfrm>
        </p:grpSpPr>
        <p:sp>
          <p:nvSpPr>
            <p:cNvPr id="27" name="Freeform 27"/>
            <p:cNvSpPr/>
            <p:nvPr/>
          </p:nvSpPr>
          <p:spPr>
            <a:xfrm rot="5400000">
              <a:off x="12230280" y="2459987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9448920" y="5457347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474120" y="5635187"/>
              <a:ext cx="799920" cy="482400"/>
              <a:chOff x="0" y="0"/>
              <a:chExt cx="1066560" cy="643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04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769760" y="5622587"/>
              <a:ext cx="4571640" cy="495000"/>
              <a:chOff x="0" y="0"/>
              <a:chExt cx="6095520" cy="66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전공 교과 내용 반영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9E2DA60E-E1D9-216E-CA10-ACA49D4A45D8}"/>
              </a:ext>
            </a:extLst>
          </p:cNvPr>
          <p:cNvGrpSpPr/>
          <p:nvPr/>
        </p:nvGrpSpPr>
        <p:grpSpPr>
          <a:xfrm>
            <a:off x="9334619" y="6785231"/>
            <a:ext cx="6845040" cy="1053720"/>
            <a:chOff x="9334620" y="6562606"/>
            <a:chExt cx="6845040" cy="1053720"/>
          </a:xfrm>
        </p:grpSpPr>
        <p:sp>
          <p:nvSpPr>
            <p:cNvPr id="51" name="Freeform 51"/>
            <p:cNvSpPr/>
            <p:nvPr/>
          </p:nvSpPr>
          <p:spPr>
            <a:xfrm rot="5400000">
              <a:off x="12230280" y="3666946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9448920" y="6651706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9474120" y="6829546"/>
              <a:ext cx="799920" cy="482400"/>
              <a:chOff x="0" y="0"/>
              <a:chExt cx="1066560" cy="643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06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0769760" y="6803986"/>
              <a:ext cx="4571640" cy="495000"/>
              <a:chOff x="0" y="0"/>
              <a:chExt cx="6095520" cy="6600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프로젝트 관리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4CD42DB-3A9F-E132-9CFB-D720A9A07350}"/>
              </a:ext>
            </a:extLst>
          </p:cNvPr>
          <p:cNvGrpSpPr/>
          <p:nvPr/>
        </p:nvGrpSpPr>
        <p:grpSpPr>
          <a:xfrm>
            <a:off x="9334619" y="8331300"/>
            <a:ext cx="6845040" cy="1053720"/>
            <a:chOff x="9334620" y="7734060"/>
            <a:chExt cx="6845040" cy="1053720"/>
          </a:xfrm>
        </p:grpSpPr>
        <p:sp>
          <p:nvSpPr>
            <p:cNvPr id="83" name="Freeform 51">
              <a:extLst>
                <a:ext uri="{FF2B5EF4-FFF2-40B4-BE49-F238E27FC236}">
                  <a16:creationId xmlns:a16="http://schemas.microsoft.com/office/drawing/2014/main" id="{7D5CCD8D-081B-F9A3-5101-7F014926FE93}"/>
                </a:ext>
              </a:extLst>
            </p:cNvPr>
            <p:cNvSpPr/>
            <p:nvPr/>
          </p:nvSpPr>
          <p:spPr>
            <a:xfrm rot="5400000">
              <a:off x="12230280" y="483840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Freeform 52">
              <a:extLst>
                <a:ext uri="{FF2B5EF4-FFF2-40B4-BE49-F238E27FC236}">
                  <a16:creationId xmlns:a16="http://schemas.microsoft.com/office/drawing/2014/main" id="{E2A9BEA7-CD90-4779-A424-BC9C5058D633}"/>
                </a:ext>
              </a:extLst>
            </p:cNvPr>
            <p:cNvSpPr/>
            <p:nvPr/>
          </p:nvSpPr>
          <p:spPr>
            <a:xfrm>
              <a:off x="9448920" y="7823160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85" name="Group 53">
              <a:extLst>
                <a:ext uri="{FF2B5EF4-FFF2-40B4-BE49-F238E27FC236}">
                  <a16:creationId xmlns:a16="http://schemas.microsoft.com/office/drawing/2014/main" id="{1FF3354C-33C2-FA88-DE49-325D4794C338}"/>
                </a:ext>
              </a:extLst>
            </p:cNvPr>
            <p:cNvGrpSpPr/>
            <p:nvPr/>
          </p:nvGrpSpPr>
          <p:grpSpPr>
            <a:xfrm>
              <a:off x="9474120" y="8001000"/>
              <a:ext cx="799920" cy="482400"/>
              <a:chOff x="0" y="0"/>
              <a:chExt cx="1066560" cy="643200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0DEEA51D-A28E-8F1F-445B-73217682DBC7}"/>
                  </a:ext>
                </a:extLst>
              </p:cNvPr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TextBox 55">
                <a:extLst>
                  <a:ext uri="{FF2B5EF4-FFF2-40B4-BE49-F238E27FC236}">
                    <a16:creationId xmlns:a16="http://schemas.microsoft.com/office/drawing/2014/main" id="{B4E62F11-7F77-A582-8C18-4004EB92364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 dirty="0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08</a:t>
                </a:r>
              </a:p>
            </p:txBody>
          </p:sp>
        </p:grpSp>
        <p:grpSp>
          <p:nvGrpSpPr>
            <p:cNvPr id="88" name="Group 56">
              <a:extLst>
                <a:ext uri="{FF2B5EF4-FFF2-40B4-BE49-F238E27FC236}">
                  <a16:creationId xmlns:a16="http://schemas.microsoft.com/office/drawing/2014/main" id="{7486A919-B4DB-E4D0-10B9-1FAEAAB375F6}"/>
                </a:ext>
              </a:extLst>
            </p:cNvPr>
            <p:cNvGrpSpPr/>
            <p:nvPr/>
          </p:nvGrpSpPr>
          <p:grpSpPr>
            <a:xfrm>
              <a:off x="10769760" y="7975440"/>
              <a:ext cx="4571640" cy="495000"/>
              <a:chOff x="0" y="0"/>
              <a:chExt cx="6095520" cy="660000"/>
            </a:xfrm>
          </p:grpSpPr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F527CB5B-742F-2D33-C8EC-716C2DE95DEC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0" name="TextBox 58">
                <a:extLst>
                  <a:ext uri="{FF2B5EF4-FFF2-40B4-BE49-F238E27FC236}">
                    <a16:creationId xmlns:a16="http://schemas.microsoft.com/office/drawing/2014/main" id="{ED1C071C-434B-6FC6-3224-687D1765411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en-US" sz="2799" b="1" spc="-99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결론 및 향후 연구 방향</a:t>
                </a:r>
              </a:p>
            </p:txBody>
          </p:sp>
        </p:grp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FCA14280-E86B-3CB0-86CF-5CB584AA86DF}"/>
              </a:ext>
            </a:extLst>
          </p:cNvPr>
          <p:cNvGrpSpPr/>
          <p:nvPr/>
        </p:nvGrpSpPr>
        <p:grpSpPr>
          <a:xfrm>
            <a:off x="2108342" y="3690575"/>
            <a:ext cx="6845040" cy="1053720"/>
            <a:chOff x="9334620" y="4127220"/>
            <a:chExt cx="6845040" cy="1053720"/>
          </a:xfrm>
        </p:grpSpPr>
        <p:sp>
          <p:nvSpPr>
            <p:cNvPr id="205" name="Freeform 11">
              <a:extLst>
                <a:ext uri="{FF2B5EF4-FFF2-40B4-BE49-F238E27FC236}">
                  <a16:creationId xmlns:a16="http://schemas.microsoft.com/office/drawing/2014/main" id="{4876ADB7-238E-07A0-4EB5-BD131B21904D}"/>
                </a:ext>
              </a:extLst>
            </p:cNvPr>
            <p:cNvSpPr/>
            <p:nvPr/>
          </p:nvSpPr>
          <p:spPr>
            <a:xfrm rot="5400000">
              <a:off x="12230280" y="123156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6" name="Freeform 12">
              <a:extLst>
                <a:ext uri="{FF2B5EF4-FFF2-40B4-BE49-F238E27FC236}">
                  <a16:creationId xmlns:a16="http://schemas.microsoft.com/office/drawing/2014/main" id="{5FF34EEB-078C-E830-FDAA-28EE5CF84DC5}"/>
                </a:ext>
              </a:extLst>
            </p:cNvPr>
            <p:cNvSpPr/>
            <p:nvPr/>
          </p:nvSpPr>
          <p:spPr>
            <a:xfrm>
              <a:off x="9448920" y="4216320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07" name="Group 13">
              <a:extLst>
                <a:ext uri="{FF2B5EF4-FFF2-40B4-BE49-F238E27FC236}">
                  <a16:creationId xmlns:a16="http://schemas.microsoft.com/office/drawing/2014/main" id="{B92F8FD8-E9D1-5453-D9E3-94E62B554696}"/>
                </a:ext>
              </a:extLst>
            </p:cNvPr>
            <p:cNvGrpSpPr/>
            <p:nvPr/>
          </p:nvGrpSpPr>
          <p:grpSpPr>
            <a:xfrm>
              <a:off x="9474120" y="4394160"/>
              <a:ext cx="799920" cy="482400"/>
              <a:chOff x="0" y="0"/>
              <a:chExt cx="1066560" cy="643200"/>
            </a:xfrm>
          </p:grpSpPr>
          <p:sp>
            <p:nvSpPr>
              <p:cNvPr id="211" name="Freeform 14">
                <a:extLst>
                  <a:ext uri="{FF2B5EF4-FFF2-40B4-BE49-F238E27FC236}">
                    <a16:creationId xmlns:a16="http://schemas.microsoft.com/office/drawing/2014/main" id="{FE86F1DB-157B-F4D4-C733-C42F139BD06D}"/>
                  </a:ext>
                </a:extLst>
              </p:cNvPr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" name="TextBox 15">
                <a:extLst>
                  <a:ext uri="{FF2B5EF4-FFF2-40B4-BE49-F238E27FC236}">
                    <a16:creationId xmlns:a16="http://schemas.microsoft.com/office/drawing/2014/main" id="{6136F47B-BA6B-22AC-1316-CE77F2376BC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 dirty="0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01</a:t>
                </a:r>
              </a:p>
            </p:txBody>
          </p:sp>
        </p:grpSp>
        <p:grpSp>
          <p:nvGrpSpPr>
            <p:cNvPr id="208" name="Group 24">
              <a:extLst>
                <a:ext uri="{FF2B5EF4-FFF2-40B4-BE49-F238E27FC236}">
                  <a16:creationId xmlns:a16="http://schemas.microsoft.com/office/drawing/2014/main" id="{3445E0BE-DA6F-33E6-46D1-0F986507C12D}"/>
                </a:ext>
              </a:extLst>
            </p:cNvPr>
            <p:cNvGrpSpPr/>
            <p:nvPr/>
          </p:nvGrpSpPr>
          <p:grpSpPr>
            <a:xfrm>
              <a:off x="10769760" y="4356000"/>
              <a:ext cx="4571640" cy="495000"/>
              <a:chOff x="0" y="0"/>
              <a:chExt cx="6095520" cy="660000"/>
            </a:xfrm>
          </p:grpSpPr>
          <p:sp>
            <p:nvSpPr>
              <p:cNvPr id="209" name="Freeform 25">
                <a:extLst>
                  <a:ext uri="{FF2B5EF4-FFF2-40B4-BE49-F238E27FC236}">
                    <a16:creationId xmlns:a16="http://schemas.microsoft.com/office/drawing/2014/main" id="{5CDDE5FF-75B9-CF95-DD95-76D2D5CC652D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" name="TextBox 26">
                <a:extLst>
                  <a:ext uri="{FF2B5EF4-FFF2-40B4-BE49-F238E27FC236}">
                    <a16:creationId xmlns:a16="http://schemas.microsoft.com/office/drawing/2014/main" id="{FDBEA5C9-6D61-CB15-4CD6-FC4CBCE3F42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프로젝트 개요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F12761EB-7536-BB19-5431-CF8C346EADE4}"/>
              </a:ext>
            </a:extLst>
          </p:cNvPr>
          <p:cNvGrpSpPr/>
          <p:nvPr/>
        </p:nvGrpSpPr>
        <p:grpSpPr>
          <a:xfrm>
            <a:off x="2057400" y="5246043"/>
            <a:ext cx="6845040" cy="1053720"/>
            <a:chOff x="9334620" y="5355647"/>
            <a:chExt cx="6845040" cy="1053720"/>
          </a:xfrm>
        </p:grpSpPr>
        <p:sp>
          <p:nvSpPr>
            <p:cNvPr id="214" name="Freeform 27">
              <a:extLst>
                <a:ext uri="{FF2B5EF4-FFF2-40B4-BE49-F238E27FC236}">
                  <a16:creationId xmlns:a16="http://schemas.microsoft.com/office/drawing/2014/main" id="{F2960A83-0209-52DB-7A83-F6A3A0317C4C}"/>
                </a:ext>
              </a:extLst>
            </p:cNvPr>
            <p:cNvSpPr/>
            <p:nvPr/>
          </p:nvSpPr>
          <p:spPr>
            <a:xfrm rot="5400000">
              <a:off x="12230280" y="2459987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" name="Freeform 28">
              <a:extLst>
                <a:ext uri="{FF2B5EF4-FFF2-40B4-BE49-F238E27FC236}">
                  <a16:creationId xmlns:a16="http://schemas.microsoft.com/office/drawing/2014/main" id="{9792BB99-3BBB-95FB-7282-8DE959553574}"/>
                </a:ext>
              </a:extLst>
            </p:cNvPr>
            <p:cNvSpPr/>
            <p:nvPr/>
          </p:nvSpPr>
          <p:spPr>
            <a:xfrm>
              <a:off x="9448920" y="5457347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16" name="Group 29">
              <a:extLst>
                <a:ext uri="{FF2B5EF4-FFF2-40B4-BE49-F238E27FC236}">
                  <a16:creationId xmlns:a16="http://schemas.microsoft.com/office/drawing/2014/main" id="{A9A90BD4-8722-ABD7-60D1-1323E996C799}"/>
                </a:ext>
              </a:extLst>
            </p:cNvPr>
            <p:cNvGrpSpPr/>
            <p:nvPr/>
          </p:nvGrpSpPr>
          <p:grpSpPr>
            <a:xfrm>
              <a:off x="9474120" y="5635187"/>
              <a:ext cx="799920" cy="482400"/>
              <a:chOff x="0" y="0"/>
              <a:chExt cx="1066560" cy="643200"/>
            </a:xfrm>
          </p:grpSpPr>
          <p:sp>
            <p:nvSpPr>
              <p:cNvPr id="220" name="Freeform 30">
                <a:extLst>
                  <a:ext uri="{FF2B5EF4-FFF2-40B4-BE49-F238E27FC236}">
                    <a16:creationId xmlns:a16="http://schemas.microsoft.com/office/drawing/2014/main" id="{476F98D5-78AF-0515-5A86-92E1A75844CB}"/>
                  </a:ext>
                </a:extLst>
              </p:cNvPr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" name="TextBox 31">
                <a:extLst>
                  <a:ext uri="{FF2B5EF4-FFF2-40B4-BE49-F238E27FC236}">
                    <a16:creationId xmlns:a16="http://schemas.microsoft.com/office/drawing/2014/main" id="{0DC91324-C32E-81AD-F985-26CA8E33E99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 dirty="0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03</a:t>
                </a:r>
              </a:p>
            </p:txBody>
          </p:sp>
        </p:grpSp>
        <p:grpSp>
          <p:nvGrpSpPr>
            <p:cNvPr id="217" name="Group 40">
              <a:extLst>
                <a:ext uri="{FF2B5EF4-FFF2-40B4-BE49-F238E27FC236}">
                  <a16:creationId xmlns:a16="http://schemas.microsoft.com/office/drawing/2014/main" id="{3D10856D-76E8-3836-B214-8FF90EE49F5E}"/>
                </a:ext>
              </a:extLst>
            </p:cNvPr>
            <p:cNvGrpSpPr/>
            <p:nvPr/>
          </p:nvGrpSpPr>
          <p:grpSpPr>
            <a:xfrm>
              <a:off x="10769760" y="5622587"/>
              <a:ext cx="4571640" cy="495000"/>
              <a:chOff x="0" y="0"/>
              <a:chExt cx="6095520" cy="660000"/>
            </a:xfrm>
          </p:grpSpPr>
          <p:sp>
            <p:nvSpPr>
              <p:cNvPr id="218" name="Freeform 41">
                <a:extLst>
                  <a:ext uri="{FF2B5EF4-FFF2-40B4-BE49-F238E27FC236}">
                    <a16:creationId xmlns:a16="http://schemas.microsoft.com/office/drawing/2014/main" id="{8F0EB701-9773-E781-42F8-731EEEE96CD7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" name="TextBox 42">
                <a:extLst>
                  <a:ext uri="{FF2B5EF4-FFF2-40B4-BE49-F238E27FC236}">
                    <a16:creationId xmlns:a16="http://schemas.microsoft.com/office/drawing/2014/main" id="{6BB92E39-CEDB-A7B0-DA0B-ECF811D4649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시스템 설계 및 개발 환경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06FC9D97-2E7E-622C-CAA2-3209778AD9BC}"/>
              </a:ext>
            </a:extLst>
          </p:cNvPr>
          <p:cNvGrpSpPr/>
          <p:nvPr/>
        </p:nvGrpSpPr>
        <p:grpSpPr>
          <a:xfrm>
            <a:off x="2057400" y="6801512"/>
            <a:ext cx="6845040" cy="1053720"/>
            <a:chOff x="9334620" y="6562606"/>
            <a:chExt cx="6845040" cy="1053720"/>
          </a:xfrm>
        </p:grpSpPr>
        <p:sp>
          <p:nvSpPr>
            <p:cNvPr id="223" name="Freeform 51">
              <a:extLst>
                <a:ext uri="{FF2B5EF4-FFF2-40B4-BE49-F238E27FC236}">
                  <a16:creationId xmlns:a16="http://schemas.microsoft.com/office/drawing/2014/main" id="{63D4C08F-C6D0-37AA-E3ED-B6A294209D57}"/>
                </a:ext>
              </a:extLst>
            </p:cNvPr>
            <p:cNvSpPr/>
            <p:nvPr/>
          </p:nvSpPr>
          <p:spPr>
            <a:xfrm rot="5400000">
              <a:off x="12230280" y="3666946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" name="Freeform 52">
              <a:extLst>
                <a:ext uri="{FF2B5EF4-FFF2-40B4-BE49-F238E27FC236}">
                  <a16:creationId xmlns:a16="http://schemas.microsoft.com/office/drawing/2014/main" id="{50901257-82D6-BF55-6D15-FDBDC738800D}"/>
                </a:ext>
              </a:extLst>
            </p:cNvPr>
            <p:cNvSpPr/>
            <p:nvPr/>
          </p:nvSpPr>
          <p:spPr>
            <a:xfrm>
              <a:off x="9448920" y="6651706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5" name="Group 53">
              <a:extLst>
                <a:ext uri="{FF2B5EF4-FFF2-40B4-BE49-F238E27FC236}">
                  <a16:creationId xmlns:a16="http://schemas.microsoft.com/office/drawing/2014/main" id="{46E640C0-D078-E5AF-023F-3F8FF54F8205}"/>
                </a:ext>
              </a:extLst>
            </p:cNvPr>
            <p:cNvGrpSpPr/>
            <p:nvPr/>
          </p:nvGrpSpPr>
          <p:grpSpPr>
            <a:xfrm>
              <a:off x="9474120" y="6829546"/>
              <a:ext cx="799920" cy="482400"/>
              <a:chOff x="0" y="0"/>
              <a:chExt cx="1066560" cy="643200"/>
            </a:xfrm>
          </p:grpSpPr>
          <p:sp>
            <p:nvSpPr>
              <p:cNvPr id="229" name="Freeform 54">
                <a:extLst>
                  <a:ext uri="{FF2B5EF4-FFF2-40B4-BE49-F238E27FC236}">
                    <a16:creationId xmlns:a16="http://schemas.microsoft.com/office/drawing/2014/main" id="{AEB1ADE2-5AED-DE3D-F52A-CEE68BCE2003}"/>
                  </a:ext>
                </a:extLst>
              </p:cNvPr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" name="TextBox 55">
                <a:extLst>
                  <a:ext uri="{FF2B5EF4-FFF2-40B4-BE49-F238E27FC236}">
                    <a16:creationId xmlns:a16="http://schemas.microsoft.com/office/drawing/2014/main" id="{50E5224D-DC0E-6A3A-E8AA-C367B1825F3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 dirty="0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05</a:t>
                </a:r>
              </a:p>
            </p:txBody>
          </p:sp>
        </p:grpSp>
        <p:grpSp>
          <p:nvGrpSpPr>
            <p:cNvPr id="226" name="Group 56">
              <a:extLst>
                <a:ext uri="{FF2B5EF4-FFF2-40B4-BE49-F238E27FC236}">
                  <a16:creationId xmlns:a16="http://schemas.microsoft.com/office/drawing/2014/main" id="{68BACEE7-E5DE-105D-CF54-5A1D70921BBF}"/>
                </a:ext>
              </a:extLst>
            </p:cNvPr>
            <p:cNvGrpSpPr/>
            <p:nvPr/>
          </p:nvGrpSpPr>
          <p:grpSpPr>
            <a:xfrm>
              <a:off x="10769760" y="6803986"/>
              <a:ext cx="4571640" cy="495000"/>
              <a:chOff x="0" y="0"/>
              <a:chExt cx="6095520" cy="660000"/>
            </a:xfrm>
          </p:grpSpPr>
          <p:sp>
            <p:nvSpPr>
              <p:cNvPr id="227" name="Freeform 57">
                <a:extLst>
                  <a:ext uri="{FF2B5EF4-FFF2-40B4-BE49-F238E27FC236}">
                    <a16:creationId xmlns:a16="http://schemas.microsoft.com/office/drawing/2014/main" id="{C697318D-D62C-F9C1-A0AD-28ECA83F9BAD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" name="TextBox 58">
                <a:extLst>
                  <a:ext uri="{FF2B5EF4-FFF2-40B4-BE49-F238E27FC236}">
                    <a16:creationId xmlns:a16="http://schemas.microsoft.com/office/drawing/2014/main" id="{A509F6AC-A363-9963-E3D7-F9533638FCC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시스템 동작 과정 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1623E8BD-E95D-BFA1-1BE8-4A6E678339AE}"/>
              </a:ext>
            </a:extLst>
          </p:cNvPr>
          <p:cNvGrpSpPr/>
          <p:nvPr/>
        </p:nvGrpSpPr>
        <p:grpSpPr>
          <a:xfrm>
            <a:off x="2057400" y="8356980"/>
            <a:ext cx="6845040" cy="1053720"/>
            <a:chOff x="9334620" y="7734060"/>
            <a:chExt cx="6845040" cy="1053720"/>
          </a:xfrm>
        </p:grpSpPr>
        <p:sp>
          <p:nvSpPr>
            <p:cNvPr id="232" name="Freeform 51">
              <a:extLst>
                <a:ext uri="{FF2B5EF4-FFF2-40B4-BE49-F238E27FC236}">
                  <a16:creationId xmlns:a16="http://schemas.microsoft.com/office/drawing/2014/main" id="{D7F631A9-5293-2CD6-FA5D-A33C6B5B3411}"/>
                </a:ext>
              </a:extLst>
            </p:cNvPr>
            <p:cNvSpPr/>
            <p:nvPr/>
          </p:nvSpPr>
          <p:spPr>
            <a:xfrm rot="5400000">
              <a:off x="12230280" y="483840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" name="Freeform 52">
              <a:extLst>
                <a:ext uri="{FF2B5EF4-FFF2-40B4-BE49-F238E27FC236}">
                  <a16:creationId xmlns:a16="http://schemas.microsoft.com/office/drawing/2014/main" id="{37532C98-67D3-F688-2104-3D202EABD716}"/>
                </a:ext>
              </a:extLst>
            </p:cNvPr>
            <p:cNvSpPr/>
            <p:nvPr/>
          </p:nvSpPr>
          <p:spPr>
            <a:xfrm>
              <a:off x="9448920" y="7823160"/>
              <a:ext cx="863280" cy="863280"/>
            </a:xfrm>
            <a:custGeom>
              <a:avLst/>
              <a:gdLst/>
              <a:ahLst/>
              <a:cxnLst/>
              <a:rect l="l" t="t" r="r" b="b"/>
              <a:pathLst>
                <a:path w="863280" h="863280">
                  <a:moveTo>
                    <a:pt x="0" y="0"/>
                  </a:moveTo>
                  <a:lnTo>
                    <a:pt x="863280" y="0"/>
                  </a:lnTo>
                  <a:lnTo>
                    <a:pt x="863280" y="863280"/>
                  </a:lnTo>
                  <a:lnTo>
                    <a:pt x="0" y="86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34" name="Group 53">
              <a:extLst>
                <a:ext uri="{FF2B5EF4-FFF2-40B4-BE49-F238E27FC236}">
                  <a16:creationId xmlns:a16="http://schemas.microsoft.com/office/drawing/2014/main" id="{3AEDEEF9-2EEA-07BB-B7F0-11DC1FC5C97F}"/>
                </a:ext>
              </a:extLst>
            </p:cNvPr>
            <p:cNvGrpSpPr/>
            <p:nvPr/>
          </p:nvGrpSpPr>
          <p:grpSpPr>
            <a:xfrm>
              <a:off x="9474120" y="8001000"/>
              <a:ext cx="799920" cy="482400"/>
              <a:chOff x="0" y="0"/>
              <a:chExt cx="1066560" cy="643200"/>
            </a:xfrm>
          </p:grpSpPr>
          <p:sp>
            <p:nvSpPr>
              <p:cNvPr id="238" name="Freeform 54">
                <a:extLst>
                  <a:ext uri="{FF2B5EF4-FFF2-40B4-BE49-F238E27FC236}">
                    <a16:creationId xmlns:a16="http://schemas.microsoft.com/office/drawing/2014/main" id="{61FF5037-9181-562F-5B08-46E2C162F42A}"/>
                  </a:ext>
                </a:extLst>
              </p:cNvPr>
              <p:cNvSpPr/>
              <p:nvPr/>
            </p:nvSpPr>
            <p:spPr>
              <a:xfrm>
                <a:off x="0" y="0"/>
                <a:ext cx="1066560" cy="643200"/>
              </a:xfrm>
              <a:custGeom>
                <a:avLst/>
                <a:gdLst/>
                <a:ahLst/>
                <a:cxnLst/>
                <a:rect l="l" t="t" r="r" b="b"/>
                <a:pathLst>
                  <a:path w="1066560" h="643200">
                    <a:moveTo>
                      <a:pt x="0" y="0"/>
                    </a:moveTo>
                    <a:lnTo>
                      <a:pt x="1066560" y="0"/>
                    </a:lnTo>
                    <a:lnTo>
                      <a:pt x="1066560" y="643200"/>
                    </a:lnTo>
                    <a:lnTo>
                      <a:pt x="0" y="64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" name="TextBox 55">
                <a:extLst>
                  <a:ext uri="{FF2B5EF4-FFF2-40B4-BE49-F238E27FC236}">
                    <a16:creationId xmlns:a16="http://schemas.microsoft.com/office/drawing/2014/main" id="{C3596D54-D3E9-BCF2-F701-646DC373E5F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066560" cy="6622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07"/>
                  </a:lnSpc>
                </a:pPr>
                <a:r>
                  <a:rPr lang="en-US" sz="2700" b="1" dirty="0">
                    <a:solidFill>
                      <a:srgbClr val="FCFCFC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07</a:t>
                </a:r>
              </a:p>
            </p:txBody>
          </p:sp>
        </p:grpSp>
        <p:grpSp>
          <p:nvGrpSpPr>
            <p:cNvPr id="235" name="Group 56">
              <a:extLst>
                <a:ext uri="{FF2B5EF4-FFF2-40B4-BE49-F238E27FC236}">
                  <a16:creationId xmlns:a16="http://schemas.microsoft.com/office/drawing/2014/main" id="{8EF61D6A-FBA2-439E-0B19-242894FEA93C}"/>
                </a:ext>
              </a:extLst>
            </p:cNvPr>
            <p:cNvGrpSpPr/>
            <p:nvPr/>
          </p:nvGrpSpPr>
          <p:grpSpPr>
            <a:xfrm>
              <a:off x="10769760" y="7975440"/>
              <a:ext cx="4571640" cy="495000"/>
              <a:chOff x="0" y="0"/>
              <a:chExt cx="6095520" cy="660000"/>
            </a:xfrm>
          </p:grpSpPr>
          <p:sp>
            <p:nvSpPr>
              <p:cNvPr id="236" name="Freeform 57">
                <a:extLst>
                  <a:ext uri="{FF2B5EF4-FFF2-40B4-BE49-F238E27FC236}">
                    <a16:creationId xmlns:a16="http://schemas.microsoft.com/office/drawing/2014/main" id="{414B41ED-7014-D1D1-4819-02D4F96E15EB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" name="TextBox 58">
                <a:extLst>
                  <a:ext uri="{FF2B5EF4-FFF2-40B4-BE49-F238E27FC236}">
                    <a16:creationId xmlns:a16="http://schemas.microsoft.com/office/drawing/2014/main" id="{5D14472C-72D6-C707-37ED-7F73E7BA0C1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095520" cy="6790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326"/>
                  </a:lnSpc>
                </a:pPr>
                <a:r>
                  <a:rPr lang="ko-KR" altLang="en-US" sz="2799" b="1" spc="-99" dirty="0">
                    <a:solidFill>
                      <a:srgbClr val="747EA7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시연 영상</a:t>
                </a:r>
                <a:endParaRPr lang="en-US" sz="2799" b="1" spc="-99" dirty="0">
                  <a:solidFill>
                    <a:srgbClr val="747EA7"/>
                  </a:solidFill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C308601-7BD3-608A-FF12-149A7B033CE0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D397A0D-A954-9D3A-2A7B-1FA68097988D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CA619A3-B258-6DA5-9F3A-7067F6B8DF2C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0" name="Picture 3">
                <a:extLst>
                  <a:ext uri="{FF2B5EF4-FFF2-40B4-BE49-F238E27FC236}">
                    <a16:creationId xmlns:a16="http://schemas.microsoft.com/office/drawing/2014/main" id="{A615B91D-5C1E-948A-4F75-83328F53E02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4">
                <a:extLst>
                  <a:ext uri="{FF2B5EF4-FFF2-40B4-BE49-F238E27FC236}">
                    <a16:creationId xmlns:a16="http://schemas.microsoft.com/office/drawing/2014/main" id="{9930E9A4-A895-DCD5-7C98-8E98066619E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" name="Picture 5">
                <a:extLst>
                  <a:ext uri="{FF2B5EF4-FFF2-40B4-BE49-F238E27FC236}">
                    <a16:creationId xmlns:a16="http://schemas.microsoft.com/office/drawing/2014/main" id="{04EBCB8D-AF0E-ED04-22F3-6396BE49E28D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07EC084-6D7C-12F1-125B-EA2115D9D58D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962971" y="2139770"/>
            <a:ext cx="15480000" cy="12701"/>
          </a:xfrm>
          <a:custGeom>
            <a:avLst/>
            <a:gdLst/>
            <a:ahLst/>
            <a:cxnLst/>
            <a:rect l="l" t="t" r="r" b="b"/>
            <a:pathLst>
              <a:path w="14668500" h="12701">
                <a:moveTo>
                  <a:pt x="0" y="0"/>
                </a:moveTo>
                <a:lnTo>
                  <a:pt x="14668500" y="0"/>
                </a:lnTo>
                <a:lnTo>
                  <a:pt x="14668500" y="12701"/>
                </a:lnTo>
                <a:lnTo>
                  <a:pt x="0" y="127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4945" b="-24945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7" name="Group 7"/>
          <p:cNvGrpSpPr/>
          <p:nvPr/>
        </p:nvGrpSpPr>
        <p:grpSpPr>
          <a:xfrm>
            <a:off x="15125702" y="1524002"/>
            <a:ext cx="711200" cy="317501"/>
            <a:chOff x="0" y="0"/>
            <a:chExt cx="948267" cy="423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8267" cy="423335"/>
            </a:xfrm>
            <a:custGeom>
              <a:avLst/>
              <a:gdLst/>
              <a:ahLst/>
              <a:cxnLst/>
              <a:rect l="l" t="t" r="r" b="b"/>
              <a:pathLst>
                <a:path w="948267" h="423335">
                  <a:moveTo>
                    <a:pt x="0" y="0"/>
                  </a:moveTo>
                  <a:lnTo>
                    <a:pt x="948267" y="0"/>
                  </a:lnTo>
                  <a:lnTo>
                    <a:pt x="948267" y="423335"/>
                  </a:lnTo>
                  <a:lnTo>
                    <a:pt x="0" y="423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948267" cy="442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51"/>
                </a:lnSpc>
              </a:pPr>
              <a:r>
                <a:rPr lang="en-US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난이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09800" y="971393"/>
            <a:ext cx="8115300" cy="128111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ts val="7889"/>
              </a:lnSpc>
            </a:pPr>
            <a:r>
              <a:rPr lang="en-US" sz="5400" spc="-300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역할</a:t>
            </a:r>
            <a:r>
              <a:rPr lang="en-US" sz="5400" spc="-300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5400" spc="-300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분담</a:t>
            </a:r>
            <a:endParaRPr lang="en-US" sz="5400" spc="-300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5107BB8-79E1-6CC0-28E0-933FCA530F39}"/>
              </a:ext>
            </a:extLst>
          </p:cNvPr>
          <p:cNvGrpSpPr/>
          <p:nvPr/>
        </p:nvGrpSpPr>
        <p:grpSpPr>
          <a:xfrm>
            <a:off x="1969620" y="2213917"/>
            <a:ext cx="15652722" cy="7335437"/>
            <a:chOff x="2806702" y="3022601"/>
            <a:chExt cx="12674600" cy="6137713"/>
          </a:xfrm>
        </p:grpSpPr>
        <p:sp>
          <p:nvSpPr>
            <p:cNvPr id="59" name="Freeform 59"/>
            <p:cNvSpPr/>
            <p:nvPr/>
          </p:nvSpPr>
          <p:spPr>
            <a:xfrm>
              <a:off x="8293100" y="50927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8496301" y="5422901"/>
              <a:ext cx="622301" cy="368300"/>
              <a:chOff x="0" y="0"/>
              <a:chExt cx="829735" cy="49106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29735" cy="491067"/>
              </a:xfrm>
              <a:custGeom>
                <a:avLst/>
                <a:gdLst/>
                <a:ahLst/>
                <a:cxnLst/>
                <a:rect l="l" t="t" r="r" b="b"/>
                <a:pathLst>
                  <a:path w="829735" h="491067">
                    <a:moveTo>
                      <a:pt x="0" y="0"/>
                    </a:moveTo>
                    <a:lnTo>
                      <a:pt x="829735" y="0"/>
                    </a:lnTo>
                    <a:lnTo>
                      <a:pt x="829735" y="491067"/>
                    </a:lnTo>
                    <a:lnTo>
                      <a:pt x="0" y="4910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28575"/>
                <a:ext cx="829735" cy="51964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2100" dirty="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9169400" y="5422901"/>
              <a:ext cx="622301" cy="368300"/>
              <a:chOff x="0" y="0"/>
              <a:chExt cx="829735" cy="49106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29735" cy="491067"/>
              </a:xfrm>
              <a:custGeom>
                <a:avLst/>
                <a:gdLst/>
                <a:ahLst/>
                <a:cxnLst/>
                <a:rect l="l" t="t" r="r" b="b"/>
                <a:pathLst>
                  <a:path w="829735" h="491067">
                    <a:moveTo>
                      <a:pt x="0" y="0"/>
                    </a:moveTo>
                    <a:lnTo>
                      <a:pt x="829735" y="0"/>
                    </a:lnTo>
                    <a:lnTo>
                      <a:pt x="829735" y="491067"/>
                    </a:lnTo>
                    <a:lnTo>
                      <a:pt x="0" y="4910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28575"/>
                <a:ext cx="829735" cy="51964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8496301" y="6083302"/>
              <a:ext cx="622301" cy="368300"/>
              <a:chOff x="0" y="0"/>
              <a:chExt cx="829735" cy="49106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29735" cy="491067"/>
              </a:xfrm>
              <a:custGeom>
                <a:avLst/>
                <a:gdLst/>
                <a:ahLst/>
                <a:cxnLst/>
                <a:rect l="l" t="t" r="r" b="b"/>
                <a:pathLst>
                  <a:path w="829735" h="491067">
                    <a:moveTo>
                      <a:pt x="0" y="0"/>
                    </a:moveTo>
                    <a:lnTo>
                      <a:pt x="829735" y="0"/>
                    </a:lnTo>
                    <a:lnTo>
                      <a:pt x="829735" y="491067"/>
                    </a:lnTo>
                    <a:lnTo>
                      <a:pt x="0" y="4910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28575"/>
                <a:ext cx="829735" cy="51964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169400" y="6083302"/>
              <a:ext cx="622301" cy="368300"/>
              <a:chOff x="0" y="0"/>
              <a:chExt cx="829735" cy="491067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29735" cy="491067"/>
              </a:xfrm>
              <a:custGeom>
                <a:avLst/>
                <a:gdLst/>
                <a:ahLst/>
                <a:cxnLst/>
                <a:rect l="l" t="t" r="r" b="b"/>
                <a:pathLst>
                  <a:path w="829735" h="491067">
                    <a:moveTo>
                      <a:pt x="0" y="0"/>
                    </a:moveTo>
                    <a:lnTo>
                      <a:pt x="829735" y="0"/>
                    </a:lnTo>
                    <a:lnTo>
                      <a:pt x="829735" y="491067"/>
                    </a:lnTo>
                    <a:lnTo>
                      <a:pt x="0" y="4910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28575"/>
                <a:ext cx="829735" cy="51964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2806702" y="4011471"/>
              <a:ext cx="5029200" cy="1819561"/>
              <a:chOff x="0" y="0"/>
              <a:chExt cx="6705600" cy="2426082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6705600" cy="2426082"/>
              </a:xfrm>
              <a:custGeom>
                <a:avLst/>
                <a:gdLst/>
                <a:ahLst/>
                <a:cxnLst/>
                <a:rect l="l" t="t" r="r" b="b"/>
                <a:pathLst>
                  <a:path w="6705600" h="2426082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2426082"/>
                    </a:lnTo>
                    <a:lnTo>
                      <a:pt x="0" y="242608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104775"/>
                <a:ext cx="6705600" cy="25308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585"/>
                  </a:lnSpc>
                </a:pP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서버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</a:p>
              <a:p>
                <a:pPr>
                  <a:lnSpc>
                    <a:spcPts val="3584"/>
                  </a:lnSpc>
                </a:pP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데이터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수집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및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크롤링</a:t>
                </a: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  <a:p>
                <a:pPr>
                  <a:lnSpc>
                    <a:spcPts val="3584"/>
                  </a:lnSpc>
                </a:pP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테스트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및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오류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수정</a:t>
                </a: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  <a:p>
                <a:pPr>
                  <a:lnSpc>
                    <a:spcPts val="3584"/>
                  </a:lnSpc>
                </a:pP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11929758" y="3822700"/>
              <a:ext cx="3538843" cy="1346201"/>
              <a:chOff x="0" y="0"/>
              <a:chExt cx="4718457" cy="179493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4718457" cy="1794935"/>
              </a:xfrm>
              <a:custGeom>
                <a:avLst/>
                <a:gdLst/>
                <a:ahLst/>
                <a:cxnLst/>
                <a:rect l="l" t="t" r="r" b="b"/>
                <a:pathLst>
                  <a:path w="4718457" h="1794935">
                    <a:moveTo>
                      <a:pt x="0" y="0"/>
                    </a:moveTo>
                    <a:lnTo>
                      <a:pt x="4718457" y="0"/>
                    </a:lnTo>
                    <a:lnTo>
                      <a:pt x="4718457" y="1794935"/>
                    </a:lnTo>
                    <a:lnTo>
                      <a:pt x="0" y="17949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0" y="-104775"/>
                <a:ext cx="4718457" cy="18997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3585"/>
                  </a:lnSpc>
                </a:pPr>
                <a:r>
                  <a:rPr lang="en-US" sz="2400">
                    <a:latin typeface="Calibri (MS)"/>
                    <a:ea typeface="Calibri (MS)"/>
                    <a:cs typeface="Calibri (MS)"/>
                    <a:sym typeface="Calibri (MS)"/>
                  </a:rPr>
                  <a:t>프론트 엔드</a:t>
                </a:r>
              </a:p>
              <a:p>
                <a:pPr algn="r">
                  <a:lnSpc>
                    <a:spcPts val="3584"/>
                  </a:lnSpc>
                </a:pPr>
                <a:r>
                  <a:rPr lang="en-US" sz="2400">
                    <a:latin typeface="Calibri (MS)"/>
                    <a:ea typeface="Calibri (MS)"/>
                    <a:cs typeface="Calibri (MS)"/>
                    <a:sym typeface="Calibri (MS)"/>
                  </a:rPr>
                  <a:t>데이터 수집 및 크롤링</a:t>
                </a:r>
              </a:p>
            </p:txBody>
          </p:sp>
        </p:grpSp>
        <p:sp>
          <p:nvSpPr>
            <p:cNvPr id="78" name="Freeform 78"/>
            <p:cNvSpPr/>
            <p:nvPr/>
          </p:nvSpPr>
          <p:spPr>
            <a:xfrm>
              <a:off x="2806702" y="5930902"/>
              <a:ext cx="12674600" cy="25400"/>
            </a:xfrm>
            <a:custGeom>
              <a:avLst/>
              <a:gdLst/>
              <a:ahLst/>
              <a:cxnLst/>
              <a:rect l="l" t="t" r="r" b="b"/>
              <a:pathLst>
                <a:path w="12674600" h="25400">
                  <a:moveTo>
                    <a:pt x="0" y="0"/>
                  </a:moveTo>
                  <a:lnTo>
                    <a:pt x="12674600" y="0"/>
                  </a:lnTo>
                  <a:lnTo>
                    <a:pt x="126746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6235" b="-623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Freeform 79"/>
            <p:cNvSpPr/>
            <p:nvPr/>
          </p:nvSpPr>
          <p:spPr>
            <a:xfrm rot="5400000">
              <a:off x="6223001" y="5930902"/>
              <a:ext cx="5842001" cy="25400"/>
            </a:xfrm>
            <a:custGeom>
              <a:avLst/>
              <a:gdLst/>
              <a:ahLst/>
              <a:cxnLst/>
              <a:rect l="l" t="t" r="r" b="b"/>
              <a:pathLst>
                <a:path w="5842001" h="25400">
                  <a:moveTo>
                    <a:pt x="0" y="0"/>
                  </a:moveTo>
                  <a:lnTo>
                    <a:pt x="5842001" y="0"/>
                  </a:lnTo>
                  <a:lnTo>
                    <a:pt x="5842001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6188" b="-61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2806702" y="3175001"/>
              <a:ext cx="2197100" cy="736601"/>
            </a:xfrm>
            <a:custGeom>
              <a:avLst/>
              <a:gdLst/>
              <a:ahLst/>
              <a:cxnLst/>
              <a:rect l="l" t="t" r="r" b="b"/>
              <a:pathLst>
                <a:path w="2197100" h="736601">
                  <a:moveTo>
                    <a:pt x="0" y="0"/>
                  </a:moveTo>
                  <a:lnTo>
                    <a:pt x="2197100" y="0"/>
                  </a:lnTo>
                  <a:lnTo>
                    <a:pt x="2197100" y="736601"/>
                  </a:lnTo>
                  <a:lnTo>
                    <a:pt x="0" y="73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1" b="-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Freeform 81"/>
            <p:cNvSpPr/>
            <p:nvPr/>
          </p:nvSpPr>
          <p:spPr>
            <a:xfrm>
              <a:off x="13271501" y="3175001"/>
              <a:ext cx="2197100" cy="736601"/>
            </a:xfrm>
            <a:custGeom>
              <a:avLst/>
              <a:gdLst/>
              <a:ahLst/>
              <a:cxnLst/>
              <a:rect l="l" t="t" r="r" b="b"/>
              <a:pathLst>
                <a:path w="2197100" h="736601">
                  <a:moveTo>
                    <a:pt x="0" y="0"/>
                  </a:moveTo>
                  <a:lnTo>
                    <a:pt x="2197100" y="0"/>
                  </a:lnTo>
                  <a:lnTo>
                    <a:pt x="2197100" y="736601"/>
                  </a:lnTo>
                  <a:lnTo>
                    <a:pt x="0" y="73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1" b="-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3048001" y="3199865"/>
              <a:ext cx="2071681" cy="686873"/>
              <a:chOff x="0" y="0"/>
              <a:chExt cx="2762241" cy="91583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2762241" cy="915831"/>
              </a:xfrm>
              <a:custGeom>
                <a:avLst/>
                <a:gdLst/>
                <a:ahLst/>
                <a:cxnLst/>
                <a:rect l="l" t="t" r="r" b="b"/>
                <a:pathLst>
                  <a:path w="2762241" h="915831">
                    <a:moveTo>
                      <a:pt x="0" y="0"/>
                    </a:moveTo>
                    <a:lnTo>
                      <a:pt x="2762241" y="0"/>
                    </a:lnTo>
                    <a:lnTo>
                      <a:pt x="2762241" y="915831"/>
                    </a:lnTo>
                    <a:lnTo>
                      <a:pt x="0" y="91583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28575"/>
                <a:ext cx="2762241" cy="94440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755"/>
                  </a:lnSpc>
                </a:pPr>
                <a:r>
                  <a:rPr lang="en-US" sz="2900">
                    <a:solidFill>
                      <a:srgbClr val="657EA7"/>
                    </a:solidFill>
                    <a:latin typeface="Cafe"/>
                    <a:ea typeface="Cafe"/>
                    <a:cs typeface="Cafe"/>
                    <a:sym typeface="Cafe"/>
                  </a:rPr>
                  <a:t>정찬우(팀장)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3474700" y="3289301"/>
              <a:ext cx="1790700" cy="508001"/>
              <a:chOff x="0" y="0"/>
              <a:chExt cx="2387600" cy="67733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2387600" cy="677335"/>
              </a:xfrm>
              <a:custGeom>
                <a:avLst/>
                <a:gdLst/>
                <a:ahLst/>
                <a:cxnLst/>
                <a:rect l="l" t="t" r="r" b="b"/>
                <a:pathLst>
                  <a:path w="2387600" h="677335">
                    <a:moveTo>
                      <a:pt x="0" y="0"/>
                    </a:moveTo>
                    <a:lnTo>
                      <a:pt x="2387600" y="0"/>
                    </a:lnTo>
                    <a:lnTo>
                      <a:pt x="2387600" y="677335"/>
                    </a:lnTo>
                    <a:lnTo>
                      <a:pt x="0" y="6773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0" y="-28575"/>
                <a:ext cx="2387600" cy="7059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3755"/>
                  </a:lnSpc>
                </a:pPr>
                <a:r>
                  <a:rPr lang="en-US" sz="2900">
                    <a:solidFill>
                      <a:srgbClr val="657EA7"/>
                    </a:solidFill>
                    <a:latin typeface="Cafe"/>
                    <a:ea typeface="Cafe"/>
                    <a:cs typeface="Cafe"/>
                    <a:sym typeface="Cafe"/>
                  </a:rPr>
                  <a:t>이승준</a:t>
                </a:r>
              </a:p>
            </p:txBody>
          </p:sp>
        </p:grpSp>
        <p:sp>
          <p:nvSpPr>
            <p:cNvPr id="88" name="Freeform 88"/>
            <p:cNvSpPr/>
            <p:nvPr/>
          </p:nvSpPr>
          <p:spPr>
            <a:xfrm>
              <a:off x="2806702" y="6413501"/>
              <a:ext cx="2197100" cy="736601"/>
            </a:xfrm>
            <a:custGeom>
              <a:avLst/>
              <a:gdLst/>
              <a:ahLst/>
              <a:cxnLst/>
              <a:rect l="l" t="t" r="r" b="b"/>
              <a:pathLst>
                <a:path w="2197100" h="736601">
                  <a:moveTo>
                    <a:pt x="0" y="0"/>
                  </a:moveTo>
                  <a:lnTo>
                    <a:pt x="2197100" y="0"/>
                  </a:lnTo>
                  <a:lnTo>
                    <a:pt x="2197100" y="736601"/>
                  </a:lnTo>
                  <a:lnTo>
                    <a:pt x="0" y="73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1" b="-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13271501" y="6413501"/>
              <a:ext cx="2197100" cy="736601"/>
            </a:xfrm>
            <a:custGeom>
              <a:avLst/>
              <a:gdLst/>
              <a:ahLst/>
              <a:cxnLst/>
              <a:rect l="l" t="t" r="r" b="b"/>
              <a:pathLst>
                <a:path w="2197100" h="736601">
                  <a:moveTo>
                    <a:pt x="0" y="0"/>
                  </a:moveTo>
                  <a:lnTo>
                    <a:pt x="2197100" y="0"/>
                  </a:lnTo>
                  <a:lnTo>
                    <a:pt x="2197100" y="736601"/>
                  </a:lnTo>
                  <a:lnTo>
                    <a:pt x="0" y="73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1" b="-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3048001" y="6527801"/>
              <a:ext cx="1689101" cy="508001"/>
              <a:chOff x="0" y="0"/>
              <a:chExt cx="2252135" cy="67733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252135" cy="677335"/>
              </a:xfrm>
              <a:custGeom>
                <a:avLst/>
                <a:gdLst/>
                <a:ahLst/>
                <a:cxnLst/>
                <a:rect l="l" t="t" r="r" b="b"/>
                <a:pathLst>
                  <a:path w="2252135" h="677335">
                    <a:moveTo>
                      <a:pt x="0" y="0"/>
                    </a:moveTo>
                    <a:lnTo>
                      <a:pt x="2252135" y="0"/>
                    </a:lnTo>
                    <a:lnTo>
                      <a:pt x="2252135" y="677335"/>
                    </a:lnTo>
                    <a:lnTo>
                      <a:pt x="0" y="6773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-28575"/>
                <a:ext cx="2252135" cy="7059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755"/>
                  </a:lnSpc>
                </a:pPr>
                <a:r>
                  <a:rPr lang="en-US" sz="2900">
                    <a:solidFill>
                      <a:srgbClr val="657EA7"/>
                    </a:solidFill>
                    <a:latin typeface="Cafe"/>
                    <a:ea typeface="Cafe"/>
                    <a:cs typeface="Cafe"/>
                    <a:sym typeface="Cafe"/>
                  </a:rPr>
                  <a:t>이수경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3055602" y="6515101"/>
              <a:ext cx="2197100" cy="508001"/>
              <a:chOff x="0" y="0"/>
              <a:chExt cx="2929467" cy="67733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2929467" cy="677335"/>
              </a:xfrm>
              <a:custGeom>
                <a:avLst/>
                <a:gdLst/>
                <a:ahLst/>
                <a:cxnLst/>
                <a:rect l="l" t="t" r="r" b="b"/>
                <a:pathLst>
                  <a:path w="2929467" h="677335">
                    <a:moveTo>
                      <a:pt x="0" y="0"/>
                    </a:moveTo>
                    <a:lnTo>
                      <a:pt x="2929467" y="0"/>
                    </a:lnTo>
                    <a:lnTo>
                      <a:pt x="2929467" y="677335"/>
                    </a:lnTo>
                    <a:lnTo>
                      <a:pt x="0" y="6773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0" y="-28575"/>
                <a:ext cx="2929467" cy="7059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3755"/>
                  </a:lnSpc>
                </a:pPr>
                <a:r>
                  <a:rPr lang="en-US" sz="2900">
                    <a:solidFill>
                      <a:srgbClr val="657EA7"/>
                    </a:solidFill>
                    <a:latin typeface="Cafe"/>
                    <a:ea typeface="Cafe"/>
                    <a:cs typeface="Cafe"/>
                    <a:sym typeface="Cafe"/>
                  </a:rPr>
                  <a:t>김현우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2806702" y="7245352"/>
              <a:ext cx="5029200" cy="1803401"/>
              <a:chOff x="0" y="0"/>
              <a:chExt cx="6705600" cy="2404535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6705600" cy="2404535"/>
              </a:xfrm>
              <a:custGeom>
                <a:avLst/>
                <a:gdLst/>
                <a:ahLst/>
                <a:cxnLst/>
                <a:rect l="l" t="t" r="r" b="b"/>
                <a:pathLst>
                  <a:path w="6705600" h="2404535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2404535"/>
                    </a:lnTo>
                    <a:lnTo>
                      <a:pt x="0" y="24045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0" y="-104775"/>
                <a:ext cx="6705600" cy="25093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3584"/>
                  </a:lnSpc>
                </a:pPr>
                <a:r>
                  <a:rPr lang="en-US" sz="2400">
                    <a:latin typeface="Calibri (MS)"/>
                    <a:ea typeface="Calibri (MS)"/>
                    <a:cs typeface="Calibri (MS)"/>
                    <a:sym typeface="Calibri (MS)"/>
                  </a:rPr>
                  <a:t>RAG 시스템 구성 방법 연구</a:t>
                </a:r>
              </a:p>
              <a:p>
                <a:pPr>
                  <a:lnSpc>
                    <a:spcPts val="3584"/>
                  </a:lnSpc>
                </a:pPr>
                <a:r>
                  <a:rPr lang="en-US" sz="2400">
                    <a:latin typeface="Calibri (MS)"/>
                    <a:ea typeface="Calibri (MS)"/>
                    <a:cs typeface="Calibri (MS)"/>
                    <a:sym typeface="Calibri (MS)"/>
                  </a:rPr>
                  <a:t>렝체인 기반 RAG 모델 구현</a:t>
                </a:r>
              </a:p>
              <a:p>
                <a:pPr>
                  <a:lnSpc>
                    <a:spcPts val="3584"/>
                  </a:lnSpc>
                </a:pPr>
                <a:r>
                  <a:rPr lang="en-US" sz="2400">
                    <a:latin typeface="Calibri (MS)"/>
                    <a:ea typeface="Calibri (MS)"/>
                    <a:cs typeface="Calibri (MS)"/>
                    <a:sym typeface="Calibri (MS)"/>
                  </a:rPr>
                  <a:t>성능 향상을 위한 프롬프트 분석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10134601" y="7340602"/>
              <a:ext cx="5334000" cy="1819712"/>
              <a:chOff x="0" y="0"/>
              <a:chExt cx="7112000" cy="242628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7112000" cy="2426283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2426283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426283"/>
                    </a:lnTo>
                    <a:lnTo>
                      <a:pt x="0" y="24262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104775"/>
                <a:ext cx="7112000" cy="2531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3584"/>
                  </a:lnSpc>
                </a:pP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RAG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모델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구현</a:t>
                </a: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  <a:p>
                <a:pPr algn="r">
                  <a:lnSpc>
                    <a:spcPts val="3584"/>
                  </a:lnSpc>
                </a:pP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영어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번역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DB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생성</a:t>
                </a: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  <a:p>
                <a:pPr algn="r">
                  <a:lnSpc>
                    <a:spcPts val="3584"/>
                  </a:lnSpc>
                </a:pP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영어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RAG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모델</a:t>
                </a:r>
                <a:r>
                  <a:rPr lang="en-US" sz="2400" dirty="0"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dirty="0" err="1">
                    <a:latin typeface="Calibri (MS)"/>
                    <a:ea typeface="Calibri (MS)"/>
                    <a:cs typeface="Calibri (MS)"/>
                    <a:sym typeface="Calibri (MS)"/>
                  </a:rPr>
                  <a:t>구현</a:t>
                </a: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  <a:p>
                <a:pPr algn="r">
                  <a:lnSpc>
                    <a:spcPts val="3584"/>
                  </a:lnSpc>
                </a:pPr>
                <a:endParaRPr lang="en-US" sz="2400" dirty="0"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A2F74D19-8CED-7FD6-5002-B51C0B9A7608}"/>
              </a:ext>
            </a:extLst>
          </p:cNvPr>
          <p:cNvGrpSpPr/>
          <p:nvPr/>
        </p:nvGrpSpPr>
        <p:grpSpPr>
          <a:xfrm>
            <a:off x="413168" y="990000"/>
            <a:ext cx="1142850" cy="8888622"/>
            <a:chOff x="3581400" y="405174"/>
            <a:chExt cx="1092200" cy="8115300"/>
          </a:xfrm>
        </p:grpSpPr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0C5E5100-5934-1476-74B3-EFC4318DC563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" name="Freeform 58">
              <a:extLst>
                <a:ext uri="{FF2B5EF4-FFF2-40B4-BE49-F238E27FC236}">
                  <a16:creationId xmlns:a16="http://schemas.microsoft.com/office/drawing/2014/main" id="{12C1509D-F97D-A451-6B2F-5B4DB4392A7B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D4E8A36-5C5D-B818-B154-BE9D91DF1775}"/>
                </a:ext>
              </a:extLst>
            </p:cNvPr>
            <p:cNvSpPr txBox="1"/>
            <p:nvPr/>
          </p:nvSpPr>
          <p:spPr>
            <a:xfrm>
              <a:off x="3822700" y="1256270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1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3E25F57-AE49-1F79-FF9D-4F62898153D0}"/>
                </a:ext>
              </a:extLst>
            </p:cNvPr>
            <p:cNvSpPr txBox="1"/>
            <p:nvPr/>
          </p:nvSpPr>
          <p:spPr>
            <a:xfrm>
              <a:off x="3822700" y="2162912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4920F9C-FDBC-EA6F-B408-819AF8343644}"/>
                </a:ext>
              </a:extLst>
            </p:cNvPr>
            <p:cNvSpPr txBox="1"/>
            <p:nvPr/>
          </p:nvSpPr>
          <p:spPr>
            <a:xfrm>
              <a:off x="3822700" y="3029579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5B45DEB-34F3-0D0F-4B98-A295C8CB61BD}"/>
                </a:ext>
              </a:extLst>
            </p:cNvPr>
            <p:cNvSpPr txBox="1"/>
            <p:nvPr/>
          </p:nvSpPr>
          <p:spPr>
            <a:xfrm>
              <a:off x="3822700" y="3936221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4826F58-8625-969E-6965-6364FE7945B5}"/>
                </a:ext>
              </a:extLst>
            </p:cNvPr>
            <p:cNvSpPr txBox="1"/>
            <p:nvPr/>
          </p:nvSpPr>
          <p:spPr>
            <a:xfrm>
              <a:off x="3822700" y="4842862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2B0692A-7392-4AC2-3646-4A51B875F03E}"/>
                </a:ext>
              </a:extLst>
            </p:cNvPr>
            <p:cNvSpPr txBox="1"/>
            <p:nvPr/>
          </p:nvSpPr>
          <p:spPr>
            <a:xfrm>
              <a:off x="3822700" y="5749504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2FF71F6-A9CC-1D28-36D7-2C80C2B48EFF}"/>
                </a:ext>
              </a:extLst>
            </p:cNvPr>
            <p:cNvSpPr txBox="1"/>
            <p:nvPr/>
          </p:nvSpPr>
          <p:spPr>
            <a:xfrm>
              <a:off x="3822700" y="6656148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C2F23FA-3EEA-212E-AD4A-1AD4E4D33302}"/>
                </a:ext>
              </a:extLst>
            </p:cNvPr>
            <p:cNvSpPr txBox="1"/>
            <p:nvPr/>
          </p:nvSpPr>
          <p:spPr>
            <a:xfrm>
              <a:off x="3822700" y="7562790"/>
              <a:ext cx="609601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549B-C7A7-4F49-A4EB-4A5359CD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742DFB-2EE2-0B85-7AF2-C6EC555E4693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028FB64-8621-A3B0-D4CD-6467A4520579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9EF3C30-CD05-3701-4CF3-37A493A09E12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DEBAA6-7C85-8208-C501-88A6DE80E587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85729F3-FDB3-FE8F-059F-177B9A09BA61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48E0A06-A365-BC0A-94F1-F00C481C37E3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82252F4-6E90-BE8E-CF48-468936609613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248B0-A6A4-75DD-E5BB-57484671D35D}"/>
              </a:ext>
            </a:extLst>
          </p:cNvPr>
          <p:cNvSpPr txBox="1"/>
          <p:nvPr/>
        </p:nvSpPr>
        <p:spPr>
          <a:xfrm>
            <a:off x="5467350" y="4420225"/>
            <a:ext cx="7353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59982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2569EF7-606C-14D5-06B0-130E6172CE66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127" name="Picture 2"/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79BDA9C-0A6E-9FA0-2C44-A6FD2676A6F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28" name="Picture 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9" name="Picture 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0" name="Picture 5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B0AE0E5B-BB20-CCBE-A249-7921CE33A74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/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/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프로젝트 개요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/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1D53A0-6053-796B-F3E0-42D30EEB7781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</a:t>
            </a:r>
            <a:r>
              <a:rPr lang="ko-KR" altLang="en-US" sz="3600" dirty="0">
                <a:solidFill>
                  <a:srgbClr val="747EA7"/>
                </a:solidFill>
              </a:rPr>
              <a:t>프로젝트 주제 선정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B945EB-2CEF-1525-0793-997144ACEA9F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3460750" y="405174"/>
            <a:chExt cx="1333500" cy="8115300"/>
          </a:xfrm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035C0252-1596-22FF-5D70-BF1E8C819318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19755F11-FC63-228F-A884-CC7BF932E24F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1170834-610F-D5F7-4676-7F8813DFDD3B}"/>
                </a:ext>
              </a:extLst>
            </p:cNvPr>
            <p:cNvGrpSpPr/>
            <p:nvPr/>
          </p:nvGrpSpPr>
          <p:grpSpPr>
            <a:xfrm>
              <a:off x="3460750" y="1014533"/>
              <a:ext cx="1333500" cy="863600"/>
              <a:chOff x="8227344" y="2113347"/>
              <a:chExt cx="1333500" cy="863600"/>
            </a:xfrm>
          </p:grpSpPr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ADAC91AF-0761-F8DC-CE8D-DBD080FD877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BF4EF6-7E92-1D12-6C87-EF5FA26FE44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1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CF766E-B186-1216-4061-9835FDCB49EA}"/>
                </a:ext>
              </a:extLst>
            </p:cNvPr>
            <p:cNvSpPr txBox="1"/>
            <p:nvPr/>
          </p:nvSpPr>
          <p:spPr>
            <a:xfrm>
              <a:off x="3822700" y="216291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4EF65-A096-0567-6D9B-916D79A186DE}"/>
                </a:ext>
              </a:extLst>
            </p:cNvPr>
            <p:cNvSpPr txBox="1"/>
            <p:nvPr/>
          </p:nvSpPr>
          <p:spPr>
            <a:xfrm>
              <a:off x="3822700" y="3029579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123D4-03B8-3234-9459-185C8FBA25E3}"/>
                </a:ext>
              </a:extLst>
            </p:cNvPr>
            <p:cNvSpPr txBox="1"/>
            <p:nvPr/>
          </p:nvSpPr>
          <p:spPr>
            <a:xfrm>
              <a:off x="3822700" y="3936221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1C8AF-6E25-0062-CE4C-0E3AB1162943}"/>
                </a:ext>
              </a:extLst>
            </p:cNvPr>
            <p:cNvSpPr txBox="1"/>
            <p:nvPr/>
          </p:nvSpPr>
          <p:spPr>
            <a:xfrm>
              <a:off x="3822700" y="484286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5AA19-06FB-07B8-ECB6-6332285C38A3}"/>
                </a:ext>
              </a:extLst>
            </p:cNvPr>
            <p:cNvSpPr txBox="1"/>
            <p:nvPr/>
          </p:nvSpPr>
          <p:spPr>
            <a:xfrm>
              <a:off x="3822700" y="5749504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67773-FDF2-305C-3994-56AEC2429007}"/>
                </a:ext>
              </a:extLst>
            </p:cNvPr>
            <p:cNvSpPr txBox="1"/>
            <p:nvPr/>
          </p:nvSpPr>
          <p:spPr>
            <a:xfrm>
              <a:off x="3822700" y="6656148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10360D-08FA-A695-6DEF-3A9B87458EEA}"/>
                </a:ext>
              </a:extLst>
            </p:cNvPr>
            <p:cNvSpPr txBox="1"/>
            <p:nvPr/>
          </p:nvSpPr>
          <p:spPr>
            <a:xfrm>
              <a:off x="3822700" y="7562790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6" descr="Gen Ai spending">
            <a:extLst>
              <a:ext uri="{FF2B5EF4-FFF2-40B4-BE49-F238E27FC236}">
                <a16:creationId xmlns:a16="http://schemas.microsoft.com/office/drawing/2014/main" id="{44E757C5-66CF-B993-E12B-3517FD94AA7B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2060353" y="3304280"/>
            <a:ext cx="6721200" cy="4939920"/>
          </a:xfrm>
          <a:prstGeom prst="rect">
            <a:avLst/>
          </a:prstGeom>
          <a:ln w="0">
            <a:noFill/>
          </a:ln>
        </p:spPr>
      </p:pic>
      <p:sp>
        <p:nvSpPr>
          <p:cNvPr id="6" name="TextBox 19">
            <a:extLst>
              <a:ext uri="{FF2B5EF4-FFF2-40B4-BE49-F238E27FC236}">
                <a16:creationId xmlns:a16="http://schemas.microsoft.com/office/drawing/2014/main" id="{AD1C89CC-3142-C730-8C3F-D0625940179D}"/>
              </a:ext>
            </a:extLst>
          </p:cNvPr>
          <p:cNvSpPr/>
          <p:nvPr/>
        </p:nvSpPr>
        <p:spPr>
          <a:xfrm>
            <a:off x="8991361" y="3994979"/>
            <a:ext cx="9076594" cy="2800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403152"/>
              </a:buClr>
              <a:buFont typeface="Arial"/>
              <a:buChar char="•"/>
            </a:pPr>
            <a:r>
              <a:rPr lang="ko-KR" altLang="en-US" sz="2400" dirty="0"/>
              <a:t>생성형 </a:t>
            </a:r>
            <a:r>
              <a:rPr lang="en-US" altLang="ko-KR" sz="2400" dirty="0"/>
              <a:t>AI</a:t>
            </a:r>
            <a:r>
              <a:rPr lang="ko-KR" altLang="en-US" sz="2400" dirty="0"/>
              <a:t>인 </a:t>
            </a:r>
            <a:r>
              <a:rPr lang="en-US" altLang="ko-KR" sz="2400" b="1" dirty="0"/>
              <a:t>ChatGPT</a:t>
            </a:r>
            <a:r>
              <a:rPr lang="ko-KR" altLang="en-US" sz="2400" b="1" dirty="0"/>
              <a:t>의 등장 </a:t>
            </a:r>
            <a:r>
              <a:rPr lang="ko-KR" altLang="en-US" sz="2400" dirty="0"/>
              <a:t>이후</a:t>
            </a:r>
            <a:r>
              <a:rPr lang="en-US" altLang="ko-KR" sz="2400" dirty="0"/>
              <a:t>, </a:t>
            </a:r>
            <a:r>
              <a:rPr lang="ko-KR" altLang="en-US" sz="2400" dirty="0"/>
              <a:t>이에 대한 </a:t>
            </a:r>
            <a:r>
              <a:rPr lang="ko-KR" altLang="en-US" sz="2400" b="1" dirty="0"/>
              <a:t>관심과 투자 규모가 크게 증가</a:t>
            </a:r>
            <a:r>
              <a:rPr lang="ko-KR" altLang="en-US" sz="2400" dirty="0"/>
              <a:t>함</a:t>
            </a:r>
            <a:endParaRPr lang="en-US" altLang="ko-KR" sz="2400" dirty="0"/>
          </a:p>
          <a:p>
            <a:pPr marL="343080" indent="-343080" defTabSz="914400">
              <a:lnSpc>
                <a:spcPct val="150000"/>
              </a:lnSpc>
              <a:buClr>
                <a:srgbClr val="403152"/>
              </a:buClr>
              <a:buFont typeface="Arial"/>
              <a:buChar char="•"/>
            </a:pPr>
            <a:endParaRPr lang="en-US" altLang="ko-KR" sz="1200" dirty="0"/>
          </a:p>
          <a:p>
            <a:pPr marL="343080" indent="-343080" defTabSz="914400">
              <a:lnSpc>
                <a:spcPct val="150000"/>
              </a:lnSpc>
              <a:buClr>
                <a:srgbClr val="403152"/>
              </a:buClr>
              <a:buFont typeface="Arial"/>
              <a:buChar char="•"/>
            </a:pPr>
            <a:r>
              <a:rPr lang="ko-KR" altLang="en-US" sz="2400" b="1" strike="noStrike" spc="-1" dirty="0">
                <a:latin typeface="+mn-ea"/>
              </a:rPr>
              <a:t>생성형 </a:t>
            </a:r>
            <a:r>
              <a:rPr lang="en-US" altLang="ko-KR" sz="2400" b="1" spc="-1" dirty="0">
                <a:latin typeface="+mn-ea"/>
              </a:rPr>
              <a:t>AI(LLM) </a:t>
            </a:r>
            <a:r>
              <a:rPr lang="ko-KR" altLang="en-US" sz="2400" b="1" spc="-1" dirty="0">
                <a:latin typeface="+mn-ea"/>
              </a:rPr>
              <a:t>기반 서비스 급증</a:t>
            </a:r>
            <a:endParaRPr lang="en-US" altLang="ko-KR" sz="2400" b="1" spc="-1" dirty="0">
              <a:latin typeface="+mn-ea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403152"/>
              </a:buClr>
              <a:buFont typeface="Arial"/>
              <a:buChar char="•"/>
            </a:pPr>
            <a:endParaRPr lang="en-US" altLang="ko-KR" sz="1200" spc="-1" dirty="0">
              <a:latin typeface="맑은 고딕"/>
            </a:endParaRPr>
          </a:p>
          <a:p>
            <a:pPr marL="343080" indent="-343080">
              <a:lnSpc>
                <a:spcPct val="150000"/>
              </a:lnSpc>
              <a:buClr>
                <a:srgbClr val="403152"/>
              </a:buClr>
              <a:buFont typeface="Arial"/>
              <a:buChar char="•"/>
            </a:pPr>
            <a:r>
              <a:rPr lang="ko-KR" altLang="en-US" sz="2400" dirty="0"/>
              <a:t>하지만 </a:t>
            </a:r>
            <a:r>
              <a:rPr lang="en-US" altLang="ko-KR" sz="2400" dirty="0"/>
              <a:t>LLM</a:t>
            </a:r>
            <a:r>
              <a:rPr lang="ko-KR" altLang="en-US" sz="2400" dirty="0"/>
              <a:t>에는 몇 가지 중요한 </a:t>
            </a:r>
            <a:r>
              <a:rPr lang="ko-KR" altLang="en-US" sz="2400" b="1" dirty="0"/>
              <a:t>한계</a:t>
            </a:r>
            <a:r>
              <a:rPr lang="ko-KR" altLang="en-US" sz="2400" dirty="0"/>
              <a:t>가 있음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07DDE-E9A8-B3FA-A150-5A92FC125E45}"/>
              </a:ext>
            </a:extLst>
          </p:cNvPr>
          <p:cNvSpPr txBox="1"/>
          <p:nvPr/>
        </p:nvSpPr>
        <p:spPr>
          <a:xfrm>
            <a:off x="2590800" y="8434169"/>
            <a:ext cx="533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&lt;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시장 성장 전망 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출처</a:t>
            </a:r>
            <a:r>
              <a:rPr lang="en-US" altLang="ko-KR" dirty="0"/>
              <a:t>: Bloomberg Intelligence, IDC, eMarketer, Statista)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2569EF7-606C-14D5-06B0-130E6172CE66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127" name="Picture 2"/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79BDA9C-0A6E-9FA0-2C44-A6FD2676A6F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28" name="Picture 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9" name="Picture 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0" name="Picture 5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B0AE0E5B-BB20-CCBE-A249-7921CE33A74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/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/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프로젝트 개요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/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1D53A0-6053-796B-F3E0-42D30EEB7781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LLM</a:t>
            </a:r>
            <a:r>
              <a:rPr lang="ko-KR" altLang="en-US" sz="3600" dirty="0">
                <a:solidFill>
                  <a:srgbClr val="747EA7"/>
                </a:solidFill>
              </a:rPr>
              <a:t>의 단점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B945EB-2CEF-1525-0793-997144ACEA9F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3460750" y="405174"/>
            <a:chExt cx="1333500" cy="8115300"/>
          </a:xfrm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035C0252-1596-22FF-5D70-BF1E8C819318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19755F11-FC63-228F-A884-CC7BF932E24F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1170834-610F-D5F7-4676-7F8813DFDD3B}"/>
                </a:ext>
              </a:extLst>
            </p:cNvPr>
            <p:cNvGrpSpPr/>
            <p:nvPr/>
          </p:nvGrpSpPr>
          <p:grpSpPr>
            <a:xfrm>
              <a:off x="3460750" y="1014533"/>
              <a:ext cx="1333500" cy="863600"/>
              <a:chOff x="8227344" y="2113347"/>
              <a:chExt cx="1333500" cy="863600"/>
            </a:xfrm>
          </p:grpSpPr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ADAC91AF-0761-F8DC-CE8D-DBD080FD877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BF4EF6-7E92-1D12-6C87-EF5FA26FE44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1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CF766E-B186-1216-4061-9835FDCB49EA}"/>
                </a:ext>
              </a:extLst>
            </p:cNvPr>
            <p:cNvSpPr txBox="1"/>
            <p:nvPr/>
          </p:nvSpPr>
          <p:spPr>
            <a:xfrm>
              <a:off x="3822700" y="216291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4EF65-A096-0567-6D9B-916D79A186DE}"/>
                </a:ext>
              </a:extLst>
            </p:cNvPr>
            <p:cNvSpPr txBox="1"/>
            <p:nvPr/>
          </p:nvSpPr>
          <p:spPr>
            <a:xfrm>
              <a:off x="3822700" y="3029579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123D4-03B8-3234-9459-185C8FBA25E3}"/>
                </a:ext>
              </a:extLst>
            </p:cNvPr>
            <p:cNvSpPr txBox="1"/>
            <p:nvPr/>
          </p:nvSpPr>
          <p:spPr>
            <a:xfrm>
              <a:off x="3822700" y="3936221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1C8AF-6E25-0062-CE4C-0E3AB1162943}"/>
                </a:ext>
              </a:extLst>
            </p:cNvPr>
            <p:cNvSpPr txBox="1"/>
            <p:nvPr/>
          </p:nvSpPr>
          <p:spPr>
            <a:xfrm>
              <a:off x="3822700" y="484286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5AA19-06FB-07B8-ECB6-6332285C38A3}"/>
                </a:ext>
              </a:extLst>
            </p:cNvPr>
            <p:cNvSpPr txBox="1"/>
            <p:nvPr/>
          </p:nvSpPr>
          <p:spPr>
            <a:xfrm>
              <a:off x="3822700" y="5749504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67773-FDF2-305C-3994-56AEC2429007}"/>
                </a:ext>
              </a:extLst>
            </p:cNvPr>
            <p:cNvSpPr txBox="1"/>
            <p:nvPr/>
          </p:nvSpPr>
          <p:spPr>
            <a:xfrm>
              <a:off x="3822700" y="6656148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10360D-08FA-A695-6DEF-3A9B87458EEA}"/>
                </a:ext>
              </a:extLst>
            </p:cNvPr>
            <p:cNvSpPr txBox="1"/>
            <p:nvPr/>
          </p:nvSpPr>
          <p:spPr>
            <a:xfrm>
              <a:off x="3822700" y="7562790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024D03-B09A-740D-B15C-6A36737DF322}"/>
              </a:ext>
            </a:extLst>
          </p:cNvPr>
          <p:cNvSpPr txBox="1"/>
          <p:nvPr/>
        </p:nvSpPr>
        <p:spPr>
          <a:xfrm>
            <a:off x="2577802" y="3263643"/>
            <a:ext cx="13963500" cy="1227387"/>
          </a:xfrm>
          <a:prstGeom prst="rect">
            <a:avLst/>
          </a:prstGeom>
          <a:solidFill>
            <a:srgbClr val="E6E8F0"/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600" dirty="0"/>
              <a:t>Chat GPT 4o</a:t>
            </a:r>
            <a:r>
              <a:rPr lang="ko-KR" altLang="en-US" sz="2600" dirty="0"/>
              <a:t>는 웹 검색 기능을 가지고 있음에도</a:t>
            </a:r>
            <a:r>
              <a:rPr lang="ko-KR" altLang="en-US" sz="2600" b="1" dirty="0"/>
              <a:t> 실시간 데이터에 접근할 수 없음</a:t>
            </a:r>
            <a:endParaRPr lang="en-US" altLang="ko-KR" sz="26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600" b="1" dirty="0"/>
              <a:t>질문과 관련성은 적은 답변을 생성하는 환각 현상은 여전히 빈번하게 발생 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A92763-8E77-38DA-0D2C-5675AFC8D8B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1401" b="74104"/>
          <a:stretch/>
        </p:blipFill>
        <p:spPr>
          <a:xfrm>
            <a:off x="14326996" y="5727590"/>
            <a:ext cx="2920440" cy="10143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A29F44-23C2-6F45-9399-C302A45A662E}"/>
              </a:ext>
            </a:extLst>
          </p:cNvPr>
          <p:cNvSpPr txBox="1"/>
          <p:nvPr/>
        </p:nvSpPr>
        <p:spPr>
          <a:xfrm>
            <a:off x="2577802" y="2552700"/>
            <a:ext cx="10985798" cy="630942"/>
          </a:xfrm>
          <a:prstGeom prst="rect">
            <a:avLst/>
          </a:prstGeom>
          <a:solidFill>
            <a:srgbClr val="C3D69B"/>
          </a:solidFill>
        </p:spPr>
        <p:txBody>
          <a:bodyPr wrap="square" rtlCol="0">
            <a:spAutoFit/>
          </a:bodyPr>
          <a:lstStyle/>
          <a:p>
            <a:r>
              <a:rPr lang="en-US" altLang="ko-KR" sz="3500" dirty="0"/>
              <a:t>LLM</a:t>
            </a:r>
            <a:r>
              <a:rPr lang="ko-KR" altLang="en-US" sz="3500" dirty="0"/>
              <a:t>의 단점</a:t>
            </a:r>
            <a:r>
              <a:rPr lang="en-US" altLang="ko-KR" sz="3500" dirty="0"/>
              <a:t> -</a:t>
            </a:r>
            <a:r>
              <a:rPr lang="ko-KR" altLang="en-US" sz="3500" b="1" dirty="0"/>
              <a:t>실시간 데이터 접근 불가 </a:t>
            </a:r>
            <a:r>
              <a:rPr lang="ko-KR" altLang="en-US" sz="3500" dirty="0"/>
              <a:t>및 </a:t>
            </a:r>
            <a:r>
              <a:rPr lang="ko-KR" altLang="en-US" sz="3500" b="1" dirty="0"/>
              <a:t>환각현상</a:t>
            </a:r>
            <a:r>
              <a:rPr lang="ko-KR" altLang="en-US" sz="3500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E09107-9C76-6B5A-3499-079C3CA2801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142" r="1343" b="12649"/>
          <a:stretch/>
        </p:blipFill>
        <p:spPr>
          <a:xfrm>
            <a:off x="1678986" y="4721834"/>
            <a:ext cx="10975133" cy="5041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부등호 8">
            <a:extLst>
              <a:ext uri="{FF2B5EF4-FFF2-40B4-BE49-F238E27FC236}">
                <a16:creationId xmlns:a16="http://schemas.microsoft.com/office/drawing/2014/main" id="{82E1DBAE-B9B4-6317-F852-7930C6AE292D}"/>
              </a:ext>
            </a:extLst>
          </p:cNvPr>
          <p:cNvSpPr/>
          <p:nvPr/>
        </p:nvSpPr>
        <p:spPr>
          <a:xfrm>
            <a:off x="12722562" y="5988369"/>
            <a:ext cx="1219200" cy="492796"/>
          </a:xfrm>
          <a:prstGeom prst="mathNotEqual">
            <a:avLst/>
          </a:prstGeom>
          <a:solidFill>
            <a:srgbClr val="FC3753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248709-ED1C-ADF8-C0F5-B47AD8F66DBC}"/>
              </a:ext>
            </a:extLst>
          </p:cNvPr>
          <p:cNvSpPr/>
          <p:nvPr/>
        </p:nvSpPr>
        <p:spPr>
          <a:xfrm>
            <a:off x="4953000" y="6068258"/>
            <a:ext cx="990600" cy="4468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2569EF7-606C-14D5-06B0-130E6172CE66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127" name="Picture 2"/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79BDA9C-0A6E-9FA0-2C44-A6FD2676A6F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28" name="Picture 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9" name="Picture 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0" name="Picture 5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B0AE0E5B-BB20-CCBE-A249-7921CE33A74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/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/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프로젝트 개요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/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1D53A0-6053-796B-F3E0-42D30EEB7781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</a:t>
            </a:r>
            <a:r>
              <a:rPr lang="ko-KR" altLang="en-US" sz="3600" dirty="0">
                <a:solidFill>
                  <a:srgbClr val="747EA7"/>
                </a:solidFill>
              </a:rPr>
              <a:t>프로젝트 주제 선정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B945EB-2CEF-1525-0793-997144ACEA9F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3460750" y="405174"/>
            <a:chExt cx="1333500" cy="8115300"/>
          </a:xfrm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035C0252-1596-22FF-5D70-BF1E8C819318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19755F11-FC63-228F-A884-CC7BF932E24F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1170834-610F-D5F7-4676-7F8813DFDD3B}"/>
                </a:ext>
              </a:extLst>
            </p:cNvPr>
            <p:cNvGrpSpPr/>
            <p:nvPr/>
          </p:nvGrpSpPr>
          <p:grpSpPr>
            <a:xfrm>
              <a:off x="3460750" y="1014533"/>
              <a:ext cx="1333500" cy="863600"/>
              <a:chOff x="8227344" y="2113347"/>
              <a:chExt cx="1333500" cy="863600"/>
            </a:xfrm>
          </p:grpSpPr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ADAC91AF-0761-F8DC-CE8D-DBD080FD877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BF4EF6-7E92-1D12-6C87-EF5FA26FE44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1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CF766E-B186-1216-4061-9835FDCB49EA}"/>
                </a:ext>
              </a:extLst>
            </p:cNvPr>
            <p:cNvSpPr txBox="1"/>
            <p:nvPr/>
          </p:nvSpPr>
          <p:spPr>
            <a:xfrm>
              <a:off x="3822700" y="216291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4EF65-A096-0567-6D9B-916D79A186DE}"/>
                </a:ext>
              </a:extLst>
            </p:cNvPr>
            <p:cNvSpPr txBox="1"/>
            <p:nvPr/>
          </p:nvSpPr>
          <p:spPr>
            <a:xfrm>
              <a:off x="3822700" y="3029579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123D4-03B8-3234-9459-185C8FBA25E3}"/>
                </a:ext>
              </a:extLst>
            </p:cNvPr>
            <p:cNvSpPr txBox="1"/>
            <p:nvPr/>
          </p:nvSpPr>
          <p:spPr>
            <a:xfrm>
              <a:off x="3822700" y="3936221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1C8AF-6E25-0062-CE4C-0E3AB1162943}"/>
                </a:ext>
              </a:extLst>
            </p:cNvPr>
            <p:cNvSpPr txBox="1"/>
            <p:nvPr/>
          </p:nvSpPr>
          <p:spPr>
            <a:xfrm>
              <a:off x="3822700" y="484286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5AA19-06FB-07B8-ECB6-6332285C38A3}"/>
                </a:ext>
              </a:extLst>
            </p:cNvPr>
            <p:cNvSpPr txBox="1"/>
            <p:nvPr/>
          </p:nvSpPr>
          <p:spPr>
            <a:xfrm>
              <a:off x="3822700" y="5749504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67773-FDF2-305C-3994-56AEC2429007}"/>
                </a:ext>
              </a:extLst>
            </p:cNvPr>
            <p:cNvSpPr txBox="1"/>
            <p:nvPr/>
          </p:nvSpPr>
          <p:spPr>
            <a:xfrm>
              <a:off x="3822700" y="6656148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10360D-08FA-A695-6DEF-3A9B87458EEA}"/>
                </a:ext>
              </a:extLst>
            </p:cNvPr>
            <p:cNvSpPr txBox="1"/>
            <p:nvPr/>
          </p:nvSpPr>
          <p:spPr>
            <a:xfrm>
              <a:off x="3822700" y="7562790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F402695-8362-29A3-2FDC-C9680FEBE849}"/>
              </a:ext>
            </a:extLst>
          </p:cNvPr>
          <p:cNvSpPr txBox="1"/>
          <p:nvPr/>
        </p:nvSpPr>
        <p:spPr>
          <a:xfrm>
            <a:off x="2427767" y="3219152"/>
            <a:ext cx="109728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/>
              <a:t>LLM</a:t>
            </a:r>
            <a:r>
              <a:rPr lang="ko-KR" altLang="en-US" sz="3500" dirty="0"/>
              <a:t>의 단점을</a:t>
            </a:r>
            <a:r>
              <a:rPr lang="en-US" altLang="ko-KR" sz="3500" dirty="0"/>
              <a:t> </a:t>
            </a:r>
            <a:r>
              <a:rPr lang="ko-KR" altLang="en-US" sz="3500" dirty="0"/>
              <a:t>보안할 수 있는 방법을 조사</a:t>
            </a:r>
            <a:endParaRPr lang="en-US" altLang="ko-KR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1A960-6105-93D8-5DBA-054CA78EA6BB}"/>
              </a:ext>
            </a:extLst>
          </p:cNvPr>
          <p:cNvSpPr txBox="1"/>
          <p:nvPr/>
        </p:nvSpPr>
        <p:spPr>
          <a:xfrm>
            <a:off x="3831766" y="7340246"/>
            <a:ext cx="11408234" cy="1169551"/>
          </a:xfrm>
          <a:prstGeom prst="rect">
            <a:avLst/>
          </a:prstGeom>
          <a:solidFill>
            <a:srgbClr val="C3D69B"/>
          </a:solidFill>
        </p:spPr>
        <p:txBody>
          <a:bodyPr wrap="square" rtlCol="0">
            <a:spAutoFit/>
          </a:bodyPr>
          <a:lstStyle/>
          <a:p>
            <a:r>
              <a:rPr lang="en-US" altLang="ko-KR" sz="3500" dirty="0"/>
              <a:t>RAG</a:t>
            </a:r>
            <a:r>
              <a:rPr lang="en-US" altLang="ko-KR" sz="3500" b="1" spc="0" dirty="0">
                <a:ea typeface="Calibri (MS) Bold"/>
                <a:cs typeface="Calibri (MS) Bold"/>
                <a:sym typeface="Calibri (MS) Bold"/>
              </a:rPr>
              <a:t> (</a:t>
            </a:r>
            <a:r>
              <a:rPr lang="en-US" altLang="ko-KR" sz="3500" spc="-1" dirty="0">
                <a:ea typeface="Calibri (MS)"/>
                <a:cs typeface="Calibri (MS)"/>
                <a:sym typeface="Calibri (MS)"/>
              </a:rPr>
              <a:t>Retrieval-Augmented Generation ) </a:t>
            </a:r>
            <a:r>
              <a:rPr lang="ko-KR" altLang="en-US" sz="3500" spc="-1" dirty="0">
                <a:ea typeface="Calibri (MS)"/>
                <a:cs typeface="Calibri (MS)"/>
                <a:sym typeface="Calibri (MS)"/>
              </a:rPr>
              <a:t>라는 기술을 알게 됨</a:t>
            </a:r>
            <a:endParaRPr lang="en-US" altLang="ko-KR" sz="3500" spc="-1" dirty="0">
              <a:ea typeface="Calibri (MS)"/>
              <a:cs typeface="Calibri (MS)"/>
              <a:sym typeface="Calibri (MS)"/>
            </a:endParaRPr>
          </a:p>
          <a:p>
            <a:pPr algn="ctr"/>
            <a:r>
              <a:rPr lang="en-US" altLang="ko-KR" sz="3500" spc="-1" dirty="0">
                <a:cs typeface="Calibri (MS)"/>
                <a:sym typeface="Calibri (MS)"/>
              </a:rPr>
              <a:t>→ RAG </a:t>
            </a:r>
            <a:r>
              <a:rPr lang="ko-KR" altLang="en-US" sz="3500" spc="-1" dirty="0">
                <a:cs typeface="Calibri (MS)"/>
                <a:sym typeface="Calibri (MS)"/>
              </a:rPr>
              <a:t>기술을 개발해보자</a:t>
            </a:r>
            <a:r>
              <a:rPr lang="en-US" altLang="ko-KR" sz="3500" spc="-1" dirty="0">
                <a:cs typeface="Calibri (MS)"/>
                <a:sym typeface="Calibri (MS)"/>
              </a:rPr>
              <a:t>!!</a:t>
            </a:r>
            <a:endParaRPr lang="ko-KR" altLang="en-US" sz="35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76E38F5-3DC5-D5B9-8F14-C0473935C534}"/>
              </a:ext>
            </a:extLst>
          </p:cNvPr>
          <p:cNvGrpSpPr/>
          <p:nvPr/>
        </p:nvGrpSpPr>
        <p:grpSpPr>
          <a:xfrm>
            <a:off x="2427767" y="4172515"/>
            <a:ext cx="14059856" cy="2494985"/>
            <a:chOff x="2427767" y="4172515"/>
            <a:chExt cx="14059856" cy="249498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8513B98-B456-8B50-2E45-D9C72BB52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427767" y="4172515"/>
              <a:ext cx="14059856" cy="24949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A9527A3-398B-38AA-9221-1B6C50F3B8E5}"/>
                </a:ext>
              </a:extLst>
            </p:cNvPr>
            <p:cNvSpPr/>
            <p:nvPr/>
          </p:nvSpPr>
          <p:spPr>
            <a:xfrm>
              <a:off x="3619498" y="6134100"/>
              <a:ext cx="4457702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692FCDF-E86D-63B2-454E-300ECFBDFB7F}"/>
              </a:ext>
            </a:extLst>
          </p:cNvPr>
          <p:cNvCxnSpPr>
            <a:cxnSpLocks/>
          </p:cNvCxnSpPr>
          <p:nvPr/>
        </p:nvCxnSpPr>
        <p:spPr>
          <a:xfrm>
            <a:off x="10439400" y="5448300"/>
            <a:ext cx="220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2569EF7-606C-14D5-06B0-130E6172CE66}"/>
              </a:ext>
            </a:extLst>
          </p:cNvPr>
          <p:cNvGrpSpPr/>
          <p:nvPr/>
        </p:nvGrpSpPr>
        <p:grpSpPr>
          <a:xfrm>
            <a:off x="149357" y="102554"/>
            <a:ext cx="17989286" cy="10081892"/>
            <a:chOff x="293770" y="182665"/>
            <a:chExt cx="17847895" cy="9905357"/>
          </a:xfrm>
        </p:grpSpPr>
        <p:pic>
          <p:nvPicPr>
            <p:cNvPr id="127" name="Picture 2"/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79BDA9C-0A6E-9FA0-2C44-A6FD2676A6F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28" name="Picture 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9" name="Picture 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0" name="Picture 5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B0AE0E5B-BB20-CCBE-A249-7921CE33A74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/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/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sz="5400" spc="-2" dirty="0">
                <a:solidFill>
                  <a:srgbClr val="747EA7"/>
                </a:solidFill>
                <a:latin typeface="+mj-lt"/>
              </a:rPr>
              <a:t>RAG</a:t>
            </a:r>
            <a:r>
              <a:rPr lang="ko-KR" altLang="en-US" sz="5400" spc="-2" dirty="0">
                <a:solidFill>
                  <a:srgbClr val="747EA7"/>
                </a:solidFill>
                <a:latin typeface="+mj-lt"/>
              </a:rPr>
              <a:t>는 무엇인가</a:t>
            </a:r>
            <a:r>
              <a:rPr lang="en-US" altLang="ko-KR" sz="5400" spc="-2" dirty="0">
                <a:solidFill>
                  <a:srgbClr val="747EA7"/>
                </a:solidFill>
                <a:latin typeface="+mj-lt"/>
              </a:rPr>
              <a:t>?</a:t>
            </a:r>
            <a:endParaRPr lang="en-US" sz="5400" spc="-2" dirty="0">
              <a:solidFill>
                <a:srgbClr val="747EA7"/>
              </a:solidFill>
              <a:latin typeface="+mj-lt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/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1D53A0-6053-796B-F3E0-42D30EEB7781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RAG </a:t>
            </a:r>
            <a:r>
              <a:rPr lang="ko-KR" altLang="en-US" sz="3600" dirty="0">
                <a:solidFill>
                  <a:srgbClr val="747EA7"/>
                </a:solidFill>
              </a:rPr>
              <a:t>기술 설명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B945EB-2CEF-1525-0793-997144ACEA9F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3460750" y="405174"/>
            <a:chExt cx="1333500" cy="8115300"/>
          </a:xfrm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035C0252-1596-22FF-5D70-BF1E8C819318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19755F11-FC63-228F-A884-CC7BF932E24F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1170834-610F-D5F7-4676-7F8813DFDD3B}"/>
                </a:ext>
              </a:extLst>
            </p:cNvPr>
            <p:cNvGrpSpPr/>
            <p:nvPr/>
          </p:nvGrpSpPr>
          <p:grpSpPr>
            <a:xfrm>
              <a:off x="3460750" y="1014533"/>
              <a:ext cx="1333500" cy="863600"/>
              <a:chOff x="8227344" y="2113347"/>
              <a:chExt cx="1333500" cy="863600"/>
            </a:xfrm>
          </p:grpSpPr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ADAC91AF-0761-F8DC-CE8D-DBD080FD877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BF4EF6-7E92-1D12-6C87-EF5FA26FE44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1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CF766E-B186-1216-4061-9835FDCB49EA}"/>
                </a:ext>
              </a:extLst>
            </p:cNvPr>
            <p:cNvSpPr txBox="1"/>
            <p:nvPr/>
          </p:nvSpPr>
          <p:spPr>
            <a:xfrm>
              <a:off x="3822700" y="216291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4EF65-A096-0567-6D9B-916D79A186DE}"/>
                </a:ext>
              </a:extLst>
            </p:cNvPr>
            <p:cNvSpPr txBox="1"/>
            <p:nvPr/>
          </p:nvSpPr>
          <p:spPr>
            <a:xfrm>
              <a:off x="3822700" y="3029579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123D4-03B8-3234-9459-185C8FBA25E3}"/>
                </a:ext>
              </a:extLst>
            </p:cNvPr>
            <p:cNvSpPr txBox="1"/>
            <p:nvPr/>
          </p:nvSpPr>
          <p:spPr>
            <a:xfrm>
              <a:off x="3822700" y="3936221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1C8AF-6E25-0062-CE4C-0E3AB1162943}"/>
                </a:ext>
              </a:extLst>
            </p:cNvPr>
            <p:cNvSpPr txBox="1"/>
            <p:nvPr/>
          </p:nvSpPr>
          <p:spPr>
            <a:xfrm>
              <a:off x="3822700" y="484286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5AA19-06FB-07B8-ECB6-6332285C38A3}"/>
                </a:ext>
              </a:extLst>
            </p:cNvPr>
            <p:cNvSpPr txBox="1"/>
            <p:nvPr/>
          </p:nvSpPr>
          <p:spPr>
            <a:xfrm>
              <a:off x="3822700" y="5749504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67773-FDF2-305C-3994-56AEC2429007}"/>
                </a:ext>
              </a:extLst>
            </p:cNvPr>
            <p:cNvSpPr txBox="1"/>
            <p:nvPr/>
          </p:nvSpPr>
          <p:spPr>
            <a:xfrm>
              <a:off x="3822700" y="6656148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10360D-08FA-A695-6DEF-3A9B87458EEA}"/>
                </a:ext>
              </a:extLst>
            </p:cNvPr>
            <p:cNvSpPr txBox="1"/>
            <p:nvPr/>
          </p:nvSpPr>
          <p:spPr>
            <a:xfrm>
              <a:off x="3822700" y="7562790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TextBox 13">
            <a:extLst>
              <a:ext uri="{FF2B5EF4-FFF2-40B4-BE49-F238E27FC236}">
                <a16:creationId xmlns:a16="http://schemas.microsoft.com/office/drawing/2014/main" id="{8344F460-597C-2FB2-4146-DF46F975C9B0}"/>
              </a:ext>
            </a:extLst>
          </p:cNvPr>
          <p:cNvSpPr txBox="1"/>
          <p:nvPr/>
        </p:nvSpPr>
        <p:spPr>
          <a:xfrm>
            <a:off x="2329366" y="3101481"/>
            <a:ext cx="14934960" cy="16998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3240"/>
              </a:lnSpc>
            </a:pPr>
            <a:r>
              <a:rPr lang="en-US" sz="3500" b="1" spc="0" dirty="0">
                <a:latin typeface="Calibri (MS) Bold"/>
                <a:ea typeface="Calibri (MS) Bold"/>
                <a:cs typeface="Calibri (MS) Bold"/>
                <a:sym typeface="Calibri (MS) Bold"/>
              </a:rPr>
              <a:t>RAG (</a:t>
            </a:r>
            <a:r>
              <a:rPr lang="en-US" altLang="ko-KR" sz="3500" spc="-1" dirty="0">
                <a:latin typeface="Calibri (MS)"/>
                <a:ea typeface="Calibri (MS)"/>
                <a:cs typeface="Calibri (MS)"/>
                <a:sym typeface="Calibri (MS)"/>
              </a:rPr>
              <a:t>Retrieval-Augmented Generation ) </a:t>
            </a:r>
            <a:r>
              <a:rPr lang="en-US" sz="3500" b="1" spc="0" dirty="0">
                <a:latin typeface="Calibri (MS) Bold"/>
                <a:ea typeface="Calibri (MS) Bold"/>
                <a:cs typeface="Calibri (MS) Bold"/>
                <a:sym typeface="Calibri (MS) Bold"/>
              </a:rPr>
              <a:t>란?</a:t>
            </a:r>
          </a:p>
          <a:p>
            <a:pPr marL="457200" indent="-457200" algn="l">
              <a:lnSpc>
                <a:spcPts val="4320"/>
              </a:lnSpc>
              <a:buFont typeface="+mj-lt"/>
              <a:buAutoNum type="arabicPeriod"/>
            </a:pPr>
            <a:r>
              <a:rPr lang="ko-KR" altLang="en-US" sz="2500" b="1" dirty="0"/>
              <a:t>질문과 관련된 자료를 </a:t>
            </a:r>
            <a:r>
              <a:rPr lang="en-US" altLang="ko-KR" sz="2500" b="1" dirty="0"/>
              <a:t>LLM </a:t>
            </a:r>
            <a:r>
              <a:rPr lang="ko-KR" altLang="en-US" sz="2500" b="1" dirty="0"/>
              <a:t>외부에서 수집하고 이를 기반으로 </a:t>
            </a:r>
            <a:r>
              <a:rPr lang="ko-KR" altLang="en-US" sz="2500" b="1" dirty="0">
                <a:highlight>
                  <a:srgbClr val="FFFF00"/>
                </a:highlight>
              </a:rPr>
              <a:t>프롬프트를 생성</a:t>
            </a:r>
            <a:r>
              <a:rPr lang="ko-KR" altLang="en-US" sz="2500" b="1" dirty="0"/>
              <a:t>하는 기술</a:t>
            </a:r>
            <a:endParaRPr lang="en-US" sz="2500" b="1" spc="-1" dirty="0">
              <a:solidFill>
                <a:srgbClr val="FF0000"/>
              </a:solidFill>
              <a:latin typeface="Abadi" panose="020B0604020104020204" pitchFamily="34" charset="0"/>
              <a:ea typeface="Calibri (MS) Bold"/>
              <a:cs typeface="Calibri (MS) Bold"/>
              <a:sym typeface="Calibri (MS) Bold"/>
            </a:endParaRPr>
          </a:p>
          <a:p>
            <a:pPr marL="457200" indent="-457200" algn="l">
              <a:lnSpc>
                <a:spcPts val="4320"/>
              </a:lnSpc>
              <a:buFont typeface="+mj-lt"/>
              <a:buAutoNum type="arabicPeriod"/>
            </a:pPr>
            <a:r>
              <a:rPr lang="ko-KR" altLang="en-US" sz="2500" b="1" spc="-1" dirty="0"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altLang="ko-KR" sz="2500" b="1" spc="-1" dirty="0">
                <a:latin typeface="Calibri (MS) Bold"/>
                <a:ea typeface="Calibri (MS) Bold"/>
                <a:cs typeface="Calibri (MS) Bold"/>
                <a:sym typeface="Calibri (MS) Bold"/>
              </a:rPr>
              <a:t>LLM</a:t>
            </a:r>
            <a:r>
              <a:rPr lang="ko-KR" altLang="en-US" sz="2500" b="1" spc="-1" dirty="0">
                <a:latin typeface="Calibri (MS) Bold"/>
                <a:ea typeface="Calibri (MS) Bold"/>
                <a:cs typeface="Calibri (MS) Bold"/>
                <a:sym typeface="Calibri (MS) Bold"/>
              </a:rPr>
              <a:t>은 이렇게 </a:t>
            </a:r>
            <a:r>
              <a:rPr lang="ko-KR" altLang="en-US" sz="2500" b="1" spc="-1" dirty="0">
                <a:highlight>
                  <a:srgbClr val="FFFF00"/>
                </a:highlight>
                <a:latin typeface="Calibri (MS) Bold"/>
                <a:ea typeface="Calibri (MS) Bold"/>
                <a:cs typeface="Calibri (MS) Bold"/>
                <a:sym typeface="Calibri (MS) Bold"/>
              </a:rPr>
              <a:t>생성된 프롬프트를 활용</a:t>
            </a:r>
            <a:r>
              <a:rPr lang="ko-KR" altLang="en-US" sz="2500" b="1" spc="-1" dirty="0">
                <a:latin typeface="Calibri (MS) Bold"/>
                <a:ea typeface="Calibri (MS) Bold"/>
                <a:cs typeface="Calibri (MS) Bold"/>
                <a:sym typeface="Calibri (MS) Bold"/>
              </a:rPr>
              <a:t>하여 환각현상을 예방하고 보다 </a:t>
            </a:r>
            <a:r>
              <a:rPr lang="ko-KR" altLang="en-US" sz="2500" b="1" spc="-1" dirty="0">
                <a:highlight>
                  <a:srgbClr val="FFFF00"/>
                </a:highlight>
                <a:latin typeface="Calibri (MS) Bold"/>
                <a:ea typeface="Calibri (MS) Bold"/>
                <a:cs typeface="Calibri (MS) Bold"/>
                <a:sym typeface="Calibri (MS) Bold"/>
              </a:rPr>
              <a:t>정확한 답변을 도출 </a:t>
            </a:r>
            <a:r>
              <a:rPr lang="ko-KR" altLang="en-US" sz="2500" b="1" spc="-1" dirty="0">
                <a:latin typeface="Calibri (MS) Bold"/>
                <a:ea typeface="Calibri (MS) Bold"/>
                <a:cs typeface="Calibri (MS) Bold"/>
                <a:sym typeface="Calibri (MS) Bold"/>
              </a:rPr>
              <a:t>가능</a:t>
            </a:r>
            <a:endParaRPr lang="en-US" sz="2500" b="1" spc="-1" dirty="0"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4320"/>
              </a:lnSpc>
            </a:pPr>
            <a:endParaRPr lang="en-US" sz="2400" b="1" spc="-1" dirty="0">
              <a:solidFill>
                <a:srgbClr val="FF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CDE77D30-9E3C-41B2-7234-55071A10699F}"/>
              </a:ext>
            </a:extLst>
          </p:cNvPr>
          <p:cNvGrpSpPr/>
          <p:nvPr/>
        </p:nvGrpSpPr>
        <p:grpSpPr>
          <a:xfrm>
            <a:off x="14529040" y="6204182"/>
            <a:ext cx="2387360" cy="2330840"/>
            <a:chOff x="0" y="0"/>
            <a:chExt cx="3183147" cy="3107787"/>
          </a:xfrm>
        </p:grpSpPr>
        <p:sp>
          <p:nvSpPr>
            <p:cNvPr id="8" name="Freeform 15">
              <a:extLst>
                <a:ext uri="{FF2B5EF4-FFF2-40B4-BE49-F238E27FC236}">
                  <a16:creationId xmlns:a16="http://schemas.microsoft.com/office/drawing/2014/main" id="{654F2580-C6A8-9DDB-088E-D9A092612D1C}"/>
                </a:ext>
              </a:extLst>
            </p:cNvPr>
            <p:cNvSpPr/>
            <p:nvPr/>
          </p:nvSpPr>
          <p:spPr>
            <a:xfrm>
              <a:off x="0" y="0"/>
              <a:ext cx="3183128" cy="3107817"/>
            </a:xfrm>
            <a:custGeom>
              <a:avLst/>
              <a:gdLst/>
              <a:ahLst/>
              <a:cxnLst/>
              <a:rect l="l" t="t" r="r" b="b"/>
              <a:pathLst>
                <a:path w="3183128" h="3107817">
                  <a:moveTo>
                    <a:pt x="0" y="529209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2653792" y="0"/>
                  </a:lnTo>
                  <a:lnTo>
                    <a:pt x="2653792" y="16891"/>
                  </a:lnTo>
                  <a:lnTo>
                    <a:pt x="2653792" y="0"/>
                  </a:lnTo>
                  <a:cubicBezTo>
                    <a:pt x="2946146" y="0"/>
                    <a:pt x="3183128" y="236982"/>
                    <a:pt x="3183128" y="529209"/>
                  </a:cubicBezTo>
                  <a:lnTo>
                    <a:pt x="3166237" y="529209"/>
                  </a:lnTo>
                  <a:lnTo>
                    <a:pt x="3183128" y="529209"/>
                  </a:lnTo>
                  <a:lnTo>
                    <a:pt x="3183128" y="2578481"/>
                  </a:lnTo>
                  <a:lnTo>
                    <a:pt x="3166237" y="2578481"/>
                  </a:lnTo>
                  <a:lnTo>
                    <a:pt x="3183128" y="2578481"/>
                  </a:lnTo>
                  <a:cubicBezTo>
                    <a:pt x="3183128" y="2870835"/>
                    <a:pt x="2946146" y="3107690"/>
                    <a:pt x="2653792" y="3107690"/>
                  </a:cubicBezTo>
                  <a:lnTo>
                    <a:pt x="2653792" y="3090799"/>
                  </a:lnTo>
                  <a:lnTo>
                    <a:pt x="2653792" y="3107690"/>
                  </a:lnTo>
                  <a:lnTo>
                    <a:pt x="529336" y="3107690"/>
                  </a:lnTo>
                  <a:lnTo>
                    <a:pt x="529336" y="3090799"/>
                  </a:lnTo>
                  <a:lnTo>
                    <a:pt x="529336" y="3107690"/>
                  </a:lnTo>
                  <a:cubicBezTo>
                    <a:pt x="236982" y="3107817"/>
                    <a:pt x="0" y="2870835"/>
                    <a:pt x="0" y="2578481"/>
                  </a:cubicBezTo>
                  <a:lnTo>
                    <a:pt x="0" y="529209"/>
                  </a:lnTo>
                  <a:lnTo>
                    <a:pt x="16891" y="529209"/>
                  </a:lnTo>
                  <a:lnTo>
                    <a:pt x="0" y="529209"/>
                  </a:lnTo>
                  <a:moveTo>
                    <a:pt x="33909" y="529209"/>
                  </a:moveTo>
                  <a:lnTo>
                    <a:pt x="33909" y="2578481"/>
                  </a:lnTo>
                  <a:lnTo>
                    <a:pt x="16891" y="2578481"/>
                  </a:lnTo>
                  <a:lnTo>
                    <a:pt x="33909" y="2578481"/>
                  </a:lnTo>
                  <a:cubicBezTo>
                    <a:pt x="33909" y="2852039"/>
                    <a:pt x="255778" y="3073908"/>
                    <a:pt x="529463" y="3073908"/>
                  </a:cubicBezTo>
                  <a:lnTo>
                    <a:pt x="2653792" y="3073908"/>
                  </a:lnTo>
                  <a:cubicBezTo>
                    <a:pt x="2927477" y="3073908"/>
                    <a:pt x="3149346" y="2852166"/>
                    <a:pt x="3149346" y="2578481"/>
                  </a:cubicBezTo>
                  <a:lnTo>
                    <a:pt x="3149346" y="529209"/>
                  </a:lnTo>
                  <a:cubicBezTo>
                    <a:pt x="3149346" y="255651"/>
                    <a:pt x="2927477" y="33782"/>
                    <a:pt x="2653792" y="33782"/>
                  </a:cubicBezTo>
                  <a:lnTo>
                    <a:pt x="529336" y="33782"/>
                  </a:lnTo>
                  <a:lnTo>
                    <a:pt x="529336" y="16891"/>
                  </a:lnTo>
                  <a:lnTo>
                    <a:pt x="529336" y="33909"/>
                  </a:lnTo>
                  <a:cubicBezTo>
                    <a:pt x="255778" y="33909"/>
                    <a:pt x="33909" y="255651"/>
                    <a:pt x="33909" y="529209"/>
                  </a:cubicBezTo>
                  <a:close/>
                </a:path>
              </a:pathLst>
            </a:custGeom>
            <a:solidFill>
              <a:srgbClr val="747EA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16">
              <a:extLst>
                <a:ext uri="{FF2B5EF4-FFF2-40B4-BE49-F238E27FC236}">
                  <a16:creationId xmlns:a16="http://schemas.microsoft.com/office/drawing/2014/main" id="{DF6B161E-FC28-956B-55EE-A3B5C3D7CE32}"/>
                </a:ext>
              </a:extLst>
            </p:cNvPr>
            <p:cNvSpPr txBox="1"/>
            <p:nvPr/>
          </p:nvSpPr>
          <p:spPr>
            <a:xfrm>
              <a:off x="0" y="-38100"/>
              <a:ext cx="3183147" cy="3145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ko-KR" altLang="en-US" sz="2000" dirty="0"/>
                <a:t>실시간 데이터</a:t>
              </a:r>
              <a:endParaRPr lang="en-US" altLang="ko-KR" sz="2000" dirty="0"/>
            </a:p>
            <a:p>
              <a:pPr algn="ctr">
                <a:lnSpc>
                  <a:spcPts val="2160"/>
                </a:lnSpc>
              </a:pPr>
              <a:endParaRPr lang="en-US" altLang="ko-KR" sz="2000" dirty="0"/>
            </a:p>
            <a:p>
              <a:pPr algn="ctr">
                <a:lnSpc>
                  <a:spcPts val="2160"/>
                </a:lnSpc>
              </a:pPr>
              <a:r>
                <a:rPr lang="en-US" altLang="ko-KR" sz="2000" dirty="0"/>
                <a:t>{</a:t>
              </a:r>
              <a:r>
                <a:rPr lang="ko-KR" altLang="en-US" sz="2000" dirty="0"/>
                <a:t>삼성전자 주가</a:t>
              </a:r>
              <a:r>
                <a:rPr lang="en-US" altLang="ko-KR" sz="2000" dirty="0"/>
                <a:t> : 55,900</a:t>
              </a:r>
              <a:r>
                <a:rPr lang="ko-KR" altLang="en-US" sz="2000" dirty="0"/>
                <a:t>원</a:t>
              </a:r>
              <a:r>
                <a:rPr lang="en-US" altLang="ko-KR" sz="2000" spc="-1" dirty="0">
                  <a:solidFill>
                    <a:srgbClr val="000000"/>
                  </a:solidFill>
                  <a:latin typeface="Calibri (MS)"/>
                  <a:cs typeface="Calibri (MS)"/>
                  <a:sym typeface="Calibri (MS)"/>
                </a:rPr>
                <a:t>}</a:t>
              </a:r>
              <a:endParaRPr lang="en-US" altLang="ko-KR" sz="20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7">
            <a:extLst>
              <a:ext uri="{FF2B5EF4-FFF2-40B4-BE49-F238E27FC236}">
                <a16:creationId xmlns:a16="http://schemas.microsoft.com/office/drawing/2014/main" id="{6A02ABB2-A78B-30C3-7115-445583BA8DB4}"/>
              </a:ext>
            </a:extLst>
          </p:cNvPr>
          <p:cNvGrpSpPr/>
          <p:nvPr/>
        </p:nvGrpSpPr>
        <p:grpSpPr>
          <a:xfrm>
            <a:off x="14871760" y="6024542"/>
            <a:ext cx="1701560" cy="500600"/>
            <a:chOff x="0" y="0"/>
            <a:chExt cx="2268747" cy="667467"/>
          </a:xfrm>
        </p:grpSpPr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265FBE63-8125-E5FD-187A-7C36347D696A}"/>
                </a:ext>
              </a:extLst>
            </p:cNvPr>
            <p:cNvSpPr/>
            <p:nvPr/>
          </p:nvSpPr>
          <p:spPr>
            <a:xfrm>
              <a:off x="16891" y="16891"/>
              <a:ext cx="2234946" cy="633730"/>
            </a:xfrm>
            <a:custGeom>
              <a:avLst/>
              <a:gdLst/>
              <a:ahLst/>
              <a:cxnLst/>
              <a:rect l="l" t="t" r="r" b="b"/>
              <a:pathLst>
                <a:path w="2234946" h="633730">
                  <a:moveTo>
                    <a:pt x="0" y="105664"/>
                  </a:moveTo>
                  <a:cubicBezTo>
                    <a:pt x="0" y="47371"/>
                    <a:pt x="49022" y="0"/>
                    <a:pt x="109601" y="0"/>
                  </a:cubicBezTo>
                  <a:lnTo>
                    <a:pt x="2125345" y="0"/>
                  </a:lnTo>
                  <a:cubicBezTo>
                    <a:pt x="2185924" y="0"/>
                    <a:pt x="2234946" y="47244"/>
                    <a:pt x="2234946" y="105664"/>
                  </a:cubicBezTo>
                  <a:lnTo>
                    <a:pt x="2234946" y="528066"/>
                  </a:lnTo>
                  <a:cubicBezTo>
                    <a:pt x="2234946" y="586359"/>
                    <a:pt x="2185924" y="633730"/>
                    <a:pt x="2125345" y="633730"/>
                  </a:cubicBezTo>
                  <a:lnTo>
                    <a:pt x="109601" y="633730"/>
                  </a:lnTo>
                  <a:cubicBezTo>
                    <a:pt x="49022" y="633730"/>
                    <a:pt x="0" y="586486"/>
                    <a:pt x="0" y="528066"/>
                  </a:cubicBezTo>
                  <a:close/>
                </a:path>
              </a:pathLst>
            </a:custGeom>
            <a:solidFill>
              <a:srgbClr val="747EA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7A3705D4-67DB-5DD6-0034-5E73D7DD19DE}"/>
                </a:ext>
              </a:extLst>
            </p:cNvPr>
            <p:cNvSpPr/>
            <p:nvPr/>
          </p:nvSpPr>
          <p:spPr>
            <a:xfrm>
              <a:off x="0" y="0"/>
              <a:ext cx="2268728" cy="667512"/>
            </a:xfrm>
            <a:custGeom>
              <a:avLst/>
              <a:gdLst/>
              <a:ahLst/>
              <a:cxnLst/>
              <a:rect l="l" t="t" r="r" b="b"/>
              <a:pathLst>
                <a:path w="2268728" h="667512">
                  <a:moveTo>
                    <a:pt x="0" y="122555"/>
                  </a:moveTo>
                  <a:cubicBezTo>
                    <a:pt x="0" y="54229"/>
                    <a:pt x="57277" y="0"/>
                    <a:pt x="126492" y="0"/>
                  </a:cubicBezTo>
                  <a:lnTo>
                    <a:pt x="2142236" y="0"/>
                  </a:lnTo>
                  <a:lnTo>
                    <a:pt x="2142236" y="16891"/>
                  </a:lnTo>
                  <a:lnTo>
                    <a:pt x="2142236" y="0"/>
                  </a:lnTo>
                  <a:cubicBezTo>
                    <a:pt x="2211451" y="0"/>
                    <a:pt x="2268728" y="54229"/>
                    <a:pt x="2268728" y="122555"/>
                  </a:cubicBezTo>
                  <a:lnTo>
                    <a:pt x="2251837" y="122555"/>
                  </a:lnTo>
                  <a:lnTo>
                    <a:pt x="2268728" y="122555"/>
                  </a:lnTo>
                  <a:lnTo>
                    <a:pt x="2268728" y="544957"/>
                  </a:lnTo>
                  <a:lnTo>
                    <a:pt x="2251837" y="544957"/>
                  </a:lnTo>
                  <a:lnTo>
                    <a:pt x="2268728" y="544957"/>
                  </a:lnTo>
                  <a:cubicBezTo>
                    <a:pt x="2268728" y="613156"/>
                    <a:pt x="2211451" y="667512"/>
                    <a:pt x="2142236" y="667512"/>
                  </a:cubicBezTo>
                  <a:lnTo>
                    <a:pt x="2142236" y="650494"/>
                  </a:lnTo>
                  <a:lnTo>
                    <a:pt x="2142236" y="667385"/>
                  </a:lnTo>
                  <a:lnTo>
                    <a:pt x="126492" y="667385"/>
                  </a:lnTo>
                  <a:lnTo>
                    <a:pt x="126492" y="650494"/>
                  </a:lnTo>
                  <a:lnTo>
                    <a:pt x="126492" y="667385"/>
                  </a:lnTo>
                  <a:cubicBezTo>
                    <a:pt x="57277" y="667512"/>
                    <a:pt x="0" y="613156"/>
                    <a:pt x="0" y="544957"/>
                  </a:cubicBezTo>
                  <a:lnTo>
                    <a:pt x="0" y="122555"/>
                  </a:lnTo>
                  <a:lnTo>
                    <a:pt x="16891" y="122555"/>
                  </a:lnTo>
                  <a:lnTo>
                    <a:pt x="0" y="122555"/>
                  </a:lnTo>
                  <a:moveTo>
                    <a:pt x="33909" y="122555"/>
                  </a:moveTo>
                  <a:lnTo>
                    <a:pt x="33909" y="544957"/>
                  </a:lnTo>
                  <a:lnTo>
                    <a:pt x="16891" y="544957"/>
                  </a:lnTo>
                  <a:lnTo>
                    <a:pt x="33909" y="544957"/>
                  </a:lnTo>
                  <a:cubicBezTo>
                    <a:pt x="33909" y="593344"/>
                    <a:pt x="74803" y="633603"/>
                    <a:pt x="126619" y="633603"/>
                  </a:cubicBezTo>
                  <a:lnTo>
                    <a:pt x="2142236" y="633603"/>
                  </a:lnTo>
                  <a:cubicBezTo>
                    <a:pt x="2194052" y="633603"/>
                    <a:pt x="2234946" y="593344"/>
                    <a:pt x="2234946" y="544957"/>
                  </a:cubicBezTo>
                  <a:lnTo>
                    <a:pt x="2234946" y="122555"/>
                  </a:lnTo>
                  <a:cubicBezTo>
                    <a:pt x="2234946" y="74168"/>
                    <a:pt x="2194052" y="33909"/>
                    <a:pt x="2142236" y="33909"/>
                  </a:cubicBezTo>
                  <a:lnTo>
                    <a:pt x="126492" y="33909"/>
                  </a:lnTo>
                  <a:lnTo>
                    <a:pt x="126492" y="16891"/>
                  </a:lnTo>
                  <a:lnTo>
                    <a:pt x="126492" y="33909"/>
                  </a:lnTo>
                  <a:cubicBezTo>
                    <a:pt x="74676" y="33909"/>
                    <a:pt x="33782" y="74168"/>
                    <a:pt x="33782" y="122555"/>
                  </a:cubicBezTo>
                  <a:close/>
                </a:path>
              </a:pathLst>
            </a:custGeom>
            <a:solidFill>
              <a:srgbClr val="22385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20">
              <a:extLst>
                <a:ext uri="{FF2B5EF4-FFF2-40B4-BE49-F238E27FC236}">
                  <a16:creationId xmlns:a16="http://schemas.microsoft.com/office/drawing/2014/main" id="{CA727493-2458-130B-5B52-D2BB490397B5}"/>
                </a:ext>
              </a:extLst>
            </p:cNvPr>
            <p:cNvSpPr txBox="1"/>
            <p:nvPr/>
          </p:nvSpPr>
          <p:spPr>
            <a:xfrm>
              <a:off x="0" y="-38100"/>
              <a:ext cx="2268747" cy="7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ko-KR" altLang="en-US" sz="22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외부 데이터</a:t>
              </a:r>
              <a:endParaRPr lang="en-US" sz="2200" spc="-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4" name="Freeform 21" descr="사용자가 채워진 사람 모양 - 무료 사람들개 아이콘">
            <a:extLst>
              <a:ext uri="{FF2B5EF4-FFF2-40B4-BE49-F238E27FC236}">
                <a16:creationId xmlns:a16="http://schemas.microsoft.com/office/drawing/2014/main" id="{A135C326-E33E-E982-0FF6-25F29CADB472}"/>
              </a:ext>
            </a:extLst>
          </p:cNvPr>
          <p:cNvSpPr/>
          <p:nvPr/>
        </p:nvSpPr>
        <p:spPr>
          <a:xfrm>
            <a:off x="2339120" y="6762838"/>
            <a:ext cx="1328400" cy="1328400"/>
          </a:xfrm>
          <a:custGeom>
            <a:avLst/>
            <a:gdLst/>
            <a:ahLst/>
            <a:cxnLst/>
            <a:rect l="l" t="t" r="r" b="b"/>
            <a:pathLst>
              <a:path w="1328400" h="1328400">
                <a:moveTo>
                  <a:pt x="0" y="0"/>
                </a:moveTo>
                <a:lnTo>
                  <a:pt x="1328400" y="0"/>
                </a:lnTo>
                <a:lnTo>
                  <a:pt x="1328400" y="1328400"/>
                </a:lnTo>
                <a:lnTo>
                  <a:pt x="0" y="1328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22">
            <a:extLst>
              <a:ext uri="{FF2B5EF4-FFF2-40B4-BE49-F238E27FC236}">
                <a16:creationId xmlns:a16="http://schemas.microsoft.com/office/drawing/2014/main" id="{2AD774A4-0EAF-B3D4-BFA2-31CD35B31BDC}"/>
              </a:ext>
            </a:extLst>
          </p:cNvPr>
          <p:cNvGrpSpPr/>
          <p:nvPr/>
        </p:nvGrpSpPr>
        <p:grpSpPr>
          <a:xfrm>
            <a:off x="8610600" y="6226502"/>
            <a:ext cx="2387360" cy="2330840"/>
            <a:chOff x="0" y="0"/>
            <a:chExt cx="3183147" cy="3107787"/>
          </a:xfrm>
        </p:grpSpPr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AA2B542-1A88-850B-CD7B-FF1DEC3D0CB2}"/>
                </a:ext>
              </a:extLst>
            </p:cNvPr>
            <p:cNvSpPr/>
            <p:nvPr/>
          </p:nvSpPr>
          <p:spPr>
            <a:xfrm>
              <a:off x="0" y="0"/>
              <a:ext cx="3183128" cy="3107817"/>
            </a:xfrm>
            <a:custGeom>
              <a:avLst/>
              <a:gdLst/>
              <a:ahLst/>
              <a:cxnLst/>
              <a:rect l="l" t="t" r="r" b="b"/>
              <a:pathLst>
                <a:path w="3183128" h="3107817">
                  <a:moveTo>
                    <a:pt x="0" y="529209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2653792" y="0"/>
                  </a:lnTo>
                  <a:lnTo>
                    <a:pt x="2653792" y="16891"/>
                  </a:lnTo>
                  <a:lnTo>
                    <a:pt x="2653792" y="0"/>
                  </a:lnTo>
                  <a:cubicBezTo>
                    <a:pt x="2946146" y="0"/>
                    <a:pt x="3183128" y="236982"/>
                    <a:pt x="3183128" y="529209"/>
                  </a:cubicBezTo>
                  <a:lnTo>
                    <a:pt x="3166237" y="529209"/>
                  </a:lnTo>
                  <a:lnTo>
                    <a:pt x="3183128" y="529209"/>
                  </a:lnTo>
                  <a:lnTo>
                    <a:pt x="3183128" y="2578481"/>
                  </a:lnTo>
                  <a:lnTo>
                    <a:pt x="3166237" y="2578481"/>
                  </a:lnTo>
                  <a:lnTo>
                    <a:pt x="3183128" y="2578481"/>
                  </a:lnTo>
                  <a:cubicBezTo>
                    <a:pt x="3183128" y="2870835"/>
                    <a:pt x="2946146" y="3107690"/>
                    <a:pt x="2653792" y="3107690"/>
                  </a:cubicBezTo>
                  <a:lnTo>
                    <a:pt x="2653792" y="3090799"/>
                  </a:lnTo>
                  <a:lnTo>
                    <a:pt x="2653792" y="3107690"/>
                  </a:lnTo>
                  <a:lnTo>
                    <a:pt x="529336" y="3107690"/>
                  </a:lnTo>
                  <a:lnTo>
                    <a:pt x="529336" y="3090799"/>
                  </a:lnTo>
                  <a:lnTo>
                    <a:pt x="529336" y="3107690"/>
                  </a:lnTo>
                  <a:cubicBezTo>
                    <a:pt x="236982" y="3107817"/>
                    <a:pt x="0" y="2870835"/>
                    <a:pt x="0" y="2578481"/>
                  </a:cubicBezTo>
                  <a:lnTo>
                    <a:pt x="0" y="529209"/>
                  </a:lnTo>
                  <a:lnTo>
                    <a:pt x="16891" y="529209"/>
                  </a:lnTo>
                  <a:lnTo>
                    <a:pt x="0" y="529209"/>
                  </a:lnTo>
                  <a:moveTo>
                    <a:pt x="33909" y="529209"/>
                  </a:moveTo>
                  <a:lnTo>
                    <a:pt x="33909" y="2578481"/>
                  </a:lnTo>
                  <a:lnTo>
                    <a:pt x="16891" y="2578481"/>
                  </a:lnTo>
                  <a:lnTo>
                    <a:pt x="33909" y="2578481"/>
                  </a:lnTo>
                  <a:cubicBezTo>
                    <a:pt x="33909" y="2852039"/>
                    <a:pt x="255778" y="3073908"/>
                    <a:pt x="529463" y="3073908"/>
                  </a:cubicBezTo>
                  <a:lnTo>
                    <a:pt x="2653792" y="3073908"/>
                  </a:lnTo>
                  <a:cubicBezTo>
                    <a:pt x="2927477" y="3073908"/>
                    <a:pt x="3149346" y="2852166"/>
                    <a:pt x="3149346" y="2578481"/>
                  </a:cubicBezTo>
                  <a:lnTo>
                    <a:pt x="3149346" y="529209"/>
                  </a:lnTo>
                  <a:cubicBezTo>
                    <a:pt x="3149346" y="255651"/>
                    <a:pt x="2927477" y="33782"/>
                    <a:pt x="2653792" y="33782"/>
                  </a:cubicBezTo>
                  <a:lnTo>
                    <a:pt x="529336" y="33782"/>
                  </a:lnTo>
                  <a:lnTo>
                    <a:pt x="529336" y="16891"/>
                  </a:lnTo>
                  <a:lnTo>
                    <a:pt x="529336" y="33909"/>
                  </a:lnTo>
                  <a:cubicBezTo>
                    <a:pt x="255778" y="33909"/>
                    <a:pt x="33909" y="255651"/>
                    <a:pt x="33909" y="529209"/>
                  </a:cubicBezTo>
                  <a:close/>
                </a:path>
              </a:pathLst>
            </a:custGeom>
            <a:solidFill>
              <a:srgbClr val="747EA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C4C583F6-24CC-F4A9-47EA-34F2C0212273}"/>
                </a:ext>
              </a:extLst>
            </p:cNvPr>
            <p:cNvSpPr txBox="1"/>
            <p:nvPr/>
          </p:nvSpPr>
          <p:spPr>
            <a:xfrm>
              <a:off x="0" y="-38100"/>
              <a:ext cx="3183147" cy="3145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ko-KR" altLang="en-US" sz="2000" dirty="0"/>
                <a:t>실시간 </a:t>
              </a:r>
              <a:endParaRPr lang="en-US" altLang="ko-KR" sz="2000" dirty="0"/>
            </a:p>
            <a:p>
              <a:pPr algn="ctr">
                <a:lnSpc>
                  <a:spcPts val="2160"/>
                </a:lnSpc>
              </a:pPr>
              <a:r>
                <a:rPr lang="ko-KR" altLang="en-US" sz="2000" dirty="0"/>
                <a:t>주식 데이터  </a:t>
              </a:r>
              <a:r>
                <a:rPr lang="en-US" sz="2000" dirty="0"/>
                <a:t>X</a:t>
              </a:r>
              <a:endParaRPr sz="2000" dirty="0"/>
            </a:p>
          </p:txBody>
        </p:sp>
      </p:grpSp>
      <p:grpSp>
        <p:nvGrpSpPr>
          <p:cNvPr id="18" name="Group 25">
            <a:extLst>
              <a:ext uri="{FF2B5EF4-FFF2-40B4-BE49-F238E27FC236}">
                <a16:creationId xmlns:a16="http://schemas.microsoft.com/office/drawing/2014/main" id="{47E7C2BB-9405-896F-4125-6236B2F0E9D9}"/>
              </a:ext>
            </a:extLst>
          </p:cNvPr>
          <p:cNvGrpSpPr/>
          <p:nvPr/>
        </p:nvGrpSpPr>
        <p:grpSpPr>
          <a:xfrm>
            <a:off x="8953680" y="6046502"/>
            <a:ext cx="1701560" cy="500600"/>
            <a:chOff x="0" y="0"/>
            <a:chExt cx="2268747" cy="667467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69EF671E-0AB8-82CC-6995-9D5D4C08FB18}"/>
                </a:ext>
              </a:extLst>
            </p:cNvPr>
            <p:cNvSpPr/>
            <p:nvPr/>
          </p:nvSpPr>
          <p:spPr>
            <a:xfrm>
              <a:off x="16891" y="16891"/>
              <a:ext cx="2234946" cy="633730"/>
            </a:xfrm>
            <a:custGeom>
              <a:avLst/>
              <a:gdLst/>
              <a:ahLst/>
              <a:cxnLst/>
              <a:rect l="l" t="t" r="r" b="b"/>
              <a:pathLst>
                <a:path w="2234946" h="633730">
                  <a:moveTo>
                    <a:pt x="0" y="105664"/>
                  </a:moveTo>
                  <a:cubicBezTo>
                    <a:pt x="0" y="47371"/>
                    <a:pt x="49022" y="0"/>
                    <a:pt x="109601" y="0"/>
                  </a:cubicBezTo>
                  <a:lnTo>
                    <a:pt x="2125345" y="0"/>
                  </a:lnTo>
                  <a:cubicBezTo>
                    <a:pt x="2185924" y="0"/>
                    <a:pt x="2234946" y="47244"/>
                    <a:pt x="2234946" y="105664"/>
                  </a:cubicBezTo>
                  <a:lnTo>
                    <a:pt x="2234946" y="528066"/>
                  </a:lnTo>
                  <a:cubicBezTo>
                    <a:pt x="2234946" y="586359"/>
                    <a:pt x="2185924" y="633730"/>
                    <a:pt x="2125345" y="633730"/>
                  </a:cubicBezTo>
                  <a:lnTo>
                    <a:pt x="109601" y="633730"/>
                  </a:lnTo>
                  <a:cubicBezTo>
                    <a:pt x="49022" y="633730"/>
                    <a:pt x="0" y="586486"/>
                    <a:pt x="0" y="528066"/>
                  </a:cubicBezTo>
                  <a:close/>
                </a:path>
              </a:pathLst>
            </a:custGeom>
            <a:solidFill>
              <a:srgbClr val="747EA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821780C4-18AF-F963-9405-70A85522DE7A}"/>
                </a:ext>
              </a:extLst>
            </p:cNvPr>
            <p:cNvSpPr/>
            <p:nvPr/>
          </p:nvSpPr>
          <p:spPr>
            <a:xfrm>
              <a:off x="0" y="0"/>
              <a:ext cx="2268728" cy="667512"/>
            </a:xfrm>
            <a:custGeom>
              <a:avLst/>
              <a:gdLst/>
              <a:ahLst/>
              <a:cxnLst/>
              <a:rect l="l" t="t" r="r" b="b"/>
              <a:pathLst>
                <a:path w="2268728" h="667512">
                  <a:moveTo>
                    <a:pt x="0" y="122555"/>
                  </a:moveTo>
                  <a:cubicBezTo>
                    <a:pt x="0" y="54229"/>
                    <a:pt x="57277" y="0"/>
                    <a:pt x="126492" y="0"/>
                  </a:cubicBezTo>
                  <a:lnTo>
                    <a:pt x="2142236" y="0"/>
                  </a:lnTo>
                  <a:lnTo>
                    <a:pt x="2142236" y="16891"/>
                  </a:lnTo>
                  <a:lnTo>
                    <a:pt x="2142236" y="0"/>
                  </a:lnTo>
                  <a:cubicBezTo>
                    <a:pt x="2211451" y="0"/>
                    <a:pt x="2268728" y="54229"/>
                    <a:pt x="2268728" y="122555"/>
                  </a:cubicBezTo>
                  <a:lnTo>
                    <a:pt x="2251837" y="122555"/>
                  </a:lnTo>
                  <a:lnTo>
                    <a:pt x="2268728" y="122555"/>
                  </a:lnTo>
                  <a:lnTo>
                    <a:pt x="2268728" y="544957"/>
                  </a:lnTo>
                  <a:lnTo>
                    <a:pt x="2251837" y="544957"/>
                  </a:lnTo>
                  <a:lnTo>
                    <a:pt x="2268728" y="544957"/>
                  </a:lnTo>
                  <a:cubicBezTo>
                    <a:pt x="2268728" y="613156"/>
                    <a:pt x="2211451" y="667512"/>
                    <a:pt x="2142236" y="667512"/>
                  </a:cubicBezTo>
                  <a:lnTo>
                    <a:pt x="2142236" y="650494"/>
                  </a:lnTo>
                  <a:lnTo>
                    <a:pt x="2142236" y="667385"/>
                  </a:lnTo>
                  <a:lnTo>
                    <a:pt x="126492" y="667385"/>
                  </a:lnTo>
                  <a:lnTo>
                    <a:pt x="126492" y="650494"/>
                  </a:lnTo>
                  <a:lnTo>
                    <a:pt x="126492" y="667385"/>
                  </a:lnTo>
                  <a:cubicBezTo>
                    <a:pt x="57277" y="667512"/>
                    <a:pt x="0" y="613156"/>
                    <a:pt x="0" y="544957"/>
                  </a:cubicBezTo>
                  <a:lnTo>
                    <a:pt x="0" y="122555"/>
                  </a:lnTo>
                  <a:lnTo>
                    <a:pt x="16891" y="122555"/>
                  </a:lnTo>
                  <a:lnTo>
                    <a:pt x="0" y="122555"/>
                  </a:lnTo>
                  <a:moveTo>
                    <a:pt x="33909" y="122555"/>
                  </a:moveTo>
                  <a:lnTo>
                    <a:pt x="33909" y="544957"/>
                  </a:lnTo>
                  <a:lnTo>
                    <a:pt x="16891" y="544957"/>
                  </a:lnTo>
                  <a:lnTo>
                    <a:pt x="33909" y="544957"/>
                  </a:lnTo>
                  <a:cubicBezTo>
                    <a:pt x="33909" y="593344"/>
                    <a:pt x="74803" y="633603"/>
                    <a:pt x="126619" y="633603"/>
                  </a:cubicBezTo>
                  <a:lnTo>
                    <a:pt x="2142236" y="633603"/>
                  </a:lnTo>
                  <a:cubicBezTo>
                    <a:pt x="2194052" y="633603"/>
                    <a:pt x="2234946" y="593344"/>
                    <a:pt x="2234946" y="544957"/>
                  </a:cubicBezTo>
                  <a:lnTo>
                    <a:pt x="2234946" y="122555"/>
                  </a:lnTo>
                  <a:cubicBezTo>
                    <a:pt x="2234946" y="74168"/>
                    <a:pt x="2194052" y="33909"/>
                    <a:pt x="2142236" y="33909"/>
                  </a:cubicBezTo>
                  <a:lnTo>
                    <a:pt x="126492" y="33909"/>
                  </a:lnTo>
                  <a:lnTo>
                    <a:pt x="126492" y="16891"/>
                  </a:lnTo>
                  <a:lnTo>
                    <a:pt x="126492" y="33909"/>
                  </a:lnTo>
                  <a:cubicBezTo>
                    <a:pt x="74676" y="33909"/>
                    <a:pt x="33782" y="74168"/>
                    <a:pt x="33782" y="122555"/>
                  </a:cubicBezTo>
                  <a:close/>
                </a:path>
              </a:pathLst>
            </a:custGeom>
            <a:solidFill>
              <a:srgbClr val="223852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8">
              <a:extLst>
                <a:ext uri="{FF2B5EF4-FFF2-40B4-BE49-F238E27FC236}">
                  <a16:creationId xmlns:a16="http://schemas.microsoft.com/office/drawing/2014/main" id="{C01144D6-C352-079D-3340-B8968A829743}"/>
                </a:ext>
              </a:extLst>
            </p:cNvPr>
            <p:cNvSpPr txBox="1"/>
            <p:nvPr/>
          </p:nvSpPr>
          <p:spPr>
            <a:xfrm>
              <a:off x="0" y="-38100"/>
              <a:ext cx="2268747" cy="7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4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(GPT)</a:t>
              </a:r>
            </a:p>
          </p:txBody>
        </p:sp>
      </p:grpSp>
      <p:sp>
        <p:nvSpPr>
          <p:cNvPr id="40" name="AutoShape 33">
            <a:extLst>
              <a:ext uri="{FF2B5EF4-FFF2-40B4-BE49-F238E27FC236}">
                <a16:creationId xmlns:a16="http://schemas.microsoft.com/office/drawing/2014/main" id="{3E5A8465-1941-1C28-2DDA-F8A86D18B03B}"/>
              </a:ext>
            </a:extLst>
          </p:cNvPr>
          <p:cNvSpPr/>
          <p:nvPr/>
        </p:nvSpPr>
        <p:spPr>
          <a:xfrm>
            <a:off x="4204765" y="7213308"/>
            <a:ext cx="4405819" cy="11879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34">
            <a:extLst>
              <a:ext uri="{FF2B5EF4-FFF2-40B4-BE49-F238E27FC236}">
                <a16:creationId xmlns:a16="http://schemas.microsoft.com/office/drawing/2014/main" id="{D6F7AF8D-95B5-6C43-5092-603CE6BB03F4}"/>
              </a:ext>
            </a:extLst>
          </p:cNvPr>
          <p:cNvSpPr/>
          <p:nvPr/>
        </p:nvSpPr>
        <p:spPr>
          <a:xfrm rot="10744497">
            <a:off x="4204898" y="7482704"/>
            <a:ext cx="4405554" cy="5194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Group 35">
            <a:extLst>
              <a:ext uri="{FF2B5EF4-FFF2-40B4-BE49-F238E27FC236}">
                <a16:creationId xmlns:a16="http://schemas.microsoft.com/office/drawing/2014/main" id="{BDF1C2F8-BADD-DC73-2639-EACB5ECA1D89}"/>
              </a:ext>
            </a:extLst>
          </p:cNvPr>
          <p:cNvGrpSpPr/>
          <p:nvPr/>
        </p:nvGrpSpPr>
        <p:grpSpPr>
          <a:xfrm>
            <a:off x="4283020" y="6691940"/>
            <a:ext cx="4327572" cy="487942"/>
            <a:chOff x="0" y="-165309"/>
            <a:chExt cx="5770096" cy="650589"/>
          </a:xfrm>
        </p:grpSpPr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CB0655F-21DB-9B9E-834E-F031917C336F}"/>
                </a:ext>
              </a:extLst>
            </p:cNvPr>
            <p:cNvSpPr/>
            <p:nvPr/>
          </p:nvSpPr>
          <p:spPr>
            <a:xfrm>
              <a:off x="0" y="0"/>
              <a:ext cx="4620000" cy="485280"/>
            </a:xfrm>
            <a:custGeom>
              <a:avLst/>
              <a:gdLst/>
              <a:ahLst/>
              <a:cxnLst/>
              <a:rect l="l" t="t" r="r" b="b"/>
              <a:pathLst>
                <a:path w="4620000" h="485280">
                  <a:moveTo>
                    <a:pt x="0" y="0"/>
                  </a:moveTo>
                  <a:lnTo>
                    <a:pt x="4620000" y="0"/>
                  </a:lnTo>
                  <a:lnTo>
                    <a:pt x="4620000" y="485280"/>
                  </a:lnTo>
                  <a:lnTo>
                    <a:pt x="0" y="485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AA7AB86D-2213-B0ED-F2F8-A9637E8B6F43}"/>
                </a:ext>
              </a:extLst>
            </p:cNvPr>
            <p:cNvSpPr txBox="1"/>
            <p:nvPr/>
          </p:nvSpPr>
          <p:spPr>
            <a:xfrm>
              <a:off x="151112" y="-165309"/>
              <a:ext cx="5618984" cy="530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2000" spc="-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질문</a:t>
              </a:r>
              <a:r>
                <a:rPr lang="en-US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: </a:t>
              </a:r>
              <a:r>
                <a:rPr lang="ko-KR" altLang="en-US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삼성전자의 주가는 </a:t>
              </a:r>
              <a:r>
                <a:rPr lang="ko-KR" altLang="en-US" sz="2000" spc="-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얼마니</a:t>
              </a:r>
              <a:r>
                <a:rPr lang="en-US" altLang="ko-KR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  <a:endParaRPr lang="en-US" sz="20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45" name="Group 38">
            <a:extLst>
              <a:ext uri="{FF2B5EF4-FFF2-40B4-BE49-F238E27FC236}">
                <a16:creationId xmlns:a16="http://schemas.microsoft.com/office/drawing/2014/main" id="{C272DC23-827F-F700-2076-09F8273F4A0D}"/>
              </a:ext>
            </a:extLst>
          </p:cNvPr>
          <p:cNvGrpSpPr/>
          <p:nvPr/>
        </p:nvGrpSpPr>
        <p:grpSpPr>
          <a:xfrm>
            <a:off x="4335580" y="7676682"/>
            <a:ext cx="3896221" cy="2014203"/>
            <a:chOff x="0" y="0"/>
            <a:chExt cx="5194963" cy="2685605"/>
          </a:xfrm>
        </p:grpSpPr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C0976601-038B-40F5-DE93-922EE2EA7C09}"/>
                </a:ext>
              </a:extLst>
            </p:cNvPr>
            <p:cNvSpPr/>
            <p:nvPr/>
          </p:nvSpPr>
          <p:spPr>
            <a:xfrm>
              <a:off x="0" y="0"/>
              <a:ext cx="4863840" cy="485280"/>
            </a:xfrm>
            <a:custGeom>
              <a:avLst/>
              <a:gdLst/>
              <a:ahLst/>
              <a:cxnLst/>
              <a:rect l="l" t="t" r="r" b="b"/>
              <a:pathLst>
                <a:path w="4863840" h="485280">
                  <a:moveTo>
                    <a:pt x="0" y="0"/>
                  </a:moveTo>
                  <a:lnTo>
                    <a:pt x="4863840" y="0"/>
                  </a:lnTo>
                  <a:lnTo>
                    <a:pt x="4863840" y="485280"/>
                  </a:lnTo>
                  <a:lnTo>
                    <a:pt x="0" y="485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0">
              <a:extLst>
                <a:ext uri="{FF2B5EF4-FFF2-40B4-BE49-F238E27FC236}">
                  <a16:creationId xmlns:a16="http://schemas.microsoft.com/office/drawing/2014/main" id="{6B0341BB-9C0E-7A9C-FAEE-739F46F06E5C}"/>
                </a:ext>
              </a:extLst>
            </p:cNvPr>
            <p:cNvSpPr txBox="1"/>
            <p:nvPr/>
          </p:nvSpPr>
          <p:spPr>
            <a:xfrm>
              <a:off x="81021" y="205751"/>
              <a:ext cx="5113942" cy="247985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2000" spc="-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답변</a:t>
              </a:r>
              <a:r>
                <a:rPr lang="en-US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: </a:t>
              </a:r>
              <a:r>
                <a:rPr lang="ko-KR" altLang="en-US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삼성전자의 주가는       </a:t>
              </a:r>
              <a:endParaRPr lang="en-US" altLang="ko-KR" sz="20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160"/>
                </a:lnSpc>
              </a:pPr>
              <a:r>
                <a:rPr lang="en-US" altLang="ko-KR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55,900</a:t>
              </a:r>
              <a:r>
                <a:rPr lang="ko-KR" altLang="en-US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원입니다</a:t>
              </a:r>
              <a:r>
                <a:rPr lang="en-US" altLang="ko-KR" sz="2000" spc="-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  <a:endParaRPr lang="en-US" sz="20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DD830AF-77D9-F398-0CE4-B3211730C647}"/>
              </a:ext>
            </a:extLst>
          </p:cNvPr>
          <p:cNvSpPr txBox="1"/>
          <p:nvPr/>
        </p:nvSpPr>
        <p:spPr>
          <a:xfrm>
            <a:off x="11200201" y="5778343"/>
            <a:ext cx="308049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프롬프트 </a:t>
            </a:r>
            <a:r>
              <a:rPr lang="en-US" altLang="ko-KR" sz="2000" dirty="0"/>
              <a:t>:</a:t>
            </a:r>
          </a:p>
          <a:p>
            <a:r>
              <a:rPr lang="en-US" altLang="ko-KR" sz="2000" dirty="0"/>
              <a:t>{</a:t>
            </a:r>
            <a:r>
              <a:rPr lang="ko-KR" altLang="en-US" sz="2000" dirty="0"/>
              <a:t>삼성전자 주가</a:t>
            </a:r>
            <a:r>
              <a:rPr lang="en-US" altLang="ko-KR" sz="2000" dirty="0"/>
              <a:t> : 55,900</a:t>
            </a:r>
            <a:r>
              <a:rPr lang="ko-KR" altLang="en-US" sz="2000" dirty="0"/>
              <a:t>원</a:t>
            </a:r>
            <a:r>
              <a:rPr lang="en-US" altLang="ko-KR" sz="2000" dirty="0"/>
              <a:t>}</a:t>
            </a:r>
          </a:p>
          <a:p>
            <a:r>
              <a:rPr lang="ko-KR" altLang="en-US" sz="2000" dirty="0"/>
              <a:t>이 자료를  참고하여 답변해주세요</a:t>
            </a:r>
            <a:r>
              <a:rPr lang="en-US" altLang="ko-KR" sz="2000" dirty="0"/>
              <a:t>.</a:t>
            </a:r>
          </a:p>
        </p:txBody>
      </p:sp>
      <p:sp>
        <p:nvSpPr>
          <p:cNvPr id="50" name="AutoShape 34">
            <a:extLst>
              <a:ext uri="{FF2B5EF4-FFF2-40B4-BE49-F238E27FC236}">
                <a16:creationId xmlns:a16="http://schemas.microsoft.com/office/drawing/2014/main" id="{7E93C75D-D32E-B13E-756F-E042AFDB601C}"/>
              </a:ext>
            </a:extLst>
          </p:cNvPr>
          <p:cNvSpPr/>
          <p:nvPr/>
        </p:nvSpPr>
        <p:spPr>
          <a:xfrm rot="10744497">
            <a:off x="10998175" y="7343996"/>
            <a:ext cx="3530619" cy="57007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2569EF7-606C-14D5-06B0-130E6172CE66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127" name="Picture 2"/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79BDA9C-0A6E-9FA0-2C44-A6FD2676A6F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128" name="Picture 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9" name="Picture 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0" name="Picture 5"/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" name="Freeform 6">
              <a:extLst>
                <a:ext uri="{FF2B5EF4-FFF2-40B4-BE49-F238E27FC236}">
                  <a16:creationId xmlns:a16="http://schemas.microsoft.com/office/drawing/2014/main" id="{B0AE0E5B-BB20-CCBE-A249-7921CE33A74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/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/>
          <p:cNvSpPr/>
          <p:nvPr/>
        </p:nvSpPr>
        <p:spPr>
          <a:xfrm>
            <a:off x="2162725" y="988707"/>
            <a:ext cx="10658109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이 기술을 어디에 적용할 것인가</a:t>
            </a: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?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/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B945EB-2CEF-1525-0793-997144ACEA9F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3460750" y="405174"/>
            <a:chExt cx="1333500" cy="8115300"/>
          </a:xfrm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035C0252-1596-22FF-5D70-BF1E8C819318}"/>
                </a:ext>
              </a:extLst>
            </p:cNvPr>
            <p:cNvSpPr/>
            <p:nvPr/>
          </p:nvSpPr>
          <p:spPr>
            <a:xfrm>
              <a:off x="3581400" y="405174"/>
              <a:ext cx="1092200" cy="8115300"/>
            </a:xfrm>
            <a:custGeom>
              <a:avLst/>
              <a:gdLst/>
              <a:ahLst/>
              <a:cxnLst/>
              <a:rect l="l" t="t" r="r" b="b"/>
              <a:pathLst>
                <a:path w="1092200" h="8115300">
                  <a:moveTo>
                    <a:pt x="0" y="0"/>
                  </a:moveTo>
                  <a:lnTo>
                    <a:pt x="1092200" y="0"/>
                  </a:lnTo>
                  <a:lnTo>
                    <a:pt x="1092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81" r="-58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19755F11-FC63-228F-A884-CC7BF932E24F}"/>
                </a:ext>
              </a:extLst>
            </p:cNvPr>
            <p:cNvSpPr/>
            <p:nvPr/>
          </p:nvSpPr>
          <p:spPr>
            <a:xfrm>
              <a:off x="3981450" y="609601"/>
              <a:ext cx="292100" cy="330200"/>
            </a:xfrm>
            <a:custGeom>
              <a:avLst/>
              <a:gdLst/>
              <a:ahLst/>
              <a:cxnLst/>
              <a:rect l="l" t="t" r="r" b="b"/>
              <a:pathLst>
                <a:path w="292100" h="330200">
                  <a:moveTo>
                    <a:pt x="0" y="0"/>
                  </a:moveTo>
                  <a:lnTo>
                    <a:pt x="292100" y="0"/>
                  </a:lnTo>
                  <a:lnTo>
                    <a:pt x="292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2" r="-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1170834-610F-D5F7-4676-7F8813DFDD3B}"/>
                </a:ext>
              </a:extLst>
            </p:cNvPr>
            <p:cNvGrpSpPr/>
            <p:nvPr/>
          </p:nvGrpSpPr>
          <p:grpSpPr>
            <a:xfrm>
              <a:off x="3460750" y="1014533"/>
              <a:ext cx="1333500" cy="863600"/>
              <a:chOff x="8227344" y="2113347"/>
              <a:chExt cx="1333500" cy="863600"/>
            </a:xfrm>
          </p:grpSpPr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ADAC91AF-0761-F8DC-CE8D-DBD080FD877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BF4EF6-7E92-1D12-6C87-EF5FA26FE44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1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CF766E-B186-1216-4061-9835FDCB49EA}"/>
                </a:ext>
              </a:extLst>
            </p:cNvPr>
            <p:cNvSpPr txBox="1"/>
            <p:nvPr/>
          </p:nvSpPr>
          <p:spPr>
            <a:xfrm>
              <a:off x="3822700" y="216291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2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94EF65-A096-0567-6D9B-916D79A186DE}"/>
                </a:ext>
              </a:extLst>
            </p:cNvPr>
            <p:cNvSpPr txBox="1"/>
            <p:nvPr/>
          </p:nvSpPr>
          <p:spPr>
            <a:xfrm>
              <a:off x="3822700" y="3029579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3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1123D4-03B8-3234-9459-185C8FBA25E3}"/>
                </a:ext>
              </a:extLst>
            </p:cNvPr>
            <p:cNvSpPr txBox="1"/>
            <p:nvPr/>
          </p:nvSpPr>
          <p:spPr>
            <a:xfrm>
              <a:off x="3822700" y="3936221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4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1C8AF-6E25-0062-CE4C-0E3AB1162943}"/>
                </a:ext>
              </a:extLst>
            </p:cNvPr>
            <p:cNvSpPr txBox="1"/>
            <p:nvPr/>
          </p:nvSpPr>
          <p:spPr>
            <a:xfrm>
              <a:off x="3822700" y="4842862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5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5AA19-06FB-07B8-ECB6-6332285C38A3}"/>
                </a:ext>
              </a:extLst>
            </p:cNvPr>
            <p:cNvSpPr txBox="1"/>
            <p:nvPr/>
          </p:nvSpPr>
          <p:spPr>
            <a:xfrm>
              <a:off x="3822700" y="5749504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6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67773-FDF2-305C-3994-56AEC2429007}"/>
                </a:ext>
              </a:extLst>
            </p:cNvPr>
            <p:cNvSpPr txBox="1"/>
            <p:nvPr/>
          </p:nvSpPr>
          <p:spPr>
            <a:xfrm>
              <a:off x="3822700" y="6656148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7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10360D-08FA-A695-6DEF-3A9B87458EEA}"/>
                </a:ext>
              </a:extLst>
            </p:cNvPr>
            <p:cNvSpPr txBox="1"/>
            <p:nvPr/>
          </p:nvSpPr>
          <p:spPr>
            <a:xfrm>
              <a:off x="3822700" y="7562790"/>
              <a:ext cx="609600" cy="365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</a:rPr>
                <a:t>8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295C6D2-7D25-9597-38FE-A574D65CF467}"/>
              </a:ext>
            </a:extLst>
          </p:cNvPr>
          <p:cNvSpPr txBox="1"/>
          <p:nvPr/>
        </p:nvSpPr>
        <p:spPr>
          <a:xfrm>
            <a:off x="2667000" y="2189871"/>
            <a:ext cx="14774252" cy="223278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120650" lvl="1" algn="l">
              <a:lnSpc>
                <a:spcPts val="3600"/>
              </a:lnSpc>
            </a:pPr>
            <a:endParaRPr lang="en-US" sz="2500" dirty="0">
              <a:sym typeface="Calibri (MS) Bold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CE9569-CF28-925B-9ACD-FAE3274FE4BD}"/>
              </a:ext>
            </a:extLst>
          </p:cNvPr>
          <p:cNvGrpSpPr/>
          <p:nvPr/>
        </p:nvGrpSpPr>
        <p:grpSpPr>
          <a:xfrm>
            <a:off x="3320587" y="4982149"/>
            <a:ext cx="5574632" cy="2908796"/>
            <a:chOff x="9344656" y="4164287"/>
            <a:chExt cx="6845040" cy="1053720"/>
          </a:xfrm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AE8A1247-1402-5FA1-3EA4-1DF6D60F8D87}"/>
                </a:ext>
              </a:extLst>
            </p:cNvPr>
            <p:cNvSpPr/>
            <p:nvPr/>
          </p:nvSpPr>
          <p:spPr>
            <a:xfrm rot="5400000">
              <a:off x="12240316" y="1268627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966FCD3C-2706-6C89-085C-7AF7B6B903A1}"/>
                </a:ext>
              </a:extLst>
            </p:cNvPr>
            <p:cNvSpPr txBox="1"/>
            <p:nvPr/>
          </p:nvSpPr>
          <p:spPr>
            <a:xfrm>
              <a:off x="9868019" y="4341712"/>
              <a:ext cx="5798314" cy="698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6"/>
                </a:lnSpc>
              </a:pPr>
              <a:r>
                <a:rPr lang="ko-KR" altLang="en-US" sz="2799" b="1" spc="-99" dirty="0">
                  <a:latin typeface="Arimo Bold"/>
                  <a:ea typeface="Arimo Bold"/>
                  <a:cs typeface="Arimo Bold"/>
                  <a:sym typeface="Arimo Bold"/>
                </a:rPr>
                <a:t>금융 데이터 특성상 최신 정보 수집 능력이 굉장히 중요</a:t>
              </a:r>
              <a:r>
                <a:rPr lang="en-US" altLang="ko-KR" sz="2799" b="1" spc="-99" dirty="0">
                  <a:latin typeface="Arimo Bold"/>
                  <a:ea typeface="Arimo Bold"/>
                  <a:cs typeface="Arimo Bold"/>
                  <a:sym typeface="Arimo Bold"/>
                </a:rPr>
                <a:t>!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5ECD5E-3FA6-F227-53F8-CF240BF04CC1}"/>
              </a:ext>
            </a:extLst>
          </p:cNvPr>
          <p:cNvGrpSpPr/>
          <p:nvPr/>
        </p:nvGrpSpPr>
        <p:grpSpPr>
          <a:xfrm>
            <a:off x="11001221" y="4455347"/>
            <a:ext cx="4102768" cy="1501762"/>
            <a:chOff x="9182189" y="4127220"/>
            <a:chExt cx="6845040" cy="1053720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B608B4EE-AC07-B3A8-46A6-D49697765923}"/>
                </a:ext>
              </a:extLst>
            </p:cNvPr>
            <p:cNvSpPr/>
            <p:nvPr/>
          </p:nvSpPr>
          <p:spPr>
            <a:xfrm rot="5400000">
              <a:off x="12077849" y="123156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875AD514-2E53-D1F7-E4C9-7C11E0B6BC90}"/>
                </a:ext>
              </a:extLst>
            </p:cNvPr>
            <p:cNvGrpSpPr/>
            <p:nvPr/>
          </p:nvGrpSpPr>
          <p:grpSpPr>
            <a:xfrm>
              <a:off x="9868020" y="4341712"/>
              <a:ext cx="5473380" cy="598117"/>
              <a:chOff x="-1202320" y="-19051"/>
              <a:chExt cx="7297840" cy="797489"/>
            </a:xfrm>
          </p:grpSpPr>
          <p:sp>
            <p:nvSpPr>
              <p:cNvPr id="11" name="Freeform 25">
                <a:extLst>
                  <a:ext uri="{FF2B5EF4-FFF2-40B4-BE49-F238E27FC236}">
                    <a16:creationId xmlns:a16="http://schemas.microsoft.com/office/drawing/2014/main" id="{C2E888D1-81DF-0CFB-17F8-9340AA0CA095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26">
                <a:extLst>
                  <a:ext uri="{FF2B5EF4-FFF2-40B4-BE49-F238E27FC236}">
                    <a16:creationId xmlns:a16="http://schemas.microsoft.com/office/drawing/2014/main" id="{7AB2E21B-EDB1-DFAD-541D-B49998CD2FD6}"/>
                  </a:ext>
                </a:extLst>
              </p:cNvPr>
              <p:cNvSpPr txBox="1"/>
              <p:nvPr/>
            </p:nvSpPr>
            <p:spPr>
              <a:xfrm>
                <a:off x="-1202320" y="-19051"/>
                <a:ext cx="7297840" cy="79748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326"/>
                  </a:lnSpc>
                </a:pPr>
                <a:r>
                  <a:rPr lang="ko-KR" altLang="en-US" sz="2799" b="1" spc="-99" dirty="0">
                    <a:latin typeface="Arimo Bold"/>
                    <a:ea typeface="Arimo Bold"/>
                    <a:cs typeface="Arimo Bold"/>
                    <a:sym typeface="Arimo Bold"/>
                  </a:rPr>
                  <a:t>최신 정보에 취약한 </a:t>
                </a:r>
                <a:r>
                  <a:rPr lang="en-US" altLang="ko-KR" sz="2799" b="1" spc="-99" dirty="0">
                    <a:latin typeface="Arimo Bold"/>
                    <a:ea typeface="Arimo Bold"/>
                    <a:cs typeface="Arimo Bold"/>
                    <a:sym typeface="Arimo Bold"/>
                  </a:rPr>
                  <a:t>LLM</a:t>
                </a:r>
                <a:endParaRPr lang="en-US" sz="2799" b="1" spc="-99" dirty="0"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722BD62-1D2C-9F58-B407-328F7F3A99A1}"/>
              </a:ext>
            </a:extLst>
          </p:cNvPr>
          <p:cNvGrpSpPr/>
          <p:nvPr/>
        </p:nvGrpSpPr>
        <p:grpSpPr>
          <a:xfrm>
            <a:off x="11001221" y="7327591"/>
            <a:ext cx="4102768" cy="1501762"/>
            <a:chOff x="9334620" y="4127220"/>
            <a:chExt cx="6845040" cy="1053720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C1E4B27-041D-9143-6C7C-C91928CEFCD4}"/>
                </a:ext>
              </a:extLst>
            </p:cNvPr>
            <p:cNvSpPr/>
            <p:nvPr/>
          </p:nvSpPr>
          <p:spPr>
            <a:xfrm rot="5400000">
              <a:off x="12230280" y="1231560"/>
              <a:ext cx="1053720" cy="6845040"/>
            </a:xfrm>
            <a:custGeom>
              <a:avLst/>
              <a:gdLst/>
              <a:ahLst/>
              <a:cxnLst/>
              <a:rect l="l" t="t" r="r" b="b"/>
              <a:pathLst>
                <a:path w="1053720" h="6845040">
                  <a:moveTo>
                    <a:pt x="0" y="0"/>
                  </a:moveTo>
                  <a:lnTo>
                    <a:pt x="1053720" y="0"/>
                  </a:lnTo>
                  <a:lnTo>
                    <a:pt x="1053720" y="6845040"/>
                  </a:lnTo>
                  <a:lnTo>
                    <a:pt x="0" y="684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3" r="-1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5" name="Group 24">
              <a:extLst>
                <a:ext uri="{FF2B5EF4-FFF2-40B4-BE49-F238E27FC236}">
                  <a16:creationId xmlns:a16="http://schemas.microsoft.com/office/drawing/2014/main" id="{39CFD792-DB04-599B-5CA3-8DAC5BFD9913}"/>
                </a:ext>
              </a:extLst>
            </p:cNvPr>
            <p:cNvGrpSpPr/>
            <p:nvPr/>
          </p:nvGrpSpPr>
          <p:grpSpPr>
            <a:xfrm>
              <a:off x="9868020" y="4341712"/>
              <a:ext cx="5473380" cy="598117"/>
              <a:chOff x="-1202320" y="-19051"/>
              <a:chExt cx="7297840" cy="797489"/>
            </a:xfrm>
          </p:grpSpPr>
          <p:sp>
            <p:nvSpPr>
              <p:cNvPr id="16" name="Freeform 25">
                <a:extLst>
                  <a:ext uri="{FF2B5EF4-FFF2-40B4-BE49-F238E27FC236}">
                    <a16:creationId xmlns:a16="http://schemas.microsoft.com/office/drawing/2014/main" id="{62A6DCCA-4F80-3B7C-5946-4303D1DC9C4C}"/>
                  </a:ext>
                </a:extLst>
              </p:cNvPr>
              <p:cNvSpPr/>
              <p:nvPr/>
            </p:nvSpPr>
            <p:spPr>
              <a:xfrm>
                <a:off x="0" y="0"/>
                <a:ext cx="6095520" cy="660000"/>
              </a:xfrm>
              <a:custGeom>
                <a:avLst/>
                <a:gdLst/>
                <a:ahLst/>
                <a:cxnLst/>
                <a:rect l="l" t="t" r="r" b="b"/>
                <a:pathLst>
                  <a:path w="6095520" h="660000">
                    <a:moveTo>
                      <a:pt x="0" y="0"/>
                    </a:moveTo>
                    <a:lnTo>
                      <a:pt x="6095520" y="0"/>
                    </a:lnTo>
                    <a:lnTo>
                      <a:pt x="6095520" y="660000"/>
                    </a:lnTo>
                    <a:lnTo>
                      <a:pt x="0" y="6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26">
                <a:extLst>
                  <a:ext uri="{FF2B5EF4-FFF2-40B4-BE49-F238E27FC236}">
                    <a16:creationId xmlns:a16="http://schemas.microsoft.com/office/drawing/2014/main" id="{272C1A35-83A1-D95F-7ED6-038A5643F135}"/>
                  </a:ext>
                </a:extLst>
              </p:cNvPr>
              <p:cNvSpPr txBox="1"/>
              <p:nvPr/>
            </p:nvSpPr>
            <p:spPr>
              <a:xfrm>
                <a:off x="-1202320" y="-19051"/>
                <a:ext cx="7297840" cy="79748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326"/>
                  </a:lnSpc>
                </a:pPr>
                <a:r>
                  <a:rPr lang="ko-KR" altLang="en-US" sz="2799" b="1" spc="-99" dirty="0">
                    <a:latin typeface="Arimo Bold"/>
                    <a:ea typeface="Arimo Bold"/>
                    <a:cs typeface="Arimo Bold"/>
                    <a:sym typeface="Arimo Bold"/>
                  </a:rPr>
                  <a:t>최신 정보에 강한 </a:t>
                </a:r>
                <a:r>
                  <a:rPr lang="en-US" altLang="ko-KR" sz="2799" b="1" spc="-99" dirty="0">
                    <a:latin typeface="Arimo Bold"/>
                    <a:ea typeface="Arimo Bold"/>
                    <a:cs typeface="Arimo Bold"/>
                    <a:sym typeface="Arimo Bold"/>
                  </a:rPr>
                  <a:t>RAG</a:t>
                </a:r>
                <a:endParaRPr lang="en-US" sz="2799" b="1" spc="-99" dirty="0">
                  <a:latin typeface="Arimo Bold"/>
                  <a:ea typeface="Arimo Bold"/>
                  <a:cs typeface="Arimo Bold"/>
                  <a:sym typeface="Arimo Bold"/>
                </a:endParaRPr>
              </a:p>
            </p:txBody>
          </p:sp>
        </p:grp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F2177A-E3BD-06FA-265E-88919A2EFC2D}"/>
              </a:ext>
            </a:extLst>
          </p:cNvPr>
          <p:cNvSpPr/>
          <p:nvPr/>
        </p:nvSpPr>
        <p:spPr>
          <a:xfrm>
            <a:off x="11015076" y="7352071"/>
            <a:ext cx="3994758" cy="14772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4296A-6959-AE0D-806A-C1D6E3C89DD8}"/>
              </a:ext>
            </a:extLst>
          </p:cNvPr>
          <p:cNvSpPr txBox="1"/>
          <p:nvPr/>
        </p:nvSpPr>
        <p:spPr>
          <a:xfrm>
            <a:off x="2162137" y="2849019"/>
            <a:ext cx="15423734" cy="584775"/>
          </a:xfrm>
          <a:prstGeom prst="rect">
            <a:avLst/>
          </a:prstGeom>
          <a:solidFill>
            <a:srgbClr val="C3D69B"/>
          </a:solidFill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과거 데이터를 학습하는 기존 </a:t>
            </a:r>
            <a:r>
              <a:rPr lang="en-US" altLang="ko-KR" sz="3200" dirty="0"/>
              <a:t>LLM</a:t>
            </a:r>
            <a:r>
              <a:rPr lang="ko-KR" altLang="en-US" sz="3200" dirty="0"/>
              <a:t>에 </a:t>
            </a:r>
            <a:r>
              <a:rPr lang="en-US" altLang="ko-KR" sz="3200" b="1" dirty="0"/>
              <a:t>RAG </a:t>
            </a:r>
            <a:r>
              <a:rPr lang="ko-KR" altLang="en-US" sz="3200" b="1" dirty="0"/>
              <a:t>기술을 접목하면 더 좋은 답변을 얻을 수 있음</a:t>
            </a:r>
          </a:p>
        </p:txBody>
      </p:sp>
      <p:sp>
        <p:nvSpPr>
          <p:cNvPr id="22" name="더하기 기호 21">
            <a:extLst>
              <a:ext uri="{FF2B5EF4-FFF2-40B4-BE49-F238E27FC236}">
                <a16:creationId xmlns:a16="http://schemas.microsoft.com/office/drawing/2014/main" id="{24DC9E06-D66D-60BB-1485-005FDC483A51}"/>
              </a:ext>
            </a:extLst>
          </p:cNvPr>
          <p:cNvSpPr/>
          <p:nvPr/>
        </p:nvSpPr>
        <p:spPr>
          <a:xfrm>
            <a:off x="12717184" y="6261995"/>
            <a:ext cx="782960" cy="729065"/>
          </a:xfrm>
          <a:prstGeom prst="mathPlus">
            <a:avLst/>
          </a:prstGeom>
          <a:solidFill>
            <a:srgbClr val="747E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5DA7-FE5B-E33A-B9E2-6207AFBB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EC5946-D68D-5F77-ABBA-914FBB4063E8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9492F60-CD51-7DA7-66B6-03ECAA299D5C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A97C664-1FE5-0F2D-1228-63B9B4ABE9A5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7BD7CF-EC9D-3352-515F-0E0A9FED1AD5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8EB1831-BDA4-BCE0-64E4-EC7BBD717166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AFB5B60-4554-D0C1-62D8-DAEFCE29FF0F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D2F6DB5-548A-761B-545B-653D2903344C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FF916-7E7D-12D8-60E1-3DF0F50BD3E3}"/>
              </a:ext>
            </a:extLst>
          </p:cNvPr>
          <p:cNvSpPr txBox="1"/>
          <p:nvPr/>
        </p:nvSpPr>
        <p:spPr>
          <a:xfrm>
            <a:off x="4143375" y="4481781"/>
            <a:ext cx="10001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</a:rPr>
              <a:t>RAG </a:t>
            </a:r>
            <a:r>
              <a:rPr lang="ko-KR" altLang="en-US" sz="8000" dirty="0">
                <a:solidFill>
                  <a:schemeClr val="bg1"/>
                </a:solidFill>
              </a:rPr>
              <a:t>기술 설명</a:t>
            </a:r>
          </a:p>
        </p:txBody>
      </p:sp>
    </p:spTree>
    <p:extLst>
      <p:ext uri="{BB962C8B-B14F-4D97-AF65-F5344CB8AC3E}">
        <p14:creationId xmlns:p14="http://schemas.microsoft.com/office/powerpoint/2010/main" val="377683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 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19CFE3-9052-9005-4F35-49395CA8AFC9}"/>
              </a:ext>
            </a:extLst>
          </p:cNvPr>
          <p:cNvSpPr txBox="1"/>
          <p:nvPr/>
        </p:nvSpPr>
        <p:spPr>
          <a:xfrm>
            <a:off x="2292152" y="2771086"/>
            <a:ext cx="399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RAG </a:t>
            </a:r>
            <a:r>
              <a:rPr lang="ko-KR" altLang="en-US" sz="3600" b="1" dirty="0"/>
              <a:t>프로세스 요약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F80AC1-0EF4-85FC-60A6-B128A754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91137" y="3229782"/>
            <a:ext cx="1906532" cy="3147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6FB30D-F7F5-7DFE-1F2D-87DE334B9378}"/>
              </a:ext>
            </a:extLst>
          </p:cNvPr>
          <p:cNvSpPr txBox="1"/>
          <p:nvPr/>
        </p:nvSpPr>
        <p:spPr>
          <a:xfrm>
            <a:off x="3303544" y="4572683"/>
            <a:ext cx="2093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데이터 수집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ED579ED-E518-F4F7-158F-62788E342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13232" y="3182267"/>
            <a:ext cx="1906532" cy="3147466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67937FC1-0460-F102-B544-37A0D6D4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181200" y="3182267"/>
            <a:ext cx="1906532" cy="3147466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17723525-9269-B1D6-AF23-1BAA735D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3181200" y="6463365"/>
            <a:ext cx="1906532" cy="3147466"/>
          </a:xfrm>
          <a:prstGeom prst="rect">
            <a:avLst/>
          </a:prstGeom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3E5158B1-1D62-FBD4-736E-4A663620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96956" y="6518414"/>
            <a:ext cx="1906532" cy="3147466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51B99ABD-F54B-01D7-2DB4-1073DDEF3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0694" y="6551706"/>
            <a:ext cx="1906532" cy="31474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07B737-BA36-1473-2CF1-09406714808F}"/>
              </a:ext>
            </a:extLst>
          </p:cNvPr>
          <p:cNvSpPr txBox="1"/>
          <p:nvPr/>
        </p:nvSpPr>
        <p:spPr>
          <a:xfrm>
            <a:off x="7949412" y="4537521"/>
            <a:ext cx="2401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/>
              <a:t>데이터 </a:t>
            </a:r>
            <a:r>
              <a:rPr lang="ko-KR" altLang="en-US" sz="2400" dirty="0" err="1"/>
              <a:t>전처리</a:t>
            </a:r>
            <a:endParaRPr lang="ko-KR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54DD4D-8D2D-8F91-6935-68941322E6EA}"/>
              </a:ext>
            </a:extLst>
          </p:cNvPr>
          <p:cNvSpPr txBox="1"/>
          <p:nvPr/>
        </p:nvSpPr>
        <p:spPr>
          <a:xfrm>
            <a:off x="13395660" y="4562325"/>
            <a:ext cx="1409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 err="1"/>
              <a:t>임베딩</a:t>
            </a:r>
            <a:endParaRPr lang="ko-KR" alt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2D6191-2FD8-E605-176F-F7EF53B552DB}"/>
              </a:ext>
            </a:extLst>
          </p:cNvPr>
          <p:cNvSpPr txBox="1"/>
          <p:nvPr/>
        </p:nvSpPr>
        <p:spPr>
          <a:xfrm>
            <a:off x="13241433" y="7824521"/>
            <a:ext cx="1786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6. </a:t>
            </a:r>
            <a:r>
              <a:rPr lang="ko-KR" altLang="en-US" sz="2400" dirty="0"/>
              <a:t>응답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E15D63-944E-F9F8-63C1-80DD38CD0948}"/>
              </a:ext>
            </a:extLst>
          </p:cNvPr>
          <p:cNvSpPr txBox="1"/>
          <p:nvPr/>
        </p:nvSpPr>
        <p:spPr>
          <a:xfrm>
            <a:off x="3456470" y="7947707"/>
            <a:ext cx="1786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4. </a:t>
            </a:r>
            <a:r>
              <a:rPr lang="ko-KR" altLang="en-US" sz="2400" dirty="0"/>
              <a:t>벡터 저장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370A4B-683D-5AC7-7950-FB2470599773}"/>
              </a:ext>
            </a:extLst>
          </p:cNvPr>
          <p:cNvSpPr txBox="1"/>
          <p:nvPr/>
        </p:nvSpPr>
        <p:spPr>
          <a:xfrm>
            <a:off x="7723144" y="7667864"/>
            <a:ext cx="2873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5. </a:t>
            </a:r>
            <a:r>
              <a:rPr lang="ko-KR" altLang="en-US" sz="2400" dirty="0"/>
              <a:t>사용자 질의 및 유사 문서 검색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756FC2AC-7317-B307-70A7-B09449C0DD0E}"/>
              </a:ext>
            </a:extLst>
          </p:cNvPr>
          <p:cNvSpPr/>
          <p:nvPr/>
        </p:nvSpPr>
        <p:spPr>
          <a:xfrm>
            <a:off x="6351931" y="4537521"/>
            <a:ext cx="879818" cy="624259"/>
          </a:xfrm>
          <a:prstGeom prst="rightArrow">
            <a:avLst/>
          </a:prstGeom>
          <a:solidFill>
            <a:srgbClr val="8C94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FBE2E519-3842-835B-F430-48A9FC5E4B0E}"/>
              </a:ext>
            </a:extLst>
          </p:cNvPr>
          <p:cNvSpPr/>
          <p:nvPr/>
        </p:nvSpPr>
        <p:spPr>
          <a:xfrm>
            <a:off x="11146669" y="4540610"/>
            <a:ext cx="879818" cy="624259"/>
          </a:xfrm>
          <a:prstGeom prst="rightArrow">
            <a:avLst/>
          </a:prstGeom>
          <a:solidFill>
            <a:srgbClr val="8C94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FA11B142-1BFC-D3A4-32D5-9CCE19F5C8F2}"/>
              </a:ext>
            </a:extLst>
          </p:cNvPr>
          <p:cNvSpPr/>
          <p:nvPr/>
        </p:nvSpPr>
        <p:spPr>
          <a:xfrm>
            <a:off x="6403417" y="7768806"/>
            <a:ext cx="879818" cy="624259"/>
          </a:xfrm>
          <a:prstGeom prst="rightArrow">
            <a:avLst/>
          </a:prstGeom>
          <a:solidFill>
            <a:srgbClr val="8C94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46A75C86-4376-A5A6-0AAA-F687EA0BB912}"/>
              </a:ext>
            </a:extLst>
          </p:cNvPr>
          <p:cNvSpPr/>
          <p:nvPr/>
        </p:nvSpPr>
        <p:spPr>
          <a:xfrm>
            <a:off x="11297393" y="7780017"/>
            <a:ext cx="879818" cy="624259"/>
          </a:xfrm>
          <a:prstGeom prst="rightArrow">
            <a:avLst/>
          </a:prstGeom>
          <a:solidFill>
            <a:srgbClr val="8C94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932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 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95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BC757276-A128-0781-C198-3E3CC080B025}"/>
              </a:ext>
            </a:extLst>
          </p:cNvPr>
          <p:cNvSpPr/>
          <p:nvPr/>
        </p:nvSpPr>
        <p:spPr>
          <a:xfrm>
            <a:off x="8156974" y="5273062"/>
            <a:ext cx="1684182" cy="1489568"/>
          </a:xfrm>
          <a:custGeom>
            <a:avLst/>
            <a:gdLst/>
            <a:ahLst/>
            <a:cxnLst/>
            <a:rect l="l" t="t" r="r" b="b"/>
            <a:pathLst>
              <a:path w="1409703" h="1409703">
                <a:moveTo>
                  <a:pt x="0" y="0"/>
                </a:moveTo>
                <a:lnTo>
                  <a:pt x="1409703" y="0"/>
                </a:lnTo>
                <a:lnTo>
                  <a:pt x="1409703" y="1409703"/>
                </a:lnTo>
                <a:lnTo>
                  <a:pt x="0" y="1409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E54D6B5F-BC04-1CA2-EB76-46F4A9342C39}"/>
              </a:ext>
            </a:extLst>
          </p:cNvPr>
          <p:cNvSpPr/>
          <p:nvPr/>
        </p:nvSpPr>
        <p:spPr>
          <a:xfrm rot="574387">
            <a:off x="5689939" y="4935886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5423AF5-9351-88EC-8AC8-09162B8F3ADE}"/>
              </a:ext>
            </a:extLst>
          </p:cNvPr>
          <p:cNvSpPr/>
          <p:nvPr/>
        </p:nvSpPr>
        <p:spPr>
          <a:xfrm>
            <a:off x="5689940" y="6077806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6757A6B-16C5-F81B-3982-B88E0F9F5E8C}"/>
              </a:ext>
            </a:extLst>
          </p:cNvPr>
          <p:cNvSpPr/>
          <p:nvPr/>
        </p:nvSpPr>
        <p:spPr>
          <a:xfrm rot="21025613" flipV="1">
            <a:off x="5713465" y="7313430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310770-BE03-B348-3086-C7A186ECC270}"/>
              </a:ext>
            </a:extLst>
          </p:cNvPr>
          <p:cNvSpPr txBox="1"/>
          <p:nvPr/>
        </p:nvSpPr>
        <p:spPr>
          <a:xfrm>
            <a:off x="8379945" y="6817867"/>
            <a:ext cx="1238240" cy="27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문서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30C6C-D06D-9A28-1477-073DD023293A}"/>
              </a:ext>
            </a:extLst>
          </p:cNvPr>
          <p:cNvSpPr txBox="1"/>
          <p:nvPr/>
        </p:nvSpPr>
        <p:spPr>
          <a:xfrm>
            <a:off x="2240441" y="2477711"/>
            <a:ext cx="3427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1. </a:t>
            </a:r>
            <a:r>
              <a:rPr lang="ko-KR" altLang="en-US" sz="4000" b="1" dirty="0"/>
              <a:t>데이터 수집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642128-D8A1-8FE3-35D8-AF25687A634C}"/>
              </a:ext>
            </a:extLst>
          </p:cNvPr>
          <p:cNvSpPr txBox="1"/>
          <p:nvPr/>
        </p:nvSpPr>
        <p:spPr>
          <a:xfrm>
            <a:off x="6276979" y="2535745"/>
            <a:ext cx="7693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외부에서 특정 도메인과 관련된 문서들을 수집</a:t>
            </a:r>
          </a:p>
        </p:txBody>
      </p:sp>
      <p:pic>
        <p:nvPicPr>
          <p:cNvPr id="36" name="Picture 2" descr="Doc 파일 형식 기호 - 무료 상호 작용개 아이콘">
            <a:extLst>
              <a:ext uri="{FF2B5EF4-FFF2-40B4-BE49-F238E27FC236}">
                <a16:creationId xmlns:a16="http://schemas.microsoft.com/office/drawing/2014/main" id="{6B5921FE-484B-8AF3-ECB4-90FE31A16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71" y="3885903"/>
            <a:ext cx="1380847" cy="138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Pdf Icon 이미지 – 찾아보기 44,269 스톡 사진, 벡터 및 비디오 | Adobe Stock">
            <a:extLst>
              <a:ext uri="{FF2B5EF4-FFF2-40B4-BE49-F238E27FC236}">
                <a16:creationId xmlns:a16="http://schemas.microsoft.com/office/drawing/2014/main" id="{A5EFD3CB-9F61-216F-4B4F-3909BE9CE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368" y="5539831"/>
            <a:ext cx="1937242" cy="193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웹 크롤러 - 무료 마케팅개 아이콘">
            <a:extLst>
              <a:ext uri="{FF2B5EF4-FFF2-40B4-BE49-F238E27FC236}">
                <a16:creationId xmlns:a16="http://schemas.microsoft.com/office/drawing/2014/main" id="{0C1FC0BA-6181-55F2-72C5-9E1E4D0AD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605" y="7633146"/>
            <a:ext cx="1245155" cy="12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2BEC945-7E5E-2B9E-641E-3F82DDEBA379}"/>
              </a:ext>
            </a:extLst>
          </p:cNvPr>
          <p:cNvSpPr txBox="1"/>
          <p:nvPr/>
        </p:nvSpPr>
        <p:spPr>
          <a:xfrm>
            <a:off x="4060966" y="5354619"/>
            <a:ext cx="138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Word </a:t>
            </a:r>
            <a:r>
              <a:rPr lang="ko-KR" altLang="en-US" dirty="0"/>
              <a:t>파일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EE2078-0824-B13B-24DA-758842A56D5F}"/>
              </a:ext>
            </a:extLst>
          </p:cNvPr>
          <p:cNvSpPr txBox="1"/>
          <p:nvPr/>
        </p:nvSpPr>
        <p:spPr>
          <a:xfrm>
            <a:off x="4288043" y="7054151"/>
            <a:ext cx="138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Pdf </a:t>
            </a:r>
            <a:r>
              <a:rPr lang="ko-KR" altLang="en-US" dirty="0"/>
              <a:t>파일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8BC698-607F-9CF4-A0CC-A9B9DD852069}"/>
              </a:ext>
            </a:extLst>
          </p:cNvPr>
          <p:cNvSpPr txBox="1"/>
          <p:nvPr/>
        </p:nvSpPr>
        <p:spPr>
          <a:xfrm>
            <a:off x="4072758" y="8978384"/>
            <a:ext cx="138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웹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83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95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5C6F8E35-0D2E-A723-50A2-73A0FE3A7CFA}"/>
              </a:ext>
            </a:extLst>
          </p:cNvPr>
          <p:cNvSpPr/>
          <p:nvPr/>
        </p:nvSpPr>
        <p:spPr>
          <a:xfrm>
            <a:off x="2708140" y="4593311"/>
            <a:ext cx="1684182" cy="1489568"/>
          </a:xfrm>
          <a:custGeom>
            <a:avLst/>
            <a:gdLst/>
            <a:ahLst/>
            <a:cxnLst/>
            <a:rect l="l" t="t" r="r" b="b"/>
            <a:pathLst>
              <a:path w="1409703" h="1409703">
                <a:moveTo>
                  <a:pt x="0" y="0"/>
                </a:moveTo>
                <a:lnTo>
                  <a:pt x="1409703" y="0"/>
                </a:lnTo>
                <a:lnTo>
                  <a:pt x="1409703" y="1409703"/>
                </a:lnTo>
                <a:lnTo>
                  <a:pt x="0" y="1409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1FDC6-C320-E367-E1D4-5F5D84C9AE58}"/>
              </a:ext>
            </a:extLst>
          </p:cNvPr>
          <p:cNvSpPr txBox="1"/>
          <p:nvPr/>
        </p:nvSpPr>
        <p:spPr>
          <a:xfrm>
            <a:off x="2924195" y="6117586"/>
            <a:ext cx="1238240" cy="27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문서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E6424-55C6-D679-6DC0-0329534305C6}"/>
              </a:ext>
            </a:extLst>
          </p:cNvPr>
          <p:cNvSpPr txBox="1"/>
          <p:nvPr/>
        </p:nvSpPr>
        <p:spPr>
          <a:xfrm>
            <a:off x="2162726" y="2376764"/>
            <a:ext cx="3911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2.</a:t>
            </a:r>
            <a:r>
              <a:rPr lang="ko-KR" altLang="en-US" sz="4000" b="1" dirty="0"/>
              <a:t>데이터 </a:t>
            </a:r>
            <a:r>
              <a:rPr lang="ko-KR" altLang="en-US" sz="4000" b="1" dirty="0" err="1"/>
              <a:t>전처리</a:t>
            </a:r>
            <a:endParaRPr lang="ko-KR" altLang="en-US" sz="4000" b="1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5D5AE28A-D1F6-CE56-E1F4-84AF726B7CC8}"/>
              </a:ext>
            </a:extLst>
          </p:cNvPr>
          <p:cNvSpPr/>
          <p:nvPr/>
        </p:nvSpPr>
        <p:spPr>
          <a:xfrm>
            <a:off x="4841740" y="5254636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8" descr="문서 - 무료 상호 작용개 아이콘">
            <a:extLst>
              <a:ext uri="{FF2B5EF4-FFF2-40B4-BE49-F238E27FC236}">
                <a16:creationId xmlns:a16="http://schemas.microsoft.com/office/drawing/2014/main" id="{82DDB953-5F03-9A60-FB4E-53B1F5D01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0113" y="3702051"/>
            <a:ext cx="1177649" cy="117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문서 - 무료 상호 작용개 아이콘">
            <a:extLst>
              <a:ext uri="{FF2B5EF4-FFF2-40B4-BE49-F238E27FC236}">
                <a16:creationId xmlns:a16="http://schemas.microsoft.com/office/drawing/2014/main" id="{12B1EF58-A00E-AA39-DB78-AED899523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0113" y="4761549"/>
            <a:ext cx="1177649" cy="117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문서 - 무료 상호 작용개 아이콘">
            <a:extLst>
              <a:ext uri="{FF2B5EF4-FFF2-40B4-BE49-F238E27FC236}">
                <a16:creationId xmlns:a16="http://schemas.microsoft.com/office/drawing/2014/main" id="{F32C90F6-C6EB-19C7-57CF-44A8B5AF2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7806" y="6078044"/>
            <a:ext cx="1177649" cy="117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BD828BA-F6D2-FCDD-FE31-B0296B5D4BE0}"/>
              </a:ext>
            </a:extLst>
          </p:cNvPr>
          <p:cNvSpPr/>
          <p:nvPr/>
        </p:nvSpPr>
        <p:spPr>
          <a:xfrm rot="574387">
            <a:off x="13770639" y="6454220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C2EDEE5C-2302-AB59-E7A2-C3DA3045F799}"/>
              </a:ext>
            </a:extLst>
          </p:cNvPr>
          <p:cNvSpPr/>
          <p:nvPr/>
        </p:nvSpPr>
        <p:spPr>
          <a:xfrm>
            <a:off x="13703816" y="5247419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32B033AA-D804-5A69-5561-E3CC04F4D541}"/>
              </a:ext>
            </a:extLst>
          </p:cNvPr>
          <p:cNvSpPr/>
          <p:nvPr/>
        </p:nvSpPr>
        <p:spPr>
          <a:xfrm rot="21025613" flipV="1">
            <a:off x="13770640" y="4067515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2DE6E2-032B-5C28-988A-41A7A0E08681}"/>
              </a:ext>
            </a:extLst>
          </p:cNvPr>
          <p:cNvSpPr txBox="1"/>
          <p:nvPr/>
        </p:nvSpPr>
        <p:spPr>
          <a:xfrm>
            <a:off x="7071636" y="6220418"/>
            <a:ext cx="102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3599AF7-3585-D74B-41C0-6F0CAC2318C9}"/>
              </a:ext>
            </a:extLst>
          </p:cNvPr>
          <p:cNvSpPr/>
          <p:nvPr/>
        </p:nvSpPr>
        <p:spPr>
          <a:xfrm>
            <a:off x="15373638" y="5577629"/>
            <a:ext cx="1957982" cy="44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39E065-139D-D49A-B4B1-F7B34012E7DA}"/>
              </a:ext>
            </a:extLst>
          </p:cNvPr>
          <p:cNvSpPr/>
          <p:nvPr/>
        </p:nvSpPr>
        <p:spPr>
          <a:xfrm>
            <a:off x="15329946" y="4750357"/>
            <a:ext cx="1957982" cy="44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4934226-6EAD-D562-3A76-2E88A3D76B4B}"/>
              </a:ext>
            </a:extLst>
          </p:cNvPr>
          <p:cNvSpPr/>
          <p:nvPr/>
        </p:nvSpPr>
        <p:spPr>
          <a:xfrm>
            <a:off x="15411330" y="6078043"/>
            <a:ext cx="1957982" cy="811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4AE2A0-C6AC-4B4A-1F9A-22355F382391}"/>
              </a:ext>
            </a:extLst>
          </p:cNvPr>
          <p:cNvSpPr/>
          <p:nvPr/>
        </p:nvSpPr>
        <p:spPr>
          <a:xfrm>
            <a:off x="15327179" y="4123543"/>
            <a:ext cx="1957982" cy="811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D8FDBA-5045-FFFF-C6BF-DAA9F318C908}"/>
              </a:ext>
            </a:extLst>
          </p:cNvPr>
          <p:cNvSpPr txBox="1"/>
          <p:nvPr/>
        </p:nvSpPr>
        <p:spPr>
          <a:xfrm>
            <a:off x="6605426" y="2448992"/>
            <a:ext cx="7810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추출한 문서 내용을 벡터화 가능한 형태로 정리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A8F78C-2BA1-130E-23BE-E7ED4D97F4EC}"/>
              </a:ext>
            </a:extLst>
          </p:cNvPr>
          <p:cNvSpPr txBox="1"/>
          <p:nvPr/>
        </p:nvSpPr>
        <p:spPr>
          <a:xfrm>
            <a:off x="2395946" y="7607531"/>
            <a:ext cx="104744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데이터를 분할 하는 이유</a:t>
            </a:r>
            <a:endParaRPr lang="en-US" altLang="ko-KR" sz="3600" b="1" dirty="0"/>
          </a:p>
          <a:p>
            <a:pPr marL="342900" indent="-342900">
              <a:buAutoNum type="arabicPeriod"/>
            </a:pPr>
            <a:r>
              <a:rPr lang="en-US" altLang="ko-KR" sz="2800" dirty="0" err="1"/>
              <a:t>Llm</a:t>
            </a:r>
            <a:r>
              <a:rPr lang="ko-KR" altLang="en-US" sz="2800" dirty="0"/>
              <a:t>은 한 번에 처리할 수 있는 토큰 수가 제한되어 있음</a:t>
            </a:r>
            <a:endParaRPr lang="en-US" altLang="ko-KR" sz="2800" dirty="0"/>
          </a:p>
          <a:p>
            <a:pPr marL="342900" indent="-342900">
              <a:buAutoNum type="arabicPeriod"/>
            </a:pPr>
            <a:r>
              <a:rPr lang="ko-KR" altLang="en-US" sz="2800" dirty="0"/>
              <a:t>정밀한 단위로 </a:t>
            </a:r>
            <a:r>
              <a:rPr lang="ko-KR" altLang="en-US" sz="2800" dirty="0" err="1"/>
              <a:t>임베딩이</a:t>
            </a:r>
            <a:r>
              <a:rPr lang="ko-KR" altLang="en-US" sz="2800" dirty="0"/>
              <a:t> 가능 하여 정확도 향상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03189198-9BD4-7A27-5F1F-DC1068B0A2C8}"/>
              </a:ext>
            </a:extLst>
          </p:cNvPr>
          <p:cNvSpPr/>
          <p:nvPr/>
        </p:nvSpPr>
        <p:spPr>
          <a:xfrm>
            <a:off x="8870568" y="5276812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2" descr="Doc 파일 형식 기호 - 무료 상호 작용개 아이콘">
            <a:extLst>
              <a:ext uri="{FF2B5EF4-FFF2-40B4-BE49-F238E27FC236}">
                <a16:creationId xmlns:a16="http://schemas.microsoft.com/office/drawing/2014/main" id="{91A550BA-11F5-DD70-8C97-FEAE63E9C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974" y="4668479"/>
            <a:ext cx="1380847" cy="138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문서 - 무료 상호 작용개 아이콘">
            <a:extLst>
              <a:ext uri="{FF2B5EF4-FFF2-40B4-BE49-F238E27FC236}">
                <a16:creationId xmlns:a16="http://schemas.microsoft.com/office/drawing/2014/main" id="{076FFE26-91F8-DB83-C174-CB5FCFD8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946" y="4879700"/>
            <a:ext cx="1177649" cy="117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6AF1BFD-B808-820F-BE17-32EE3064F39C}"/>
              </a:ext>
            </a:extLst>
          </p:cNvPr>
          <p:cNvSpPr txBox="1"/>
          <p:nvPr/>
        </p:nvSpPr>
        <p:spPr>
          <a:xfrm>
            <a:off x="8741827" y="4928287"/>
            <a:ext cx="1736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문서를 텍스화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370F27-2749-2DBC-921D-684E80850F89}"/>
              </a:ext>
            </a:extLst>
          </p:cNvPr>
          <p:cNvSpPr txBox="1"/>
          <p:nvPr/>
        </p:nvSpPr>
        <p:spPr>
          <a:xfrm>
            <a:off x="10947786" y="6131222"/>
            <a:ext cx="1736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3193709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3F094E6-800F-EEE2-8779-CE75A8334B3B}"/>
              </a:ext>
            </a:extLst>
          </p:cNvPr>
          <p:cNvSpPr txBox="1"/>
          <p:nvPr/>
        </p:nvSpPr>
        <p:spPr>
          <a:xfrm>
            <a:off x="2289108" y="2520057"/>
            <a:ext cx="2695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3. </a:t>
            </a:r>
            <a:r>
              <a:rPr lang="ko-KR" altLang="en-US" sz="4000" b="1" dirty="0" err="1"/>
              <a:t>임베딩</a:t>
            </a:r>
            <a:endParaRPr lang="ko-KR" altLang="en-US" sz="4000" b="1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3A5CC8A-4B7A-61C4-DA49-B32FC0051918}"/>
              </a:ext>
            </a:extLst>
          </p:cNvPr>
          <p:cNvGrpSpPr/>
          <p:nvPr/>
        </p:nvGrpSpPr>
        <p:grpSpPr>
          <a:xfrm>
            <a:off x="2795128" y="5257938"/>
            <a:ext cx="3353566" cy="3522421"/>
            <a:chOff x="2285941" y="4327865"/>
            <a:chExt cx="3128779" cy="3553642"/>
          </a:xfrm>
        </p:grpSpPr>
        <p:pic>
          <p:nvPicPr>
            <p:cNvPr id="25" name="Picture 8" descr="문서 - 무료 상호 작용개 아이콘">
              <a:extLst>
                <a:ext uri="{FF2B5EF4-FFF2-40B4-BE49-F238E27FC236}">
                  <a16:creationId xmlns:a16="http://schemas.microsoft.com/office/drawing/2014/main" id="{42D5611A-6F78-9B79-F4B2-410891584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875" y="4327865"/>
              <a:ext cx="1177649" cy="1177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8" descr="문서 - 무료 상호 작용개 아이콘">
              <a:extLst>
                <a:ext uri="{FF2B5EF4-FFF2-40B4-BE49-F238E27FC236}">
                  <a16:creationId xmlns:a16="http://schemas.microsoft.com/office/drawing/2014/main" id="{3F706187-285D-1DA0-BCA4-9967C8D9E4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875" y="5387363"/>
              <a:ext cx="1177649" cy="1177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8" descr="문서 - 무료 상호 작용개 아이콘">
              <a:extLst>
                <a:ext uri="{FF2B5EF4-FFF2-40B4-BE49-F238E27FC236}">
                  <a16:creationId xmlns:a16="http://schemas.microsoft.com/office/drawing/2014/main" id="{86AC944F-DCB2-802F-F58D-82C787F08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568" y="6703858"/>
              <a:ext cx="1177649" cy="1177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3E9B555-AFEB-5F31-AB9F-689943CD0088}"/>
                </a:ext>
              </a:extLst>
            </p:cNvPr>
            <p:cNvSpPr/>
            <p:nvPr/>
          </p:nvSpPr>
          <p:spPr>
            <a:xfrm>
              <a:off x="2332400" y="6203443"/>
              <a:ext cx="1957982" cy="440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2A4EF17-27FB-CD33-0FC8-5E89EB09DB87}"/>
                </a:ext>
              </a:extLst>
            </p:cNvPr>
            <p:cNvSpPr/>
            <p:nvPr/>
          </p:nvSpPr>
          <p:spPr>
            <a:xfrm>
              <a:off x="2288708" y="5376171"/>
              <a:ext cx="1957982" cy="440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F72DE40-D61F-30FF-4FFA-2248D3472970}"/>
                </a:ext>
              </a:extLst>
            </p:cNvPr>
            <p:cNvSpPr/>
            <p:nvPr/>
          </p:nvSpPr>
          <p:spPr>
            <a:xfrm>
              <a:off x="2370092" y="6703857"/>
              <a:ext cx="1957982" cy="8110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591B2C0-18ED-A074-3290-1C2545BDC98B}"/>
                </a:ext>
              </a:extLst>
            </p:cNvPr>
            <p:cNvSpPr/>
            <p:nvPr/>
          </p:nvSpPr>
          <p:spPr>
            <a:xfrm>
              <a:off x="2285941" y="4749357"/>
              <a:ext cx="1957982" cy="8110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AutoShape 75">
              <a:extLst>
                <a:ext uri="{FF2B5EF4-FFF2-40B4-BE49-F238E27FC236}">
                  <a16:creationId xmlns:a16="http://schemas.microsoft.com/office/drawing/2014/main" id="{02290D15-5E10-CC76-88F2-C5F81F507687}"/>
                </a:ext>
              </a:extLst>
            </p:cNvPr>
            <p:cNvSpPr/>
            <p:nvPr/>
          </p:nvSpPr>
          <p:spPr>
            <a:xfrm>
              <a:off x="4572000" y="4495801"/>
              <a:ext cx="84272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AutoShape 75">
              <a:extLst>
                <a:ext uri="{FF2B5EF4-FFF2-40B4-BE49-F238E27FC236}">
                  <a16:creationId xmlns:a16="http://schemas.microsoft.com/office/drawing/2014/main" id="{50A2B282-F04D-CF36-E4DB-8059DA4EFFCA}"/>
                </a:ext>
              </a:extLst>
            </p:cNvPr>
            <p:cNvSpPr/>
            <p:nvPr/>
          </p:nvSpPr>
          <p:spPr>
            <a:xfrm>
              <a:off x="4572000" y="6009052"/>
              <a:ext cx="84272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AutoShape 75">
              <a:extLst>
                <a:ext uri="{FF2B5EF4-FFF2-40B4-BE49-F238E27FC236}">
                  <a16:creationId xmlns:a16="http://schemas.microsoft.com/office/drawing/2014/main" id="{6B0A5378-BA57-C8A4-0151-3E773FC9EA43}"/>
                </a:ext>
              </a:extLst>
            </p:cNvPr>
            <p:cNvSpPr/>
            <p:nvPr/>
          </p:nvSpPr>
          <p:spPr>
            <a:xfrm>
              <a:off x="4572000" y="7677369"/>
              <a:ext cx="84272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2" name="TextBox 78">
            <a:extLst>
              <a:ext uri="{FF2B5EF4-FFF2-40B4-BE49-F238E27FC236}">
                <a16:creationId xmlns:a16="http://schemas.microsoft.com/office/drawing/2014/main" id="{25E1B661-CDA5-C830-EE15-B54279E3C141}"/>
              </a:ext>
            </a:extLst>
          </p:cNvPr>
          <p:cNvSpPr txBox="1"/>
          <p:nvPr/>
        </p:nvSpPr>
        <p:spPr>
          <a:xfrm>
            <a:off x="6705600" y="5256344"/>
            <a:ext cx="4573777" cy="29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[ 0.2, 0.5, 0.1, 0.7, ....... ]</a:t>
            </a:r>
          </a:p>
        </p:txBody>
      </p:sp>
      <p:sp>
        <p:nvSpPr>
          <p:cNvPr id="43" name="TextBox 79">
            <a:extLst>
              <a:ext uri="{FF2B5EF4-FFF2-40B4-BE49-F238E27FC236}">
                <a16:creationId xmlns:a16="http://schemas.microsoft.com/office/drawing/2014/main" id="{F5A8CA83-5C70-D4E7-B384-2FC3793B1C41}"/>
              </a:ext>
            </a:extLst>
          </p:cNvPr>
          <p:cNvSpPr txBox="1"/>
          <p:nvPr/>
        </p:nvSpPr>
        <p:spPr>
          <a:xfrm>
            <a:off x="6832650" y="6778174"/>
            <a:ext cx="4970272" cy="29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[ 0.21, 0.52, 0.12, 0.87, ........ ]</a:t>
            </a:r>
          </a:p>
        </p:txBody>
      </p:sp>
      <p:sp>
        <p:nvSpPr>
          <p:cNvPr id="44" name="TextBox 80">
            <a:extLst>
              <a:ext uri="{FF2B5EF4-FFF2-40B4-BE49-F238E27FC236}">
                <a16:creationId xmlns:a16="http://schemas.microsoft.com/office/drawing/2014/main" id="{EFF3B236-86A9-D8DF-B742-33500037E209}"/>
              </a:ext>
            </a:extLst>
          </p:cNvPr>
          <p:cNvSpPr txBox="1"/>
          <p:nvPr/>
        </p:nvSpPr>
        <p:spPr>
          <a:xfrm>
            <a:off x="7000584" y="8429548"/>
            <a:ext cx="3908502" cy="29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[ 0.9, 0.1, 0.8, 0.3 , ......]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6E2D27-322F-0FB1-D622-669BBA35D6D8}"/>
              </a:ext>
            </a:extLst>
          </p:cNvPr>
          <p:cNvSpPr txBox="1"/>
          <p:nvPr/>
        </p:nvSpPr>
        <p:spPr>
          <a:xfrm>
            <a:off x="2438400" y="3405587"/>
            <a:ext cx="1485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- </a:t>
            </a:r>
            <a:r>
              <a:rPr lang="ko-KR" altLang="en-US" sz="28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자연어를 수치화 된 벡터로 변환하고</a:t>
            </a:r>
            <a:r>
              <a:rPr lang="en-US" altLang="ko-KR" sz="28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, </a:t>
            </a:r>
            <a:r>
              <a:rPr lang="ko-KR" altLang="en-US" sz="28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이 벡터를 통해 데이터간 유사도나 관계를 수학적으로 계산할 수 있게 한다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0730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9004E9-9DF0-315C-F433-49EF6176A222}"/>
              </a:ext>
            </a:extLst>
          </p:cNvPr>
          <p:cNvSpPr txBox="1"/>
          <p:nvPr/>
        </p:nvSpPr>
        <p:spPr>
          <a:xfrm>
            <a:off x="2292152" y="2431774"/>
            <a:ext cx="31920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4. </a:t>
            </a:r>
            <a:r>
              <a:rPr lang="ko-KR" altLang="en-US" sz="4000" b="1" dirty="0"/>
              <a:t>벡터 저장</a:t>
            </a:r>
          </a:p>
        </p:txBody>
      </p:sp>
      <p:sp>
        <p:nvSpPr>
          <p:cNvPr id="3" name="TextBox 78">
            <a:extLst>
              <a:ext uri="{FF2B5EF4-FFF2-40B4-BE49-F238E27FC236}">
                <a16:creationId xmlns:a16="http://schemas.microsoft.com/office/drawing/2014/main" id="{1663BB98-C00C-3070-794F-1EB6BCE68E67}"/>
              </a:ext>
            </a:extLst>
          </p:cNvPr>
          <p:cNvSpPr txBox="1"/>
          <p:nvPr/>
        </p:nvSpPr>
        <p:spPr>
          <a:xfrm>
            <a:off x="2448653" y="4517401"/>
            <a:ext cx="302313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[ 0.2, 0.5, 0.1, 0.7, …. ]</a:t>
            </a:r>
          </a:p>
        </p:txBody>
      </p:sp>
      <p:sp>
        <p:nvSpPr>
          <p:cNvPr id="4" name="TextBox 79">
            <a:extLst>
              <a:ext uri="{FF2B5EF4-FFF2-40B4-BE49-F238E27FC236}">
                <a16:creationId xmlns:a16="http://schemas.microsoft.com/office/drawing/2014/main" id="{8DA56417-9EB1-1AEA-1B12-F1EB1AC33E5E}"/>
              </a:ext>
            </a:extLst>
          </p:cNvPr>
          <p:cNvSpPr txBox="1"/>
          <p:nvPr/>
        </p:nvSpPr>
        <p:spPr>
          <a:xfrm>
            <a:off x="2543132" y="6065562"/>
            <a:ext cx="338660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[ 0.21, 0.52, 0.12, 0.87, …. ]</a:t>
            </a:r>
          </a:p>
        </p:txBody>
      </p:sp>
      <p:sp>
        <p:nvSpPr>
          <p:cNvPr id="20" name="TextBox 80">
            <a:extLst>
              <a:ext uri="{FF2B5EF4-FFF2-40B4-BE49-F238E27FC236}">
                <a16:creationId xmlns:a16="http://schemas.microsoft.com/office/drawing/2014/main" id="{214CB14C-1555-A574-6195-F81AC7844D14}"/>
              </a:ext>
            </a:extLst>
          </p:cNvPr>
          <p:cNvSpPr txBox="1"/>
          <p:nvPr/>
        </p:nvSpPr>
        <p:spPr>
          <a:xfrm>
            <a:off x="2448653" y="7586334"/>
            <a:ext cx="3035582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[ 0.9, 0.1, 0.8, 0.3, …. ]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8A3DEBB-E576-0F10-28FB-708AAED376B3}"/>
              </a:ext>
            </a:extLst>
          </p:cNvPr>
          <p:cNvSpPr/>
          <p:nvPr/>
        </p:nvSpPr>
        <p:spPr>
          <a:xfrm rot="574387">
            <a:off x="7538991" y="4840549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E4D2F5FA-044E-8ACE-B000-EC39D1EF868A}"/>
              </a:ext>
            </a:extLst>
          </p:cNvPr>
          <p:cNvSpPr/>
          <p:nvPr/>
        </p:nvSpPr>
        <p:spPr>
          <a:xfrm>
            <a:off x="7538992" y="5982469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D892E227-27FC-9918-5731-887B10CF387B}"/>
              </a:ext>
            </a:extLst>
          </p:cNvPr>
          <p:cNvSpPr/>
          <p:nvPr/>
        </p:nvSpPr>
        <p:spPr>
          <a:xfrm rot="21025613" flipV="1">
            <a:off x="7562517" y="7218093"/>
            <a:ext cx="1478948" cy="386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Freeform 95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E595C2B1-C445-9853-7F70-54572F99209D}"/>
              </a:ext>
            </a:extLst>
          </p:cNvPr>
          <p:cNvSpPr/>
          <p:nvPr/>
        </p:nvSpPr>
        <p:spPr>
          <a:xfrm>
            <a:off x="10087130" y="5143500"/>
            <a:ext cx="1684182" cy="1489568"/>
          </a:xfrm>
          <a:custGeom>
            <a:avLst/>
            <a:gdLst/>
            <a:ahLst/>
            <a:cxnLst/>
            <a:rect l="l" t="t" r="r" b="b"/>
            <a:pathLst>
              <a:path w="1409703" h="1409703">
                <a:moveTo>
                  <a:pt x="0" y="0"/>
                </a:moveTo>
                <a:lnTo>
                  <a:pt x="1409703" y="0"/>
                </a:lnTo>
                <a:lnTo>
                  <a:pt x="1409703" y="1409703"/>
                </a:lnTo>
                <a:lnTo>
                  <a:pt x="0" y="1409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82AC63-A535-12AD-4C1E-14DF13F8FE66}"/>
              </a:ext>
            </a:extLst>
          </p:cNvPr>
          <p:cNvSpPr txBox="1"/>
          <p:nvPr/>
        </p:nvSpPr>
        <p:spPr>
          <a:xfrm>
            <a:off x="9633610" y="6612986"/>
            <a:ext cx="249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벡터 스토어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13833-4E6F-F2EB-A892-6486A502FFD0}"/>
              </a:ext>
            </a:extLst>
          </p:cNvPr>
          <p:cNvSpPr txBox="1"/>
          <p:nvPr/>
        </p:nvSpPr>
        <p:spPr>
          <a:xfrm>
            <a:off x="6553200" y="2503659"/>
            <a:ext cx="716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임베딩한</a:t>
            </a:r>
            <a:r>
              <a:rPr lang="ko-KR" altLang="en-US" sz="2800" dirty="0"/>
              <a:t> 벡터 값들을 벡터 스토어에 저장함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00716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32E20B-6236-5355-5216-B55A89593C5C}"/>
              </a:ext>
            </a:extLst>
          </p:cNvPr>
          <p:cNvSpPr txBox="1"/>
          <p:nvPr/>
        </p:nvSpPr>
        <p:spPr>
          <a:xfrm>
            <a:off x="2106485" y="2252486"/>
            <a:ext cx="6856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5. </a:t>
            </a:r>
            <a:r>
              <a:rPr lang="ko-KR" altLang="en-US" sz="4000" b="1" dirty="0"/>
              <a:t>사용자 질의 및 유사도 검색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4DF3B8C-2406-793B-4226-6C49A962D349}"/>
              </a:ext>
            </a:extLst>
          </p:cNvPr>
          <p:cNvGrpSpPr/>
          <p:nvPr/>
        </p:nvGrpSpPr>
        <p:grpSpPr>
          <a:xfrm>
            <a:off x="2106485" y="3180161"/>
            <a:ext cx="14997119" cy="5970662"/>
            <a:chOff x="1963233" y="3807914"/>
            <a:chExt cx="12688695" cy="5206099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C0F5F63-5E44-9D25-236F-DCBAAA928E78}"/>
                </a:ext>
              </a:extLst>
            </p:cNvPr>
            <p:cNvGrpSpPr/>
            <p:nvPr/>
          </p:nvGrpSpPr>
          <p:grpSpPr>
            <a:xfrm>
              <a:off x="6629400" y="3807914"/>
              <a:ext cx="8022528" cy="4882934"/>
              <a:chOff x="7010400" y="4202884"/>
              <a:chExt cx="8654823" cy="576667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0491C3-EA47-8286-B5E3-7F3F98D7E4CA}"/>
                  </a:ext>
                </a:extLst>
              </p:cNvPr>
              <p:cNvSpPr txBox="1"/>
              <p:nvPr/>
            </p:nvSpPr>
            <p:spPr>
              <a:xfrm>
                <a:off x="7505046" y="9206248"/>
                <a:ext cx="1506046" cy="76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사용자  벡터 질문</a:t>
                </a:r>
              </a:p>
            </p:txBody>
          </p:sp>
          <p:sp>
            <p:nvSpPr>
              <p:cNvPr id="20" name="Freeform 95" descr="블랙, 어둠이(가) 표시된 사진  AI가 생성한 콘텐츠는 부정확할 수 있습니다.">
                <a:extLst>
                  <a:ext uri="{FF2B5EF4-FFF2-40B4-BE49-F238E27FC236}">
                    <a16:creationId xmlns:a16="http://schemas.microsoft.com/office/drawing/2014/main" id="{1EF7CEB1-3390-805A-9031-8D480C2B85ED}"/>
                  </a:ext>
                </a:extLst>
              </p:cNvPr>
              <p:cNvSpPr/>
              <p:nvPr/>
            </p:nvSpPr>
            <p:spPr>
              <a:xfrm>
                <a:off x="7415981" y="5477968"/>
                <a:ext cx="1684182" cy="1489568"/>
              </a:xfrm>
              <a:custGeom>
                <a:avLst/>
                <a:gdLst/>
                <a:ahLst/>
                <a:cxnLst/>
                <a:rect l="l" t="t" r="r" b="b"/>
                <a:pathLst>
                  <a:path w="1409703" h="1409703">
                    <a:moveTo>
                      <a:pt x="0" y="0"/>
                    </a:moveTo>
                    <a:lnTo>
                      <a:pt x="1409703" y="0"/>
                    </a:lnTo>
                    <a:lnTo>
                      <a:pt x="1409703" y="1409703"/>
                    </a:lnTo>
                    <a:lnTo>
                      <a:pt x="0" y="14097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224888-AA8C-D5CB-8CBD-DB135E559A67}"/>
                  </a:ext>
                </a:extLst>
              </p:cNvPr>
              <p:cNvSpPr txBox="1"/>
              <p:nvPr/>
            </p:nvSpPr>
            <p:spPr>
              <a:xfrm>
                <a:off x="7010400" y="6906507"/>
                <a:ext cx="2495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벡터 스토어</a:t>
                </a:r>
              </a:p>
            </p:txBody>
          </p:sp>
          <p:pic>
            <p:nvPicPr>
              <p:cNvPr id="22" name="Picture 8" descr="문서 - 무료 상호 작용개 아이콘">
                <a:extLst>
                  <a:ext uri="{FF2B5EF4-FFF2-40B4-BE49-F238E27FC236}">
                    <a16:creationId xmlns:a16="http://schemas.microsoft.com/office/drawing/2014/main" id="{3B5E8CB9-AF5E-965C-FCF9-5D0377D0AF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69247" y="7926098"/>
                <a:ext cx="1177649" cy="11776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AutoShape 79">
                <a:extLst>
                  <a:ext uri="{FF2B5EF4-FFF2-40B4-BE49-F238E27FC236}">
                    <a16:creationId xmlns:a16="http://schemas.microsoft.com/office/drawing/2014/main" id="{04A61EC1-A36B-0C9A-F8B8-42E7CE1999B4}"/>
                  </a:ext>
                </a:extLst>
              </p:cNvPr>
              <p:cNvSpPr/>
              <p:nvPr/>
            </p:nvSpPr>
            <p:spPr>
              <a:xfrm flipV="1">
                <a:off x="9854381" y="6368138"/>
                <a:ext cx="1252133" cy="0"/>
              </a:xfrm>
              <a:prstGeom prst="line">
                <a:avLst/>
              </a:prstGeom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AutoShape 80">
                <a:extLst>
                  <a:ext uri="{FF2B5EF4-FFF2-40B4-BE49-F238E27FC236}">
                    <a16:creationId xmlns:a16="http://schemas.microsoft.com/office/drawing/2014/main" id="{D82ACF3C-D89F-D5D1-4EC8-ED4C8F66311C}"/>
                  </a:ext>
                </a:extLst>
              </p:cNvPr>
              <p:cNvSpPr/>
              <p:nvPr/>
            </p:nvSpPr>
            <p:spPr>
              <a:xfrm>
                <a:off x="9854381" y="9206251"/>
                <a:ext cx="1252133" cy="0"/>
              </a:xfrm>
              <a:prstGeom prst="line">
                <a:avLst/>
              </a:prstGeom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AutoShape 81">
                <a:extLst>
                  <a:ext uri="{FF2B5EF4-FFF2-40B4-BE49-F238E27FC236}">
                    <a16:creationId xmlns:a16="http://schemas.microsoft.com/office/drawing/2014/main" id="{70B2B044-A841-6A95-06BA-D9ED1DE322CF}"/>
                  </a:ext>
                </a:extLst>
              </p:cNvPr>
              <p:cNvSpPr/>
              <p:nvPr/>
            </p:nvSpPr>
            <p:spPr>
              <a:xfrm>
                <a:off x="11106514" y="6368138"/>
                <a:ext cx="0" cy="2838109"/>
              </a:xfrm>
              <a:prstGeom prst="line">
                <a:avLst/>
              </a:prstGeom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AutoShape 82">
                <a:extLst>
                  <a:ext uri="{FF2B5EF4-FFF2-40B4-BE49-F238E27FC236}">
                    <a16:creationId xmlns:a16="http://schemas.microsoft.com/office/drawing/2014/main" id="{D908862C-94DF-30AD-542B-A0299551717B}"/>
                  </a:ext>
                </a:extLst>
              </p:cNvPr>
              <p:cNvSpPr/>
              <p:nvPr/>
            </p:nvSpPr>
            <p:spPr>
              <a:xfrm>
                <a:off x="11106514" y="7585175"/>
                <a:ext cx="2496826" cy="0"/>
              </a:xfrm>
              <a:prstGeom prst="line">
                <a:avLst/>
              </a:prstGeom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E50A2C-9F01-AD1E-1401-176C082863F0}"/>
                  </a:ext>
                </a:extLst>
              </p:cNvPr>
              <p:cNvSpPr txBox="1"/>
              <p:nvPr/>
            </p:nvSpPr>
            <p:spPr>
              <a:xfrm>
                <a:off x="11640487" y="7115608"/>
                <a:ext cx="2133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유사도 계산</a:t>
                </a:r>
              </a:p>
            </p:txBody>
          </p:sp>
          <p:sp>
            <p:nvSpPr>
              <p:cNvPr id="35" name="Freeform 95" descr="블랙, 어둠이(가) 표시된 사진  AI가 생성한 콘텐츠는 부정확할 수 있습니다.">
                <a:extLst>
                  <a:ext uri="{FF2B5EF4-FFF2-40B4-BE49-F238E27FC236}">
                    <a16:creationId xmlns:a16="http://schemas.microsoft.com/office/drawing/2014/main" id="{A5C46ABE-D2D8-BB64-8BE6-0368D7A25529}"/>
                  </a:ext>
                </a:extLst>
              </p:cNvPr>
              <p:cNvSpPr/>
              <p:nvPr/>
            </p:nvSpPr>
            <p:spPr>
              <a:xfrm>
                <a:off x="13887228" y="4202884"/>
                <a:ext cx="1684182" cy="1489568"/>
              </a:xfrm>
              <a:custGeom>
                <a:avLst/>
                <a:gdLst/>
                <a:ahLst/>
                <a:cxnLst/>
                <a:rect l="l" t="t" r="r" b="b"/>
                <a:pathLst>
                  <a:path w="1409703" h="1409703">
                    <a:moveTo>
                      <a:pt x="0" y="0"/>
                    </a:moveTo>
                    <a:lnTo>
                      <a:pt x="1409703" y="0"/>
                    </a:lnTo>
                    <a:lnTo>
                      <a:pt x="1409703" y="1409703"/>
                    </a:lnTo>
                    <a:lnTo>
                      <a:pt x="0" y="14097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pic>
            <p:nvPicPr>
              <p:cNvPr id="36" name="그림 35" descr="블랙, 어둠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F973B8EF-0AD5-2319-9B3F-961364442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115952" y="6906348"/>
                <a:ext cx="1238240" cy="1177480"/>
              </a:xfrm>
              <a:prstGeom prst="rect">
                <a:avLst/>
              </a:prstGeom>
            </p:spPr>
          </p:pic>
          <p:sp>
            <p:nvSpPr>
              <p:cNvPr id="37" name="AutoShape 82">
                <a:extLst>
                  <a:ext uri="{FF2B5EF4-FFF2-40B4-BE49-F238E27FC236}">
                    <a16:creationId xmlns:a16="http://schemas.microsoft.com/office/drawing/2014/main" id="{61D02B17-F843-C7A0-E007-A9112CF83180}"/>
                  </a:ext>
                </a:extLst>
              </p:cNvPr>
              <p:cNvSpPr/>
              <p:nvPr/>
            </p:nvSpPr>
            <p:spPr>
              <a:xfrm>
                <a:off x="14731181" y="5960958"/>
                <a:ext cx="0" cy="672293"/>
              </a:xfrm>
              <a:prstGeom prst="line">
                <a:avLst/>
              </a:prstGeom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8D5CD7-B3BD-8449-D9F2-B484DC99D9FF}"/>
                  </a:ext>
                </a:extLst>
              </p:cNvPr>
              <p:cNvSpPr txBox="1"/>
              <p:nvPr/>
            </p:nvSpPr>
            <p:spPr>
              <a:xfrm>
                <a:off x="14165612" y="5626339"/>
                <a:ext cx="11311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dirty="0"/>
                  <a:t>문서 </a:t>
                </a:r>
                <a:r>
                  <a:rPr lang="en-US" altLang="ko-KR" dirty="0"/>
                  <a:t>DB</a:t>
                </a:r>
                <a:endParaRPr lang="ko-KR" altLang="en-US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CE6204E-7504-D1D5-F753-4AE6080CBD2E}"/>
                  </a:ext>
                </a:extLst>
              </p:cNvPr>
              <p:cNvSpPr txBox="1"/>
              <p:nvPr/>
            </p:nvSpPr>
            <p:spPr>
              <a:xfrm>
                <a:off x="13836427" y="8172909"/>
                <a:ext cx="18287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유사도 높은 데이터 추출</a:t>
                </a:r>
              </a:p>
            </p:txBody>
          </p:sp>
        </p:grpSp>
        <p:pic>
          <p:nvPicPr>
            <p:cNvPr id="42" name="Picture 4" descr="사용자가 채워진 사람 모양 - 무료 사람들개 아이콘">
              <a:extLst>
                <a:ext uri="{FF2B5EF4-FFF2-40B4-BE49-F238E27FC236}">
                  <a16:creationId xmlns:a16="http://schemas.microsoft.com/office/drawing/2014/main" id="{D2775900-BCA5-E51B-9925-086F7EFEB2CC}"/>
                </a:ext>
              </a:extLst>
            </p:cNvPr>
            <p:cNvPicPr/>
            <p:nvPr/>
          </p:nvPicPr>
          <p:blipFill>
            <a:blip r:embed="rId14"/>
            <a:stretch/>
          </p:blipFill>
          <p:spPr>
            <a:xfrm>
              <a:off x="1963233" y="7038022"/>
              <a:ext cx="1384610" cy="1211209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" name="AutoShape 82">
              <a:extLst>
                <a:ext uri="{FF2B5EF4-FFF2-40B4-BE49-F238E27FC236}">
                  <a16:creationId xmlns:a16="http://schemas.microsoft.com/office/drawing/2014/main" id="{A10D9787-B00E-C120-7ED9-03207045ACA4}"/>
                </a:ext>
              </a:extLst>
            </p:cNvPr>
            <p:cNvSpPr/>
            <p:nvPr/>
          </p:nvSpPr>
          <p:spPr>
            <a:xfrm>
              <a:off x="4009326" y="7643626"/>
              <a:ext cx="2314415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8AA0044-ED0E-E0FD-FE93-41992149B27D}"/>
                </a:ext>
              </a:extLst>
            </p:cNvPr>
            <p:cNvSpPr txBox="1"/>
            <p:nvPr/>
          </p:nvSpPr>
          <p:spPr>
            <a:xfrm>
              <a:off x="2258094" y="8367682"/>
              <a:ext cx="913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사용자 질문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1E57DF9-1E22-9E60-ECDE-7A3007A22CE0}"/>
                </a:ext>
              </a:extLst>
            </p:cNvPr>
            <p:cNvSpPr txBox="1"/>
            <p:nvPr/>
          </p:nvSpPr>
          <p:spPr>
            <a:xfrm>
              <a:off x="4269279" y="6959211"/>
              <a:ext cx="1752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사용자 질문 </a:t>
              </a:r>
              <a:r>
                <a:rPr lang="ko-KR" altLang="en-US" dirty="0" err="1"/>
                <a:t>임베딩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9991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4C58F3-AA2D-1B13-04F2-C863D720984C}"/>
              </a:ext>
            </a:extLst>
          </p:cNvPr>
          <p:cNvSpPr txBox="1"/>
          <p:nvPr/>
        </p:nvSpPr>
        <p:spPr>
          <a:xfrm>
            <a:off x="2140095" y="2413765"/>
            <a:ext cx="5556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유사도 계산</a:t>
            </a:r>
            <a:r>
              <a:rPr lang="en-US" altLang="ko-KR" sz="4000" b="1" dirty="0"/>
              <a:t>?</a:t>
            </a:r>
            <a:endParaRPr lang="ko-KR" alt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ACCF4-1152-D0E3-0B57-157CC98C24A6}"/>
              </a:ext>
            </a:extLst>
          </p:cNvPr>
          <p:cNvSpPr txBox="1"/>
          <p:nvPr/>
        </p:nvSpPr>
        <p:spPr>
          <a:xfrm>
            <a:off x="2168168" y="3365909"/>
            <a:ext cx="8499831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51"/>
              </a:lnSpc>
              <a:spcBef>
                <a:spcPct val="0"/>
              </a:spcBef>
            </a:pPr>
            <a:r>
              <a:rPr lang="en-US" altLang="ko-KR" sz="24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임</a:t>
            </a:r>
            <a:r>
              <a:rPr lang="ko-KR" altLang="en-US" sz="24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베</a:t>
            </a:r>
            <a:r>
              <a:rPr lang="en-US" altLang="ko-KR" sz="2400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딩한</a:t>
            </a:r>
            <a:r>
              <a:rPr lang="en-US" altLang="ko-KR" sz="24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</a:t>
            </a:r>
            <a:r>
              <a:rPr lang="en-US" altLang="ko-KR" sz="2400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벡터들</a:t>
            </a:r>
            <a:r>
              <a:rPr lang="ko-KR" altLang="en-US" sz="24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을 비교하여 자료 간 유사도를 계산</a:t>
            </a:r>
            <a:r>
              <a:rPr lang="en-US" altLang="ko-KR" sz="2400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하는</a:t>
            </a:r>
            <a:r>
              <a:rPr lang="en-US" altLang="ko-KR" sz="2400" spc="-100" dirty="0">
                <a:solidFill>
                  <a:srgbClr val="000000"/>
                </a:solidFill>
                <a:latin typeface="+mn-ea"/>
                <a:cs typeface="Arimo"/>
                <a:sym typeface="Arimo"/>
              </a:rPr>
              <a:t> </a:t>
            </a:r>
            <a:r>
              <a:rPr lang="en-US" altLang="ko-KR" sz="2400" spc="-100" dirty="0" err="1">
                <a:solidFill>
                  <a:srgbClr val="000000"/>
                </a:solidFill>
                <a:latin typeface="+mn-ea"/>
                <a:cs typeface="Arimo"/>
                <a:sym typeface="Arimo"/>
              </a:rPr>
              <a:t>과정</a:t>
            </a:r>
            <a:endParaRPr lang="en-US" altLang="ko-KR" sz="2400" spc="-100" dirty="0">
              <a:solidFill>
                <a:srgbClr val="000000"/>
              </a:solidFill>
              <a:latin typeface="+mn-ea"/>
              <a:cs typeface="Arimo"/>
              <a:sym typeface="Arimo"/>
            </a:endParaRPr>
          </a:p>
        </p:txBody>
      </p:sp>
      <p:sp>
        <p:nvSpPr>
          <p:cNvPr id="4" name="TextBox 70">
            <a:extLst>
              <a:ext uri="{FF2B5EF4-FFF2-40B4-BE49-F238E27FC236}">
                <a16:creationId xmlns:a16="http://schemas.microsoft.com/office/drawing/2014/main" id="{D8A147EB-A4F3-2FED-30ED-538941A6DE28}"/>
              </a:ext>
            </a:extLst>
          </p:cNvPr>
          <p:cNvSpPr txBox="1"/>
          <p:nvPr/>
        </p:nvSpPr>
        <p:spPr>
          <a:xfrm>
            <a:off x="2057727" y="4974241"/>
            <a:ext cx="2978229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  <a:r>
              <a:rPr lang="ko-KR" alt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삼성전자 영업 이익</a:t>
            </a: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</a:p>
        </p:txBody>
      </p:sp>
      <p:sp>
        <p:nvSpPr>
          <p:cNvPr id="20" name="TextBox 71">
            <a:extLst>
              <a:ext uri="{FF2B5EF4-FFF2-40B4-BE49-F238E27FC236}">
                <a16:creationId xmlns:a16="http://schemas.microsoft.com/office/drawing/2014/main" id="{A07C53F0-E6F5-52FF-07C9-007CD0D8CB20}"/>
              </a:ext>
            </a:extLst>
          </p:cNvPr>
          <p:cNvSpPr txBox="1"/>
          <p:nvPr/>
        </p:nvSpPr>
        <p:spPr>
          <a:xfrm>
            <a:off x="2201553" y="7065640"/>
            <a:ext cx="2749429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  <a:r>
              <a:rPr lang="ko-KR" alt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삼성전자 실적 개선</a:t>
            </a: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</a:p>
        </p:txBody>
      </p:sp>
      <p:sp>
        <p:nvSpPr>
          <p:cNvPr id="21" name="TextBox 72">
            <a:extLst>
              <a:ext uri="{FF2B5EF4-FFF2-40B4-BE49-F238E27FC236}">
                <a16:creationId xmlns:a16="http://schemas.microsoft.com/office/drawing/2014/main" id="{575095C6-7DAF-0D93-1897-2358DD88C7BA}"/>
              </a:ext>
            </a:extLst>
          </p:cNvPr>
          <p:cNvSpPr txBox="1"/>
          <p:nvPr/>
        </p:nvSpPr>
        <p:spPr>
          <a:xfrm>
            <a:off x="2462843" y="9280822"/>
            <a:ext cx="260796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  <a:r>
              <a:rPr lang="ko-KR" alt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애플 신제품 출시</a:t>
            </a:r>
            <a:r>
              <a:rPr lang="en-US" sz="2400" b="1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</a:p>
        </p:txBody>
      </p:sp>
      <p:sp>
        <p:nvSpPr>
          <p:cNvPr id="22" name="TextBox 73">
            <a:extLst>
              <a:ext uri="{FF2B5EF4-FFF2-40B4-BE49-F238E27FC236}">
                <a16:creationId xmlns:a16="http://schemas.microsoft.com/office/drawing/2014/main" id="{7E955CB9-DDC2-B1DB-2109-3E818ED097C6}"/>
              </a:ext>
            </a:extLst>
          </p:cNvPr>
          <p:cNvSpPr txBox="1"/>
          <p:nvPr/>
        </p:nvSpPr>
        <p:spPr>
          <a:xfrm>
            <a:off x="5404061" y="4936773"/>
            <a:ext cx="289335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[ 0.2, 0.5, 0.1, 0.7, …. ]</a:t>
            </a:r>
          </a:p>
        </p:txBody>
      </p:sp>
      <p:sp>
        <p:nvSpPr>
          <p:cNvPr id="23" name="TextBox 74">
            <a:extLst>
              <a:ext uri="{FF2B5EF4-FFF2-40B4-BE49-F238E27FC236}">
                <a16:creationId xmlns:a16="http://schemas.microsoft.com/office/drawing/2014/main" id="{93A142B8-D40F-543A-287B-59F71D145FAE}"/>
              </a:ext>
            </a:extLst>
          </p:cNvPr>
          <p:cNvSpPr txBox="1"/>
          <p:nvPr/>
        </p:nvSpPr>
        <p:spPr>
          <a:xfrm>
            <a:off x="5167069" y="7037733"/>
            <a:ext cx="336733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[ 0.21, 0.52, 0.12, 0.87, …. ]</a:t>
            </a:r>
          </a:p>
        </p:txBody>
      </p:sp>
      <p:sp>
        <p:nvSpPr>
          <p:cNvPr id="24" name="TextBox 75">
            <a:extLst>
              <a:ext uri="{FF2B5EF4-FFF2-40B4-BE49-F238E27FC236}">
                <a16:creationId xmlns:a16="http://schemas.microsoft.com/office/drawing/2014/main" id="{BDEE1A99-860F-DD3C-60E9-9B8BD66DE3CD}"/>
              </a:ext>
            </a:extLst>
          </p:cNvPr>
          <p:cNvSpPr txBox="1"/>
          <p:nvPr/>
        </p:nvSpPr>
        <p:spPr>
          <a:xfrm>
            <a:off x="5404062" y="9264472"/>
            <a:ext cx="289335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2400" spc="-107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[ 0.9, 0.1, 0.8, 0.3, …. ]</a:t>
            </a:r>
          </a:p>
        </p:txBody>
      </p:sp>
      <p:sp>
        <p:nvSpPr>
          <p:cNvPr id="25" name="TextBox 77">
            <a:extLst>
              <a:ext uri="{FF2B5EF4-FFF2-40B4-BE49-F238E27FC236}">
                <a16:creationId xmlns:a16="http://schemas.microsoft.com/office/drawing/2014/main" id="{257289D8-4DA8-8D81-4338-650D9D663FEB}"/>
              </a:ext>
            </a:extLst>
          </p:cNvPr>
          <p:cNvSpPr txBox="1"/>
          <p:nvPr/>
        </p:nvSpPr>
        <p:spPr>
          <a:xfrm>
            <a:off x="14145257" y="5883016"/>
            <a:ext cx="196100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1"/>
              </a:lnSpc>
              <a:spcBef>
                <a:spcPct val="0"/>
              </a:spcBef>
            </a:pPr>
            <a:r>
              <a:rPr lang="en-US" sz="2400" b="1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유사도</a:t>
            </a:r>
            <a:r>
              <a:rPr lang="en-US" sz="2400" b="1" spc="-1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b="1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높음</a:t>
            </a:r>
            <a:endParaRPr lang="en-US" sz="2400" b="1" spc="-1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" name="TextBox 78">
            <a:extLst>
              <a:ext uri="{FF2B5EF4-FFF2-40B4-BE49-F238E27FC236}">
                <a16:creationId xmlns:a16="http://schemas.microsoft.com/office/drawing/2014/main" id="{775ECD7B-7172-A681-8EE0-BEDA0D6BFB4B}"/>
              </a:ext>
            </a:extLst>
          </p:cNvPr>
          <p:cNvSpPr txBox="1"/>
          <p:nvPr/>
        </p:nvSpPr>
        <p:spPr>
          <a:xfrm>
            <a:off x="14145257" y="8197539"/>
            <a:ext cx="196100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1"/>
              </a:lnSpc>
              <a:spcBef>
                <a:spcPct val="0"/>
              </a:spcBef>
            </a:pPr>
            <a:r>
              <a:rPr lang="en-US" sz="2400" b="1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유사도</a:t>
            </a:r>
            <a:r>
              <a:rPr lang="en-US" sz="2400" b="1" spc="-1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b="1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낮음</a:t>
            </a:r>
            <a:endParaRPr lang="en-US" sz="2400" b="1" spc="-1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" name="AutoShape 79">
            <a:extLst>
              <a:ext uri="{FF2B5EF4-FFF2-40B4-BE49-F238E27FC236}">
                <a16:creationId xmlns:a16="http://schemas.microsoft.com/office/drawing/2014/main" id="{D3253221-B743-964D-C05F-5C4BE4FE3F89}"/>
              </a:ext>
            </a:extLst>
          </p:cNvPr>
          <p:cNvSpPr/>
          <p:nvPr/>
        </p:nvSpPr>
        <p:spPr>
          <a:xfrm flipV="1">
            <a:off x="8843662" y="5078855"/>
            <a:ext cx="1678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utoShape 80">
            <a:extLst>
              <a:ext uri="{FF2B5EF4-FFF2-40B4-BE49-F238E27FC236}">
                <a16:creationId xmlns:a16="http://schemas.microsoft.com/office/drawing/2014/main" id="{E2C31FC4-0240-D416-FC57-C13C32DFD180}"/>
              </a:ext>
            </a:extLst>
          </p:cNvPr>
          <p:cNvSpPr/>
          <p:nvPr/>
        </p:nvSpPr>
        <p:spPr>
          <a:xfrm flipV="1">
            <a:off x="8815809" y="6992478"/>
            <a:ext cx="1706006" cy="334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utoShape 81">
            <a:extLst>
              <a:ext uri="{FF2B5EF4-FFF2-40B4-BE49-F238E27FC236}">
                <a16:creationId xmlns:a16="http://schemas.microsoft.com/office/drawing/2014/main" id="{C0C97825-4EFF-227E-60F2-8433DF8180B6}"/>
              </a:ext>
            </a:extLst>
          </p:cNvPr>
          <p:cNvSpPr/>
          <p:nvPr/>
        </p:nvSpPr>
        <p:spPr>
          <a:xfrm>
            <a:off x="10521815" y="5055684"/>
            <a:ext cx="0" cy="19367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82">
            <a:extLst>
              <a:ext uri="{FF2B5EF4-FFF2-40B4-BE49-F238E27FC236}">
                <a16:creationId xmlns:a16="http://schemas.microsoft.com/office/drawing/2014/main" id="{B85C8736-9EE5-0478-3A42-657194917441}"/>
              </a:ext>
            </a:extLst>
          </p:cNvPr>
          <p:cNvSpPr/>
          <p:nvPr/>
        </p:nvSpPr>
        <p:spPr>
          <a:xfrm>
            <a:off x="10521815" y="6024082"/>
            <a:ext cx="33463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utoShape 83">
            <a:extLst>
              <a:ext uri="{FF2B5EF4-FFF2-40B4-BE49-F238E27FC236}">
                <a16:creationId xmlns:a16="http://schemas.microsoft.com/office/drawing/2014/main" id="{34326AF8-BA16-839C-8C50-7CA6BC3B7E82}"/>
              </a:ext>
            </a:extLst>
          </p:cNvPr>
          <p:cNvSpPr/>
          <p:nvPr/>
        </p:nvSpPr>
        <p:spPr>
          <a:xfrm flipV="1">
            <a:off x="8815809" y="7388032"/>
            <a:ext cx="1678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84">
            <a:extLst>
              <a:ext uri="{FF2B5EF4-FFF2-40B4-BE49-F238E27FC236}">
                <a16:creationId xmlns:a16="http://schemas.microsoft.com/office/drawing/2014/main" id="{113B5254-8DDF-03F6-6E0D-6F1B972243D6}"/>
              </a:ext>
            </a:extLst>
          </p:cNvPr>
          <p:cNvSpPr/>
          <p:nvPr/>
        </p:nvSpPr>
        <p:spPr>
          <a:xfrm>
            <a:off x="8815809" y="9411949"/>
            <a:ext cx="1678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utoShape 85">
            <a:extLst>
              <a:ext uri="{FF2B5EF4-FFF2-40B4-BE49-F238E27FC236}">
                <a16:creationId xmlns:a16="http://schemas.microsoft.com/office/drawing/2014/main" id="{3B869F2C-842E-2647-8EA5-DFFCD6355077}"/>
              </a:ext>
            </a:extLst>
          </p:cNvPr>
          <p:cNvSpPr/>
          <p:nvPr/>
        </p:nvSpPr>
        <p:spPr>
          <a:xfrm>
            <a:off x="10493963" y="7360593"/>
            <a:ext cx="0" cy="20513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86">
            <a:extLst>
              <a:ext uri="{FF2B5EF4-FFF2-40B4-BE49-F238E27FC236}">
                <a16:creationId xmlns:a16="http://schemas.microsoft.com/office/drawing/2014/main" id="{45F04DD7-580D-EAD2-1394-43530F293959}"/>
              </a:ext>
            </a:extLst>
          </p:cNvPr>
          <p:cNvSpPr/>
          <p:nvPr/>
        </p:nvSpPr>
        <p:spPr>
          <a:xfrm>
            <a:off x="10493963" y="8386271"/>
            <a:ext cx="33463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87">
            <a:extLst>
              <a:ext uri="{FF2B5EF4-FFF2-40B4-BE49-F238E27FC236}">
                <a16:creationId xmlns:a16="http://schemas.microsoft.com/office/drawing/2014/main" id="{38B5BB2F-43D4-225B-E5CC-F9E120A721FE}"/>
              </a:ext>
            </a:extLst>
          </p:cNvPr>
          <p:cNvSpPr txBox="1"/>
          <p:nvPr/>
        </p:nvSpPr>
        <p:spPr>
          <a:xfrm>
            <a:off x="11094388" y="5354350"/>
            <a:ext cx="158195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1"/>
              </a:lnSpc>
              <a:spcBef>
                <a:spcPct val="0"/>
              </a:spcBef>
            </a:pPr>
            <a:r>
              <a:rPr lang="en-US" sz="2000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유사도</a:t>
            </a:r>
            <a:r>
              <a:rPr lang="en-US" sz="2000" spc="-1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계산</a:t>
            </a:r>
            <a:endParaRPr lang="en-US" sz="2000" spc="-1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" name="TextBox 88">
            <a:extLst>
              <a:ext uri="{FF2B5EF4-FFF2-40B4-BE49-F238E27FC236}">
                <a16:creationId xmlns:a16="http://schemas.microsoft.com/office/drawing/2014/main" id="{7697ED7A-6010-103F-6974-6C9C4EAEDB36}"/>
              </a:ext>
            </a:extLst>
          </p:cNvPr>
          <p:cNvSpPr txBox="1"/>
          <p:nvPr/>
        </p:nvSpPr>
        <p:spPr>
          <a:xfrm>
            <a:off x="11066535" y="7819612"/>
            <a:ext cx="158195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1"/>
              </a:lnSpc>
              <a:spcBef>
                <a:spcPct val="0"/>
              </a:spcBef>
            </a:pPr>
            <a:r>
              <a:rPr lang="en-US" sz="2000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유사도</a:t>
            </a:r>
            <a:r>
              <a:rPr lang="en-US" sz="2000" spc="-1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-1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계산</a:t>
            </a:r>
            <a:endParaRPr lang="en-US" sz="2000" spc="-1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544219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5B0E-EB90-7825-5B72-0B060105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48517B-82A2-3B68-202A-E4206A0B78F5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D7AA2C-67C7-CD48-4F83-0D18F5BC2E4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899D3CA-02FB-63BB-CB73-77385CFF2A08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62D3464A-6F1D-41DC-EBC0-0F025053BCD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690820A4-56F3-14D5-7FB4-727D0594E6D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4" name="Picture 5">
                <a:extLst>
                  <a:ext uri="{FF2B5EF4-FFF2-40B4-BE49-F238E27FC236}">
                    <a16:creationId xmlns:a16="http://schemas.microsoft.com/office/drawing/2014/main" id="{477A9025-9E83-5634-5D0B-116EAD43FC4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DF26AEB-6CFD-67CE-4455-175CB068E5D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3EBD583-8862-FB6E-0B82-368B4EDC65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7523718-F37F-AF95-66D4-F4693908DA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RAG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기술 설명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7CD498A-3A5D-0D04-EC96-BCB04FBD3D3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FFE6233-3A9A-694A-28C9-686549B7EEC0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08727C-3183-FE7B-7B7F-F808E605C06E}"/>
              </a:ext>
            </a:extLst>
          </p:cNvPr>
          <p:cNvGrpSpPr/>
          <p:nvPr/>
        </p:nvGrpSpPr>
        <p:grpSpPr>
          <a:xfrm>
            <a:off x="252001" y="988707"/>
            <a:ext cx="1379534" cy="8888622"/>
            <a:chOff x="6134100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F177848-0C7F-BCF5-EEB7-4C771C4DB251}"/>
                </a:ext>
              </a:extLst>
            </p:cNvPr>
            <p:cNvGrpSpPr/>
            <p:nvPr/>
          </p:nvGrpSpPr>
          <p:grpSpPr>
            <a:xfrm>
              <a:off x="6244201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9B460A1-D94E-3CAF-88F3-4FAC63AF7F3F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22B1119-C557-D927-5DBE-3524F120AF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0898E-A258-30C2-1122-2F45A9E26D6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FEC6A-BF32-4890-7919-E337B8F9525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494E22-A06C-0179-FD03-A5B455716E2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612197-5F73-E35D-B366-AD5CA271E78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18C4E1-97CD-62CE-0BF7-C87433AF25A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519D0A-2129-7D96-8C43-BC564E5D6AC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15A9B7-292B-6791-01EA-75CB418A67E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A5A36C-D950-2593-D5CB-B94A68889B4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052003-311E-B4FE-D401-56F12BEA79E0}"/>
                </a:ext>
              </a:extLst>
            </p:cNvPr>
            <p:cNvGrpSpPr/>
            <p:nvPr/>
          </p:nvGrpSpPr>
          <p:grpSpPr>
            <a:xfrm>
              <a:off x="6134100" y="182293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6D145C3-4F05-47FC-20E8-FD874059480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64A7A-FE11-DE5A-FF5C-331A07A5D78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2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2797EB3-32FF-E23D-A98D-91ADC9B14415}"/>
              </a:ext>
            </a:extLst>
          </p:cNvPr>
          <p:cNvSpPr txBox="1"/>
          <p:nvPr/>
        </p:nvSpPr>
        <p:spPr>
          <a:xfrm>
            <a:off x="2189940" y="2387386"/>
            <a:ext cx="6094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6. </a:t>
            </a:r>
            <a:r>
              <a:rPr lang="ko-KR" altLang="en-US" sz="4000" b="1" dirty="0"/>
              <a:t>응답 생성</a:t>
            </a:r>
          </a:p>
        </p:txBody>
      </p:sp>
      <p:sp>
        <p:nvSpPr>
          <p:cNvPr id="3" name="Freeform 99" descr="코딩 - 무료 멀티미디어개 아이콘">
            <a:extLst>
              <a:ext uri="{FF2B5EF4-FFF2-40B4-BE49-F238E27FC236}">
                <a16:creationId xmlns:a16="http://schemas.microsoft.com/office/drawing/2014/main" id="{9F27DB70-D855-848E-09B3-4E58AE148261}"/>
              </a:ext>
            </a:extLst>
          </p:cNvPr>
          <p:cNvSpPr/>
          <p:nvPr/>
        </p:nvSpPr>
        <p:spPr>
          <a:xfrm>
            <a:off x="7800024" y="6278637"/>
            <a:ext cx="1409702" cy="1409702"/>
          </a:xfrm>
          <a:custGeom>
            <a:avLst/>
            <a:gdLst/>
            <a:ahLst/>
            <a:cxnLst/>
            <a:rect l="l" t="t" r="r" b="b"/>
            <a:pathLst>
              <a:path w="1409702" h="1409702">
                <a:moveTo>
                  <a:pt x="0" y="0"/>
                </a:moveTo>
                <a:lnTo>
                  <a:pt x="1409702" y="0"/>
                </a:lnTo>
                <a:lnTo>
                  <a:pt x="1409702" y="1409702"/>
                </a:lnTo>
                <a:lnTo>
                  <a:pt x="0" y="14097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92">
            <a:extLst>
              <a:ext uri="{FF2B5EF4-FFF2-40B4-BE49-F238E27FC236}">
                <a16:creationId xmlns:a16="http://schemas.microsoft.com/office/drawing/2014/main" id="{9E39E527-997D-F6F2-AC4C-63239A618077}"/>
              </a:ext>
            </a:extLst>
          </p:cNvPr>
          <p:cNvGrpSpPr/>
          <p:nvPr/>
        </p:nvGrpSpPr>
        <p:grpSpPr>
          <a:xfrm>
            <a:off x="10170166" y="6712143"/>
            <a:ext cx="680494" cy="542689"/>
            <a:chOff x="0" y="0"/>
            <a:chExt cx="907325" cy="723585"/>
          </a:xfrm>
        </p:grpSpPr>
        <p:sp>
          <p:nvSpPr>
            <p:cNvPr id="20" name="Freeform 93">
              <a:extLst>
                <a:ext uri="{FF2B5EF4-FFF2-40B4-BE49-F238E27FC236}">
                  <a16:creationId xmlns:a16="http://schemas.microsoft.com/office/drawing/2014/main" id="{49544A9D-45E0-C0D8-97D2-863D5B3EEEEE}"/>
                </a:ext>
              </a:extLst>
            </p:cNvPr>
            <p:cNvSpPr/>
            <p:nvPr/>
          </p:nvSpPr>
          <p:spPr>
            <a:xfrm>
              <a:off x="16891" y="16891"/>
              <a:ext cx="873506" cy="689737"/>
            </a:xfrm>
            <a:custGeom>
              <a:avLst/>
              <a:gdLst/>
              <a:ahLst/>
              <a:cxnLst/>
              <a:rect l="l" t="t" r="r" b="b"/>
              <a:pathLst>
                <a:path w="873506" h="689737">
                  <a:moveTo>
                    <a:pt x="0" y="172466"/>
                  </a:moveTo>
                  <a:lnTo>
                    <a:pt x="525272" y="172466"/>
                  </a:lnTo>
                  <a:lnTo>
                    <a:pt x="525272" y="0"/>
                  </a:lnTo>
                  <a:lnTo>
                    <a:pt x="873506" y="344932"/>
                  </a:lnTo>
                  <a:lnTo>
                    <a:pt x="525272" y="689737"/>
                  </a:lnTo>
                  <a:lnTo>
                    <a:pt x="525272" y="517271"/>
                  </a:lnTo>
                  <a:lnTo>
                    <a:pt x="0" y="51727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94">
              <a:extLst>
                <a:ext uri="{FF2B5EF4-FFF2-40B4-BE49-F238E27FC236}">
                  <a16:creationId xmlns:a16="http://schemas.microsoft.com/office/drawing/2014/main" id="{84DDC0EB-28F9-E393-C3BD-F3AB083BF7FA}"/>
                </a:ext>
              </a:extLst>
            </p:cNvPr>
            <p:cNvSpPr/>
            <p:nvPr/>
          </p:nvSpPr>
          <p:spPr>
            <a:xfrm>
              <a:off x="0" y="-1397"/>
              <a:ext cx="907415" cy="726313"/>
            </a:xfrm>
            <a:custGeom>
              <a:avLst/>
              <a:gdLst/>
              <a:ahLst/>
              <a:cxnLst/>
              <a:rect l="l" t="t" r="r" b="b"/>
              <a:pathLst>
                <a:path w="907415" h="726313">
                  <a:moveTo>
                    <a:pt x="16891" y="173863"/>
                  </a:moveTo>
                  <a:lnTo>
                    <a:pt x="542163" y="173863"/>
                  </a:lnTo>
                  <a:lnTo>
                    <a:pt x="542163" y="190754"/>
                  </a:lnTo>
                  <a:lnTo>
                    <a:pt x="525145" y="190754"/>
                  </a:lnTo>
                  <a:lnTo>
                    <a:pt x="525145" y="18288"/>
                  </a:lnTo>
                  <a:cubicBezTo>
                    <a:pt x="525145" y="11430"/>
                    <a:pt x="529209" y="5334"/>
                    <a:pt x="535559" y="2667"/>
                  </a:cubicBezTo>
                  <a:cubicBezTo>
                    <a:pt x="541909" y="0"/>
                    <a:pt x="549148" y="1397"/>
                    <a:pt x="553974" y="6223"/>
                  </a:cubicBezTo>
                  <a:lnTo>
                    <a:pt x="902335" y="351155"/>
                  </a:lnTo>
                  <a:cubicBezTo>
                    <a:pt x="905510" y="354330"/>
                    <a:pt x="907415" y="358648"/>
                    <a:pt x="907415" y="363220"/>
                  </a:cubicBezTo>
                  <a:cubicBezTo>
                    <a:pt x="907415" y="367792"/>
                    <a:pt x="905637" y="372110"/>
                    <a:pt x="902335" y="375285"/>
                  </a:cubicBezTo>
                  <a:lnTo>
                    <a:pt x="553974" y="720090"/>
                  </a:lnTo>
                  <a:cubicBezTo>
                    <a:pt x="549148" y="724916"/>
                    <a:pt x="541909" y="726313"/>
                    <a:pt x="535559" y="723646"/>
                  </a:cubicBezTo>
                  <a:cubicBezTo>
                    <a:pt x="529209" y="720979"/>
                    <a:pt x="525145" y="714883"/>
                    <a:pt x="525145" y="708025"/>
                  </a:cubicBezTo>
                  <a:lnTo>
                    <a:pt x="525145" y="535559"/>
                  </a:lnTo>
                  <a:lnTo>
                    <a:pt x="542036" y="535559"/>
                  </a:lnTo>
                  <a:lnTo>
                    <a:pt x="542036" y="552577"/>
                  </a:lnTo>
                  <a:lnTo>
                    <a:pt x="16891" y="552577"/>
                  </a:lnTo>
                  <a:cubicBezTo>
                    <a:pt x="7620" y="552577"/>
                    <a:pt x="0" y="544957"/>
                    <a:pt x="0" y="535559"/>
                  </a:cubicBezTo>
                  <a:lnTo>
                    <a:pt x="0" y="190754"/>
                  </a:lnTo>
                  <a:cubicBezTo>
                    <a:pt x="0" y="181356"/>
                    <a:pt x="7620" y="173863"/>
                    <a:pt x="16891" y="173863"/>
                  </a:cubicBezTo>
                  <a:moveTo>
                    <a:pt x="16891" y="207772"/>
                  </a:moveTo>
                  <a:lnTo>
                    <a:pt x="16891" y="190754"/>
                  </a:lnTo>
                  <a:lnTo>
                    <a:pt x="33909" y="190754"/>
                  </a:lnTo>
                  <a:lnTo>
                    <a:pt x="33909" y="535559"/>
                  </a:lnTo>
                  <a:lnTo>
                    <a:pt x="16891" y="535559"/>
                  </a:lnTo>
                  <a:lnTo>
                    <a:pt x="16891" y="518668"/>
                  </a:lnTo>
                  <a:lnTo>
                    <a:pt x="542163" y="518668"/>
                  </a:lnTo>
                  <a:cubicBezTo>
                    <a:pt x="551561" y="518668"/>
                    <a:pt x="559054" y="526288"/>
                    <a:pt x="559054" y="535559"/>
                  </a:cubicBezTo>
                  <a:lnTo>
                    <a:pt x="559054" y="708025"/>
                  </a:lnTo>
                  <a:lnTo>
                    <a:pt x="542163" y="708025"/>
                  </a:lnTo>
                  <a:lnTo>
                    <a:pt x="530225" y="695960"/>
                  </a:lnTo>
                  <a:lnTo>
                    <a:pt x="878459" y="351155"/>
                  </a:lnTo>
                  <a:lnTo>
                    <a:pt x="890397" y="363220"/>
                  </a:lnTo>
                  <a:lnTo>
                    <a:pt x="878459" y="375285"/>
                  </a:lnTo>
                  <a:lnTo>
                    <a:pt x="530225" y="30353"/>
                  </a:lnTo>
                  <a:lnTo>
                    <a:pt x="542163" y="18288"/>
                  </a:lnTo>
                  <a:lnTo>
                    <a:pt x="559054" y="18288"/>
                  </a:lnTo>
                  <a:lnTo>
                    <a:pt x="559054" y="190754"/>
                  </a:lnTo>
                  <a:cubicBezTo>
                    <a:pt x="559054" y="200152"/>
                    <a:pt x="551434" y="207645"/>
                    <a:pt x="542163" y="207645"/>
                  </a:cubicBezTo>
                  <a:lnTo>
                    <a:pt x="16891" y="207645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Freeform 98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49B7101F-5856-E239-62F1-235056CE6863}"/>
              </a:ext>
            </a:extLst>
          </p:cNvPr>
          <p:cNvSpPr/>
          <p:nvPr/>
        </p:nvSpPr>
        <p:spPr>
          <a:xfrm>
            <a:off x="11811168" y="6362155"/>
            <a:ext cx="1142826" cy="1142826"/>
          </a:xfrm>
          <a:custGeom>
            <a:avLst/>
            <a:gdLst/>
            <a:ahLst/>
            <a:cxnLst/>
            <a:rect l="l" t="t" r="r" b="b"/>
            <a:pathLst>
              <a:path w="1142826" h="1142826">
                <a:moveTo>
                  <a:pt x="0" y="0"/>
                </a:moveTo>
                <a:lnTo>
                  <a:pt x="1142826" y="0"/>
                </a:lnTo>
                <a:lnTo>
                  <a:pt x="1142826" y="1142826"/>
                </a:lnTo>
                <a:lnTo>
                  <a:pt x="0" y="1142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23" name="Picture 2" descr="질문 - 무료 연락개 아이콘">
            <a:extLst>
              <a:ext uri="{FF2B5EF4-FFF2-40B4-BE49-F238E27FC236}">
                <a16:creationId xmlns:a16="http://schemas.microsoft.com/office/drawing/2014/main" id="{F077487F-9A18-BA5F-C8A6-F3629938B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216692"/>
            <a:ext cx="1112328" cy="111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B44159-B223-3BDA-483D-6CD93B06C4B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947" y="7497451"/>
            <a:ext cx="1287998" cy="1287998"/>
          </a:xfrm>
          <a:prstGeom prst="rect">
            <a:avLst/>
          </a:prstGeom>
        </p:spPr>
      </p:pic>
      <p:sp>
        <p:nvSpPr>
          <p:cNvPr id="25" name="더하기 기호 24">
            <a:extLst>
              <a:ext uri="{FF2B5EF4-FFF2-40B4-BE49-F238E27FC236}">
                <a16:creationId xmlns:a16="http://schemas.microsoft.com/office/drawing/2014/main" id="{1ABE80F0-209E-8CC4-D3AD-5F2C8E5C4470}"/>
              </a:ext>
            </a:extLst>
          </p:cNvPr>
          <p:cNvSpPr/>
          <p:nvPr/>
        </p:nvSpPr>
        <p:spPr>
          <a:xfrm>
            <a:off x="3959600" y="6778005"/>
            <a:ext cx="566392" cy="568090"/>
          </a:xfrm>
          <a:prstGeom prst="mathPlus">
            <a:avLst/>
          </a:prstGeom>
          <a:solidFill>
            <a:srgbClr val="747E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569DCA-8174-C629-C912-BDCD6AE289BD}"/>
              </a:ext>
            </a:extLst>
          </p:cNvPr>
          <p:cNvSpPr txBox="1"/>
          <p:nvPr/>
        </p:nvSpPr>
        <p:spPr>
          <a:xfrm>
            <a:off x="3479300" y="6398582"/>
            <a:ext cx="168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사용자의 질문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E44F93-3BBD-55D8-80B2-9E73C7DE97EB}"/>
              </a:ext>
            </a:extLst>
          </p:cNvPr>
          <p:cNvSpPr txBox="1"/>
          <p:nvPr/>
        </p:nvSpPr>
        <p:spPr>
          <a:xfrm>
            <a:off x="3150570" y="8812768"/>
            <a:ext cx="2275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유사도 높은 데이터</a:t>
            </a:r>
            <a:endParaRPr lang="ko-KR" altLang="en-US" dirty="0"/>
          </a:p>
        </p:txBody>
      </p:sp>
      <p:grpSp>
        <p:nvGrpSpPr>
          <p:cNvPr id="35" name="Group 92">
            <a:extLst>
              <a:ext uri="{FF2B5EF4-FFF2-40B4-BE49-F238E27FC236}">
                <a16:creationId xmlns:a16="http://schemas.microsoft.com/office/drawing/2014/main" id="{038C680D-3BEE-1326-A3AA-6FE25B2F331D}"/>
              </a:ext>
            </a:extLst>
          </p:cNvPr>
          <p:cNvGrpSpPr/>
          <p:nvPr/>
        </p:nvGrpSpPr>
        <p:grpSpPr>
          <a:xfrm>
            <a:off x="6110120" y="6742466"/>
            <a:ext cx="680494" cy="542689"/>
            <a:chOff x="0" y="0"/>
            <a:chExt cx="907325" cy="723585"/>
          </a:xfrm>
        </p:grpSpPr>
        <p:sp>
          <p:nvSpPr>
            <p:cNvPr id="36" name="Freeform 93">
              <a:extLst>
                <a:ext uri="{FF2B5EF4-FFF2-40B4-BE49-F238E27FC236}">
                  <a16:creationId xmlns:a16="http://schemas.microsoft.com/office/drawing/2014/main" id="{94234D78-0CD5-FFB6-05C5-68BDEDB9D241}"/>
                </a:ext>
              </a:extLst>
            </p:cNvPr>
            <p:cNvSpPr/>
            <p:nvPr/>
          </p:nvSpPr>
          <p:spPr>
            <a:xfrm>
              <a:off x="16891" y="16891"/>
              <a:ext cx="873506" cy="689737"/>
            </a:xfrm>
            <a:custGeom>
              <a:avLst/>
              <a:gdLst/>
              <a:ahLst/>
              <a:cxnLst/>
              <a:rect l="l" t="t" r="r" b="b"/>
              <a:pathLst>
                <a:path w="873506" h="689737">
                  <a:moveTo>
                    <a:pt x="0" y="172466"/>
                  </a:moveTo>
                  <a:lnTo>
                    <a:pt x="525272" y="172466"/>
                  </a:lnTo>
                  <a:lnTo>
                    <a:pt x="525272" y="0"/>
                  </a:lnTo>
                  <a:lnTo>
                    <a:pt x="873506" y="344932"/>
                  </a:lnTo>
                  <a:lnTo>
                    <a:pt x="525272" y="689737"/>
                  </a:lnTo>
                  <a:lnTo>
                    <a:pt x="525272" y="517271"/>
                  </a:lnTo>
                  <a:lnTo>
                    <a:pt x="0" y="51727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Freeform 94">
              <a:extLst>
                <a:ext uri="{FF2B5EF4-FFF2-40B4-BE49-F238E27FC236}">
                  <a16:creationId xmlns:a16="http://schemas.microsoft.com/office/drawing/2014/main" id="{BA88058E-3F2E-0812-EB12-71A8614C13A2}"/>
                </a:ext>
              </a:extLst>
            </p:cNvPr>
            <p:cNvSpPr/>
            <p:nvPr/>
          </p:nvSpPr>
          <p:spPr>
            <a:xfrm>
              <a:off x="0" y="-1397"/>
              <a:ext cx="907415" cy="726313"/>
            </a:xfrm>
            <a:custGeom>
              <a:avLst/>
              <a:gdLst/>
              <a:ahLst/>
              <a:cxnLst/>
              <a:rect l="l" t="t" r="r" b="b"/>
              <a:pathLst>
                <a:path w="907415" h="726313">
                  <a:moveTo>
                    <a:pt x="16891" y="173863"/>
                  </a:moveTo>
                  <a:lnTo>
                    <a:pt x="542163" y="173863"/>
                  </a:lnTo>
                  <a:lnTo>
                    <a:pt x="542163" y="190754"/>
                  </a:lnTo>
                  <a:lnTo>
                    <a:pt x="525145" y="190754"/>
                  </a:lnTo>
                  <a:lnTo>
                    <a:pt x="525145" y="18288"/>
                  </a:lnTo>
                  <a:cubicBezTo>
                    <a:pt x="525145" y="11430"/>
                    <a:pt x="529209" y="5334"/>
                    <a:pt x="535559" y="2667"/>
                  </a:cubicBezTo>
                  <a:cubicBezTo>
                    <a:pt x="541909" y="0"/>
                    <a:pt x="549148" y="1397"/>
                    <a:pt x="553974" y="6223"/>
                  </a:cubicBezTo>
                  <a:lnTo>
                    <a:pt x="902335" y="351155"/>
                  </a:lnTo>
                  <a:cubicBezTo>
                    <a:pt x="905510" y="354330"/>
                    <a:pt x="907415" y="358648"/>
                    <a:pt x="907415" y="363220"/>
                  </a:cubicBezTo>
                  <a:cubicBezTo>
                    <a:pt x="907415" y="367792"/>
                    <a:pt x="905637" y="372110"/>
                    <a:pt x="902335" y="375285"/>
                  </a:cubicBezTo>
                  <a:lnTo>
                    <a:pt x="553974" y="720090"/>
                  </a:lnTo>
                  <a:cubicBezTo>
                    <a:pt x="549148" y="724916"/>
                    <a:pt x="541909" y="726313"/>
                    <a:pt x="535559" y="723646"/>
                  </a:cubicBezTo>
                  <a:cubicBezTo>
                    <a:pt x="529209" y="720979"/>
                    <a:pt x="525145" y="714883"/>
                    <a:pt x="525145" y="708025"/>
                  </a:cubicBezTo>
                  <a:lnTo>
                    <a:pt x="525145" y="535559"/>
                  </a:lnTo>
                  <a:lnTo>
                    <a:pt x="542036" y="535559"/>
                  </a:lnTo>
                  <a:lnTo>
                    <a:pt x="542036" y="552577"/>
                  </a:lnTo>
                  <a:lnTo>
                    <a:pt x="16891" y="552577"/>
                  </a:lnTo>
                  <a:cubicBezTo>
                    <a:pt x="7620" y="552577"/>
                    <a:pt x="0" y="544957"/>
                    <a:pt x="0" y="535559"/>
                  </a:cubicBezTo>
                  <a:lnTo>
                    <a:pt x="0" y="190754"/>
                  </a:lnTo>
                  <a:cubicBezTo>
                    <a:pt x="0" y="181356"/>
                    <a:pt x="7620" y="173863"/>
                    <a:pt x="16891" y="173863"/>
                  </a:cubicBezTo>
                  <a:moveTo>
                    <a:pt x="16891" y="207772"/>
                  </a:moveTo>
                  <a:lnTo>
                    <a:pt x="16891" y="190754"/>
                  </a:lnTo>
                  <a:lnTo>
                    <a:pt x="33909" y="190754"/>
                  </a:lnTo>
                  <a:lnTo>
                    <a:pt x="33909" y="535559"/>
                  </a:lnTo>
                  <a:lnTo>
                    <a:pt x="16891" y="535559"/>
                  </a:lnTo>
                  <a:lnTo>
                    <a:pt x="16891" y="518668"/>
                  </a:lnTo>
                  <a:lnTo>
                    <a:pt x="542163" y="518668"/>
                  </a:lnTo>
                  <a:cubicBezTo>
                    <a:pt x="551561" y="518668"/>
                    <a:pt x="559054" y="526288"/>
                    <a:pt x="559054" y="535559"/>
                  </a:cubicBezTo>
                  <a:lnTo>
                    <a:pt x="559054" y="708025"/>
                  </a:lnTo>
                  <a:lnTo>
                    <a:pt x="542163" y="708025"/>
                  </a:lnTo>
                  <a:lnTo>
                    <a:pt x="530225" y="695960"/>
                  </a:lnTo>
                  <a:lnTo>
                    <a:pt x="878459" y="351155"/>
                  </a:lnTo>
                  <a:lnTo>
                    <a:pt x="890397" y="363220"/>
                  </a:lnTo>
                  <a:lnTo>
                    <a:pt x="878459" y="375285"/>
                  </a:lnTo>
                  <a:lnTo>
                    <a:pt x="530225" y="30353"/>
                  </a:lnTo>
                  <a:lnTo>
                    <a:pt x="542163" y="18288"/>
                  </a:lnTo>
                  <a:lnTo>
                    <a:pt x="559054" y="18288"/>
                  </a:lnTo>
                  <a:lnTo>
                    <a:pt x="559054" y="190754"/>
                  </a:lnTo>
                  <a:cubicBezTo>
                    <a:pt x="559054" y="200152"/>
                    <a:pt x="551434" y="207645"/>
                    <a:pt x="542163" y="207645"/>
                  </a:cubicBezTo>
                  <a:lnTo>
                    <a:pt x="16891" y="207645"/>
                  </a:ln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D0F734-AFAC-3CC4-1E8E-9613DBA38D4E}"/>
              </a:ext>
            </a:extLst>
          </p:cNvPr>
          <p:cNvSpPr txBox="1"/>
          <p:nvPr/>
        </p:nvSpPr>
        <p:spPr>
          <a:xfrm>
            <a:off x="7730363" y="7752674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프롬프트 생성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2883FB-9059-7227-B30A-6F22A73FD422}"/>
              </a:ext>
            </a:extLst>
          </p:cNvPr>
          <p:cNvSpPr txBox="1"/>
          <p:nvPr/>
        </p:nvSpPr>
        <p:spPr>
          <a:xfrm>
            <a:off x="11116328" y="7787926"/>
            <a:ext cx="2532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LLM </a:t>
            </a:r>
            <a:r>
              <a:rPr lang="ko-KR" altLang="en-US" dirty="0"/>
              <a:t>전달 및 응답 생성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632553-A15F-D344-C505-4A2A2CD3108F}"/>
              </a:ext>
            </a:extLst>
          </p:cNvPr>
          <p:cNvSpPr txBox="1"/>
          <p:nvPr/>
        </p:nvSpPr>
        <p:spPr>
          <a:xfrm>
            <a:off x="2337424" y="3410827"/>
            <a:ext cx="2516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/>
              <a:t>프롬프트란</a:t>
            </a:r>
            <a:r>
              <a:rPr lang="en-US" altLang="ko-KR" sz="3600" b="1" dirty="0"/>
              <a:t>?</a:t>
            </a:r>
            <a:endParaRPr lang="ko-KR" altLang="en-US" sz="36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61E9D0-92F2-B5F0-72B6-FF544451C4BB}"/>
              </a:ext>
            </a:extLst>
          </p:cNvPr>
          <p:cNvSpPr txBox="1"/>
          <p:nvPr/>
        </p:nvSpPr>
        <p:spPr>
          <a:xfrm>
            <a:off x="2331981" y="4185204"/>
            <a:ext cx="9513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프롬프트는 </a:t>
            </a:r>
            <a:r>
              <a:rPr lang="en-US" altLang="ko-KR" sz="2800" dirty="0"/>
              <a:t>AI </a:t>
            </a:r>
            <a:r>
              <a:rPr lang="ko-KR" altLang="en-US" sz="2800" dirty="0"/>
              <a:t>에게 던지는 질문 또는 지시문을 말한다</a:t>
            </a:r>
            <a:r>
              <a:rPr lang="en-US" altLang="ko-KR" sz="2800" dirty="0"/>
              <a:t>.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02166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CEE9-A610-0314-2869-62DD5DF9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3300D2-C110-03DE-6CFA-27568A533960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203544-CA2F-E1EB-2012-6ED8239FA6B4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F2710E-C84D-2713-E8D8-40BD09ED5076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6A3AB1-A757-B135-1FA5-D8B1F15D0A8A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70C4C6-C234-CB7B-C121-6E79EDC04C00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B9C27D-D429-6C8E-600B-6FFDC3E21593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58D6BC6-EF86-ACD9-BA09-4D5B8D9A4FB5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A5626-7488-9762-BDC8-3F51A8AF4B82}"/>
              </a:ext>
            </a:extLst>
          </p:cNvPr>
          <p:cNvSpPr txBox="1"/>
          <p:nvPr/>
        </p:nvSpPr>
        <p:spPr>
          <a:xfrm>
            <a:off x="4600575" y="3743117"/>
            <a:ext cx="90868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>
                <a:solidFill>
                  <a:schemeClr val="bg1"/>
                </a:solidFill>
              </a:rPr>
              <a:t>시스템 설계 및 개발 환경</a:t>
            </a:r>
            <a:endParaRPr lang="ko-KR" alt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575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32-52FE-6F96-7A3B-C2804EDE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A72E2E-DDDF-C77B-32C1-15BB66A5C76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F8319F-E883-1DC0-68C0-32557E5AB89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449D8A3-524C-9EB8-9BBB-E56BA562D1C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FFB802ED-FA2A-AE57-F23B-2DF94FEBC1C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656967A-ECA3-ECF4-FF95-C89618E32F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9DF10878-F8B5-4839-A7D6-C1B29E1F3B6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1D1C595-775C-B7BC-F406-871A6B8D068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9DC239-B63F-9A42-CCC5-F7F3E9FC099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8CAC60A-EEB2-65AC-4164-ADF0BD10C2A1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FBB2E3E-2F34-4FFE-3F7A-10DD045FD9F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54430C7-07B3-EF70-963E-23B96F19183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E25C7D-C9E6-B3FC-5219-49756CE5288E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004D08F-7FB5-54FD-52BF-A66A1CAA9F8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D062EF71-C32E-44C1-6931-347B787FA3D3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586112DB-080D-2D5F-A28A-DD1A421940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1C6FBD-341A-C41C-D159-B3EB356B80D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5A3B85-D34A-9ED0-5EB4-79328318B9A0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BBCAA0-4138-BFA7-9D5C-DA956FFE452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0AD9C-90A2-1403-D849-E49FB981E51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E86599-A574-71FC-11A3-EAF0C4D0CBF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D437F5-5A5E-4AEE-23D0-012737473C6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08101-86CD-37EE-E4D5-7F13A1685D5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564077-C3C9-4B80-C435-C36DB4594EA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46D077-E995-F76D-3EAA-930753F6407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0C663BC5-241D-D5D2-48EE-0C6108C8365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7FACC-0487-69FD-66CF-0C28C407493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0">
            <a:extLst>
              <a:ext uri="{FF2B5EF4-FFF2-40B4-BE49-F238E27FC236}">
                <a16:creationId xmlns:a16="http://schemas.microsoft.com/office/drawing/2014/main" id="{F2B8DD7C-9037-A66D-4E9B-2CDB296AD976}"/>
              </a:ext>
            </a:extLst>
          </p:cNvPr>
          <p:cNvSpPr/>
          <p:nvPr/>
        </p:nvSpPr>
        <p:spPr>
          <a:xfrm>
            <a:off x="5931000" y="3898800"/>
            <a:ext cx="977400" cy="977400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6E69A8F8-1CF9-7E71-9795-16E914592D9B}"/>
              </a:ext>
            </a:extLst>
          </p:cNvPr>
          <p:cNvSpPr/>
          <p:nvPr/>
        </p:nvSpPr>
        <p:spPr>
          <a:xfrm>
            <a:off x="9029880" y="6959520"/>
            <a:ext cx="1142640" cy="1142640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C88C1515-B67A-1037-85C4-97560928AD68}"/>
              </a:ext>
            </a:extLst>
          </p:cNvPr>
          <p:cNvSpPr/>
          <p:nvPr/>
        </p:nvSpPr>
        <p:spPr>
          <a:xfrm>
            <a:off x="12318840" y="7010280"/>
            <a:ext cx="964800" cy="964800"/>
          </a:xfrm>
          <a:custGeom>
            <a:avLst/>
            <a:gdLst/>
            <a:ahLst/>
            <a:cxnLst/>
            <a:rect l="l" t="t" r="r" b="b"/>
            <a:pathLst>
              <a:path w="964800" h="964800">
                <a:moveTo>
                  <a:pt x="0" y="0"/>
                </a:moveTo>
                <a:lnTo>
                  <a:pt x="964800" y="0"/>
                </a:lnTo>
                <a:lnTo>
                  <a:pt x="964800" y="964800"/>
                </a:lnTo>
                <a:lnTo>
                  <a:pt x="0" y="96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9B414412-1BCF-F33C-4650-E228808B31AF}"/>
              </a:ext>
            </a:extLst>
          </p:cNvPr>
          <p:cNvSpPr/>
          <p:nvPr/>
        </p:nvSpPr>
        <p:spPr>
          <a:xfrm>
            <a:off x="11379602" y="3327586"/>
            <a:ext cx="6493789" cy="6603902"/>
          </a:xfrm>
          <a:custGeom>
            <a:avLst/>
            <a:gdLst/>
            <a:ahLst/>
            <a:cxnLst/>
            <a:rect l="l" t="t" r="r" b="b"/>
            <a:pathLst>
              <a:path w="5726026" h="5774318">
                <a:moveTo>
                  <a:pt x="0" y="0"/>
                </a:moveTo>
                <a:lnTo>
                  <a:pt x="5726026" y="0"/>
                </a:lnTo>
                <a:lnTo>
                  <a:pt x="5726026" y="5774318"/>
                </a:lnTo>
                <a:lnTo>
                  <a:pt x="0" y="5774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489" t="-23658" r="-7841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Box 68">
            <a:extLst>
              <a:ext uri="{FF2B5EF4-FFF2-40B4-BE49-F238E27FC236}">
                <a16:creationId xmlns:a16="http://schemas.microsoft.com/office/drawing/2014/main" id="{364706DC-3B33-4118-F3F3-F39F6013FC90}"/>
              </a:ext>
            </a:extLst>
          </p:cNvPr>
          <p:cNvSpPr txBox="1"/>
          <p:nvPr/>
        </p:nvSpPr>
        <p:spPr>
          <a:xfrm>
            <a:off x="1950405" y="2785312"/>
            <a:ext cx="9915990" cy="417420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039"/>
              </a:lnSpc>
            </a:pPr>
            <a:r>
              <a:rPr lang="en-US" sz="3200" b="1" dirty="0">
                <a:latin typeface="+mn-ea"/>
                <a:cs typeface="Calibri (MS) Bold"/>
                <a:sym typeface="Calibri (MS) Bold"/>
              </a:rPr>
              <a:t>RAG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시스템에</a:t>
            </a:r>
            <a:r>
              <a:rPr lang="en-US" sz="3200" b="1" dirty="0">
                <a:latin typeface="+mn-ea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적합한</a:t>
            </a:r>
            <a:r>
              <a:rPr lang="en-US" sz="3200" b="1" dirty="0">
                <a:latin typeface="+mn-ea"/>
                <a:cs typeface="Calibri (MS) Bold"/>
                <a:sym typeface="Calibri (MS) Bold"/>
              </a:rPr>
              <a:t> 8</a:t>
            </a:r>
            <a:r>
              <a:rPr lang="ko-KR" altLang="en-US" sz="3200" b="1" dirty="0">
                <a:latin typeface="+mn-ea"/>
                <a:cs typeface="Calibri (MS) Bold"/>
                <a:sym typeface="Calibri (MS) Bold"/>
              </a:rPr>
              <a:t>개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임베딩</a:t>
            </a:r>
            <a:r>
              <a:rPr lang="en-US" sz="3200" b="1" dirty="0">
                <a:latin typeface="+mn-ea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모델</a:t>
            </a:r>
            <a:r>
              <a:rPr lang="en-US" sz="3200" b="1" dirty="0">
                <a:latin typeface="+mn-ea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선정</a:t>
            </a:r>
            <a:r>
              <a:rPr lang="en-US" sz="3200" b="1" dirty="0">
                <a:latin typeface="+mn-ea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latin typeface="+mn-ea"/>
                <a:cs typeface="Calibri (MS) Bold"/>
                <a:sym typeface="Calibri (MS) Bold"/>
              </a:rPr>
              <a:t>기준</a:t>
            </a:r>
            <a:endParaRPr lang="en-US" sz="3200" b="1" dirty="0">
              <a:latin typeface="+mn-ea"/>
              <a:cs typeface="Calibri (MS) Bold"/>
              <a:sym typeface="Calibri (MS) Bold"/>
            </a:endParaRPr>
          </a:p>
          <a:p>
            <a:pPr marL="337820" lvl="1" indent="-168910" algn="l">
              <a:lnSpc>
                <a:spcPts val="5039"/>
              </a:lnSpc>
              <a:buFont typeface="Arial"/>
              <a:buChar char="•"/>
            </a:pP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문장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연결성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문맥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이해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능력</a:t>
            </a:r>
            <a:endParaRPr lang="en-US" sz="2799" dirty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337820" lvl="1" indent="-168910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Paraphrase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감지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고품질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endParaRPr lang="en-US" sz="2799" dirty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337820" lvl="1" indent="-168910" algn="l">
              <a:lnSpc>
                <a:spcPts val="5039"/>
              </a:lnSpc>
              <a:buFont typeface="Arial"/>
              <a:buChar char="•"/>
            </a:pP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도메인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특화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지식</a:t>
            </a:r>
            <a:endParaRPr lang="en-US" sz="2799" dirty="0">
              <a:latin typeface="Calibri (MS)"/>
              <a:ea typeface="Calibri (MS)"/>
              <a:cs typeface="Calibri (MS)"/>
              <a:sym typeface="Calibri (MS)"/>
            </a:endParaRPr>
          </a:p>
          <a:p>
            <a:pPr marL="337820" lvl="1" indent="-168910" algn="l">
              <a:lnSpc>
                <a:spcPts val="5039"/>
              </a:lnSpc>
              <a:buFont typeface="Arial"/>
              <a:buChar char="•"/>
            </a:pP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대규모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데이터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처리</a:t>
            </a:r>
            <a:r>
              <a:rPr lang="en-US" sz="2799" dirty="0"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sz="2799" dirty="0" err="1">
                <a:latin typeface="Calibri (MS)"/>
                <a:ea typeface="Calibri (MS)"/>
                <a:cs typeface="Calibri (MS)"/>
                <a:sym typeface="Calibri (MS)"/>
              </a:rPr>
              <a:t>효율성</a:t>
            </a:r>
            <a:endParaRPr lang="en-US" sz="2799" dirty="0"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418975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32-52FE-6F96-7A3B-C2804EDE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A72E2E-DDDF-C77B-32C1-15BB66A5C76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F8319F-E883-1DC0-68C0-32557E5AB89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449D8A3-524C-9EB8-9BBB-E56BA562D1C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FFB802ED-FA2A-AE57-F23B-2DF94FEBC1C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656967A-ECA3-ECF4-FF95-C89618E32F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9DF10878-F8B5-4839-A7D6-C1B29E1F3B6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1D1C595-775C-B7BC-F406-871A6B8D068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9DC239-B63F-9A42-CCC5-F7F3E9FC099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8CAC60A-EEB2-65AC-4164-ADF0BD10C2A1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FBB2E3E-2F34-4FFE-3F7A-10DD045FD9F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54430C7-07B3-EF70-963E-23B96F19183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E25C7D-C9E6-B3FC-5219-49756CE5288E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004D08F-7FB5-54FD-52BF-A66A1CAA9F8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D062EF71-C32E-44C1-6931-347B787FA3D3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586112DB-080D-2D5F-A28A-DD1A421940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1C6FBD-341A-C41C-D159-B3EB356B80D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5A3B85-D34A-9ED0-5EB4-79328318B9A0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BBCAA0-4138-BFA7-9D5C-DA956FFE452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0AD9C-90A2-1403-D849-E49FB981E51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E86599-A574-71FC-11A3-EAF0C4D0CBF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D437F5-5A5E-4AEE-23D0-012737473C6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08101-86CD-37EE-E4D5-7F13A1685D5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564077-C3C9-4B80-C435-C36DB4594EA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46D077-E995-F76D-3EAA-930753F6407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0C663BC5-241D-D5D2-48EE-0C6108C8365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7FACC-0487-69FD-66CF-0C28C407493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0">
            <a:extLst>
              <a:ext uri="{FF2B5EF4-FFF2-40B4-BE49-F238E27FC236}">
                <a16:creationId xmlns:a16="http://schemas.microsoft.com/office/drawing/2014/main" id="{68600003-17DC-6E6C-8350-414EFC492DA1}"/>
              </a:ext>
            </a:extLst>
          </p:cNvPr>
          <p:cNvSpPr/>
          <p:nvPr/>
        </p:nvSpPr>
        <p:spPr>
          <a:xfrm>
            <a:off x="5931000" y="3898800"/>
            <a:ext cx="977400" cy="977400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744174C2-2D20-7F08-9BB8-AA4C7BD32AEA}"/>
              </a:ext>
            </a:extLst>
          </p:cNvPr>
          <p:cNvSpPr/>
          <p:nvPr/>
        </p:nvSpPr>
        <p:spPr>
          <a:xfrm>
            <a:off x="9029880" y="6959520"/>
            <a:ext cx="1142640" cy="1142640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470B2E00-5C7E-D5BC-C76F-83FFD6F78E5D}"/>
              </a:ext>
            </a:extLst>
          </p:cNvPr>
          <p:cNvSpPr txBox="1"/>
          <p:nvPr/>
        </p:nvSpPr>
        <p:spPr>
          <a:xfrm>
            <a:off x="2252915" y="6429291"/>
            <a:ext cx="9016016" cy="426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lIns="0" tIns="0" rIns="0" bIns="0" rtlCol="0" anchor="t"/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latin typeface="Calibri (MS)"/>
                <a:ea typeface="Calibri (MS)"/>
                <a:cs typeface="Calibri (MS)"/>
                <a:sym typeface="Calibri (MS)"/>
              </a:rPr>
              <a:t>RAG시스템에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b="1" dirty="0" err="1">
                <a:latin typeface="Calibri (MS)"/>
                <a:ea typeface="Calibri (MS)"/>
                <a:cs typeface="Calibri (MS)"/>
                <a:sym typeface="Calibri (MS)"/>
              </a:rPr>
              <a:t>사용할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b="1" dirty="0" err="1">
                <a:latin typeface="Calibri (MS)"/>
                <a:ea typeface="Calibri (MS)"/>
                <a:cs typeface="Calibri (MS)"/>
                <a:sym typeface="Calibri (MS)"/>
              </a:rPr>
              <a:t>최고의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b="1" dirty="0" err="1"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b="1" dirty="0" err="1">
                <a:latin typeface="Calibri (MS)"/>
                <a:ea typeface="Calibri (MS)"/>
                <a:cs typeface="Calibri (MS)"/>
                <a:sym typeface="Calibri (MS)"/>
              </a:rPr>
              <a:t>모델을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ko-KR" altLang="en-US" sz="2799" b="1" dirty="0">
                <a:latin typeface="Calibri (MS)"/>
                <a:ea typeface="Calibri (MS)"/>
                <a:cs typeface="Calibri (MS)"/>
                <a:sym typeface="Calibri (MS)"/>
              </a:rPr>
              <a:t>선정하기 위함</a:t>
            </a:r>
            <a:r>
              <a:rPr lang="en-US" sz="2799" b="1" dirty="0">
                <a:latin typeface="Calibri (MS)"/>
                <a:ea typeface="Calibri (MS)"/>
                <a:cs typeface="Calibri (MS)"/>
                <a:sym typeface="Calibri (MS)"/>
              </a:rPr>
              <a:t>  </a:t>
            </a:r>
          </a:p>
          <a:p>
            <a:pPr algn="l">
              <a:lnSpc>
                <a:spcPts val="3359"/>
              </a:lnSpc>
            </a:pPr>
            <a:endParaRPr lang="en-US" sz="2799" b="1" dirty="0"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3" name="TextBox 68">
            <a:extLst>
              <a:ext uri="{FF2B5EF4-FFF2-40B4-BE49-F238E27FC236}">
                <a16:creationId xmlns:a16="http://schemas.microsoft.com/office/drawing/2014/main" id="{F67E8E75-4829-F579-B72D-AB6518D7BC00}"/>
              </a:ext>
            </a:extLst>
          </p:cNvPr>
          <p:cNvSpPr txBox="1"/>
          <p:nvPr/>
        </p:nvSpPr>
        <p:spPr>
          <a:xfrm>
            <a:off x="2158638" y="3020709"/>
            <a:ext cx="9204571" cy="1143614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en-US" altLang="ko-KR" sz="3200" b="1" dirty="0"/>
              <a:t> 8</a:t>
            </a:r>
            <a:r>
              <a:rPr lang="ko-KR" altLang="en-US" sz="3200" b="1" dirty="0"/>
              <a:t>개 </a:t>
            </a:r>
            <a:r>
              <a:rPr lang="ko-KR" altLang="en-US" sz="3200" b="1" dirty="0" err="1"/>
              <a:t>임베딩</a:t>
            </a:r>
            <a:r>
              <a:rPr lang="ko-KR" altLang="en-US" sz="3200" b="1" dirty="0"/>
              <a:t> 모델 중 명확한 차이를 보이는</a:t>
            </a:r>
            <a:endParaRPr lang="en-US" altLang="ko-KR" sz="3200" b="1" dirty="0"/>
          </a:p>
          <a:p>
            <a:r>
              <a:rPr lang="ko-KR" altLang="en-US" sz="3200" b="1" dirty="0"/>
              <a:t> </a:t>
            </a:r>
            <a:r>
              <a:rPr lang="en-US" altLang="ko-KR" sz="3200" b="1" dirty="0"/>
              <a:t>3</a:t>
            </a:r>
            <a:r>
              <a:rPr lang="ko-KR" altLang="en-US" sz="3200" b="1" dirty="0"/>
              <a:t>개 </a:t>
            </a:r>
            <a:r>
              <a:rPr lang="ko-KR" altLang="en-US" sz="3200" b="1" dirty="0" err="1"/>
              <a:t>임베딩</a:t>
            </a:r>
            <a:r>
              <a:rPr lang="ko-KR" altLang="en-US" sz="3200" b="1" dirty="0"/>
              <a:t> 모델을 선정하여 답변 분석 연구를 진행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47502A-4753-D20A-B869-F5302D74483E}"/>
              </a:ext>
            </a:extLst>
          </p:cNvPr>
          <p:cNvGrpSpPr/>
          <p:nvPr/>
        </p:nvGrpSpPr>
        <p:grpSpPr>
          <a:xfrm>
            <a:off x="11731937" y="2323522"/>
            <a:ext cx="6174111" cy="7151138"/>
            <a:chOff x="11731937" y="2323522"/>
            <a:chExt cx="5668345" cy="5868229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09452411-B9F8-F6FE-27CF-D603AE826A60}"/>
                </a:ext>
              </a:extLst>
            </p:cNvPr>
            <p:cNvSpPr/>
            <p:nvPr/>
          </p:nvSpPr>
          <p:spPr>
            <a:xfrm>
              <a:off x="12193122" y="6019931"/>
              <a:ext cx="964800" cy="964800"/>
            </a:xfrm>
            <a:custGeom>
              <a:avLst/>
              <a:gdLst/>
              <a:ahLst/>
              <a:cxnLst/>
              <a:rect l="l" t="t" r="r" b="b"/>
              <a:pathLst>
                <a:path w="964800" h="964800">
                  <a:moveTo>
                    <a:pt x="0" y="0"/>
                  </a:moveTo>
                  <a:lnTo>
                    <a:pt x="964800" y="0"/>
                  </a:lnTo>
                  <a:lnTo>
                    <a:pt x="964800" y="964800"/>
                  </a:lnTo>
                  <a:lnTo>
                    <a:pt x="0" y="96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6AE7F30A-03E9-4E81-1F89-991BD939FA1F}"/>
                </a:ext>
              </a:extLst>
            </p:cNvPr>
            <p:cNvSpPr/>
            <p:nvPr/>
          </p:nvSpPr>
          <p:spPr>
            <a:xfrm>
              <a:off x="11731937" y="2323522"/>
              <a:ext cx="5668345" cy="5868229"/>
            </a:xfrm>
            <a:custGeom>
              <a:avLst/>
              <a:gdLst/>
              <a:ahLst/>
              <a:cxnLst/>
              <a:rect l="l" t="t" r="r" b="b"/>
              <a:pathLst>
                <a:path w="5726026" h="5774318">
                  <a:moveTo>
                    <a:pt x="0" y="0"/>
                  </a:moveTo>
                  <a:lnTo>
                    <a:pt x="5726026" y="0"/>
                  </a:lnTo>
                  <a:lnTo>
                    <a:pt x="5726026" y="5774318"/>
                  </a:lnTo>
                  <a:lnTo>
                    <a:pt x="0" y="5774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489" t="-23658" r="-7841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21FD93-91FA-0D15-7DFE-79E33A3D9A53}"/>
                </a:ext>
              </a:extLst>
            </p:cNvPr>
            <p:cNvSpPr/>
            <p:nvPr/>
          </p:nvSpPr>
          <p:spPr>
            <a:xfrm>
              <a:off x="11837682" y="5907057"/>
              <a:ext cx="5453814" cy="38740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53C9361-F43A-1D08-5A59-618B3ACDA7C9}"/>
                </a:ext>
              </a:extLst>
            </p:cNvPr>
            <p:cNvSpPr/>
            <p:nvPr/>
          </p:nvSpPr>
          <p:spPr>
            <a:xfrm>
              <a:off x="11837682" y="6429713"/>
              <a:ext cx="5453814" cy="38740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270AC67-3CF6-EEEF-4C31-26C736CBE750}"/>
                </a:ext>
              </a:extLst>
            </p:cNvPr>
            <p:cNvSpPr/>
            <p:nvPr/>
          </p:nvSpPr>
          <p:spPr>
            <a:xfrm>
              <a:off x="11837682" y="7007139"/>
              <a:ext cx="5453814" cy="387401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27D3F425-4181-0F7D-0AD3-30FD9CCAC57F}"/>
              </a:ext>
            </a:extLst>
          </p:cNvPr>
          <p:cNvSpPr/>
          <p:nvPr/>
        </p:nvSpPr>
        <p:spPr>
          <a:xfrm>
            <a:off x="6117520" y="4536669"/>
            <a:ext cx="1069664" cy="1383676"/>
          </a:xfrm>
          <a:prstGeom prst="downArrow">
            <a:avLst/>
          </a:prstGeom>
          <a:solidFill>
            <a:srgbClr val="747E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26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32-52FE-6F96-7A3B-C2804EDE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A72E2E-DDDF-C77B-32C1-15BB66A5C76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F8319F-E883-1DC0-68C0-32557E5AB89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449D8A3-524C-9EB8-9BBB-E56BA562D1C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FFB802ED-FA2A-AE57-F23B-2DF94FEBC1C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656967A-ECA3-ECF4-FF95-C89618E32F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9DF10878-F8B5-4839-A7D6-C1B29E1F3B6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1D1C595-775C-B7BC-F406-871A6B8D068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9DC239-B63F-9A42-CCC5-F7F3E9FC099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8CAC60A-EEB2-65AC-4164-ADF0BD10C2A1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FBB2E3E-2F34-4FFE-3F7A-10DD045FD9F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54430C7-07B3-EF70-963E-23B96F19183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35D0E-2810-7D61-A3FD-DC4B9430E034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en-US" altLang="ko-KR" sz="3600" dirty="0">
                <a:solidFill>
                  <a:srgbClr val="747EA7"/>
                </a:solidFill>
              </a:rPr>
              <a:t>3</a:t>
            </a:r>
            <a:r>
              <a:rPr lang="ko-KR" altLang="en-US" sz="3600" dirty="0">
                <a:solidFill>
                  <a:srgbClr val="747EA7"/>
                </a:solidFill>
              </a:rPr>
              <a:t>개 </a:t>
            </a:r>
            <a:r>
              <a:rPr lang="ko-KR" altLang="en-US" sz="3600" dirty="0" err="1">
                <a:solidFill>
                  <a:srgbClr val="747EA7"/>
                </a:solidFill>
              </a:rPr>
              <a:t>임베딩</a:t>
            </a:r>
            <a:r>
              <a:rPr lang="ko-KR" altLang="en-US" sz="3600" dirty="0">
                <a:solidFill>
                  <a:srgbClr val="747EA7"/>
                </a:solidFill>
              </a:rPr>
              <a:t> 모델 비교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E25C7D-C9E6-B3FC-5219-49756CE5288E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004D08F-7FB5-54FD-52BF-A66A1CAA9F8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D062EF71-C32E-44C1-6931-347B787FA3D3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586112DB-080D-2D5F-A28A-DD1A421940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1C6FBD-341A-C41C-D159-B3EB356B80D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5A3B85-D34A-9ED0-5EB4-79328318B9A0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BBCAA0-4138-BFA7-9D5C-DA956FFE452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0AD9C-90A2-1403-D849-E49FB981E51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E86599-A574-71FC-11A3-EAF0C4D0CBF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D437F5-5A5E-4AEE-23D0-012737473C6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08101-86CD-37EE-E4D5-7F13A1685D5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564077-C3C9-4B80-C435-C36DB4594EA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46D077-E995-F76D-3EAA-930753F6407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0C663BC5-241D-D5D2-48EE-0C6108C8365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7FACC-0487-69FD-66CF-0C28C407493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0">
            <a:extLst>
              <a:ext uri="{FF2B5EF4-FFF2-40B4-BE49-F238E27FC236}">
                <a16:creationId xmlns:a16="http://schemas.microsoft.com/office/drawing/2014/main" id="{C934536C-ABBC-BA63-D5F6-96A1E1B34BA4}"/>
              </a:ext>
            </a:extLst>
          </p:cNvPr>
          <p:cNvSpPr/>
          <p:nvPr/>
        </p:nvSpPr>
        <p:spPr>
          <a:xfrm>
            <a:off x="5659113" y="2896828"/>
            <a:ext cx="1014739" cy="1187230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AC8D652E-716E-77FD-5858-C6FB82B73074}"/>
              </a:ext>
            </a:extLst>
          </p:cNvPr>
          <p:cNvSpPr/>
          <p:nvPr/>
        </p:nvSpPr>
        <p:spPr>
          <a:xfrm>
            <a:off x="8757993" y="5957548"/>
            <a:ext cx="1186291" cy="1387944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62AEBCBC-EB77-D82E-8FDA-29428ED85009}"/>
              </a:ext>
            </a:extLst>
          </p:cNvPr>
          <p:cNvSpPr/>
          <p:nvPr/>
        </p:nvSpPr>
        <p:spPr>
          <a:xfrm>
            <a:off x="12046954" y="6008307"/>
            <a:ext cx="1001658" cy="1171925"/>
          </a:xfrm>
          <a:custGeom>
            <a:avLst/>
            <a:gdLst/>
            <a:ahLst/>
            <a:cxnLst/>
            <a:rect l="l" t="t" r="r" b="b"/>
            <a:pathLst>
              <a:path w="964800" h="964800">
                <a:moveTo>
                  <a:pt x="0" y="0"/>
                </a:moveTo>
                <a:lnTo>
                  <a:pt x="964800" y="0"/>
                </a:lnTo>
                <a:lnTo>
                  <a:pt x="964800" y="964800"/>
                </a:lnTo>
                <a:lnTo>
                  <a:pt x="0" y="96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16">
            <a:extLst>
              <a:ext uri="{FF2B5EF4-FFF2-40B4-BE49-F238E27FC236}">
                <a16:creationId xmlns:a16="http://schemas.microsoft.com/office/drawing/2014/main" id="{337453E3-445F-311F-B41A-31D79B16E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75404"/>
              </p:ext>
            </p:extLst>
          </p:nvPr>
        </p:nvGraphicFramePr>
        <p:xfrm>
          <a:off x="2102915" y="2290298"/>
          <a:ext cx="15598055" cy="7471118"/>
        </p:xfrm>
        <a:graphic>
          <a:graphicData uri="http://schemas.openxmlformats.org/drawingml/2006/table">
            <a:tbl>
              <a:tblPr/>
              <a:tblGrid>
                <a:gridCol w="187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5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5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517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특성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MPNet-base-v2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text-embedding-3-small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text-embedding-ada-002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57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모델 종류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Sentence-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Transformers의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MPNet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기반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모델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 (MS)"/>
                        <a:ea typeface="Calibri (MS)"/>
                        <a:cs typeface="Calibri (MS)"/>
                        <a:sym typeface="Calibri (MS)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altLang="ko-KR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OpenAI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의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텍스트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임베딩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모델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OpenAI의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텍스트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임베딩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모델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57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주요 용도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문장 간 의미적 유사성 평가,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문장 임베딩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텍스트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임베딩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검색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및 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유사도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측정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텍스트 임베딩, 검색 및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유사도 측정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09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차원 수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768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1536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1536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0455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특징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문장 간 유사도 측정에 최적화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paraphrase 감지에 뛰어남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-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빠르고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효율적인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벡터화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-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주로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검색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및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질문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응답에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사용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멀티링구얼 지원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정밀한 검색과 유사도 측정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0455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학습 방식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Masked Language Model (MLM) </a:t>
                      </a:r>
                    </a:p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방식으로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사전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훈련된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모델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비지도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학습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방식으로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텍스트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</a:p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임베딩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모델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훈련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비지도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학습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방식으로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다양한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</a:p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언어와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텍스트를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임베딩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0455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토큰 당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가격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무료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" panose="020B0600000101010101" charset="0"/>
                          <a:ea typeface="Calibri (MS) Bold"/>
                          <a:cs typeface="Calibri (MS)" panose="020B0600000101010101" charset="0"/>
                          <a:sym typeface="Calibri (MS) Bold"/>
                        </a:rPr>
                        <a:t>1,000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Calibri (MS)" panose="020B0600000101010101" charset="0"/>
                          <a:ea typeface="Calibri (MS) Bold"/>
                          <a:cs typeface="Calibri (MS)" panose="020B0600000101010101" charset="0"/>
                          <a:sym typeface="Calibri (MS) Bold"/>
                        </a:rPr>
                        <a:t>토큰당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 (MS)" panose="020B0600000101010101" charset="0"/>
                          <a:ea typeface="Calibri (MS) Bold"/>
                          <a:cs typeface="Calibri (MS)" panose="020B0600000101010101" charset="0"/>
                          <a:sym typeface="Calibri (MS) Bold"/>
                        </a:rPr>
                        <a:t> $0.00002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 (MS)" panose="020B0600000101010101" charset="0"/>
                        <a:cs typeface="Calibri (MS)" panose="020B0600000101010101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1,000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토큰당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$0.00010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810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32-52FE-6F96-7A3B-C2804EDE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A72E2E-DDDF-C77B-32C1-15BB66A5C76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F8319F-E883-1DC0-68C0-32557E5AB89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449D8A3-524C-9EB8-9BBB-E56BA562D1C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FFB802ED-FA2A-AE57-F23B-2DF94FEBC1C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656967A-ECA3-ECF4-FF95-C89618E32F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9DF10878-F8B5-4839-A7D6-C1B29E1F3B6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1D1C595-775C-B7BC-F406-871A6B8D068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9DC239-B63F-9A42-CCC5-F7F3E9FC099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8CAC60A-EEB2-65AC-4164-ADF0BD10C2A1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FBB2E3E-2F34-4FFE-3F7A-10DD045FD9F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54430C7-07B3-EF70-963E-23B96F19183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35D0E-2810-7D61-A3FD-DC4B9430E034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en-US" altLang="ko-KR" sz="3600" dirty="0">
                <a:solidFill>
                  <a:srgbClr val="747EA7"/>
                </a:solidFill>
              </a:rPr>
              <a:t>3</a:t>
            </a:r>
            <a:r>
              <a:rPr lang="ko-KR" altLang="en-US" sz="3600" dirty="0">
                <a:solidFill>
                  <a:srgbClr val="747EA7"/>
                </a:solidFill>
              </a:rPr>
              <a:t>개 </a:t>
            </a:r>
            <a:r>
              <a:rPr lang="ko-KR" altLang="en-US" sz="3600" dirty="0" err="1">
                <a:solidFill>
                  <a:srgbClr val="747EA7"/>
                </a:solidFill>
              </a:rPr>
              <a:t>임베딩</a:t>
            </a:r>
            <a:r>
              <a:rPr lang="ko-KR" altLang="en-US" sz="3600" dirty="0">
                <a:solidFill>
                  <a:srgbClr val="747EA7"/>
                </a:solidFill>
              </a:rPr>
              <a:t> 모델 비교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E25C7D-C9E6-B3FC-5219-49756CE5288E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004D08F-7FB5-54FD-52BF-A66A1CAA9F8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D062EF71-C32E-44C1-6931-347B787FA3D3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586112DB-080D-2D5F-A28A-DD1A421940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1C6FBD-341A-C41C-D159-B3EB356B80D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5A3B85-D34A-9ED0-5EB4-79328318B9A0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BBCAA0-4138-BFA7-9D5C-DA956FFE452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0AD9C-90A2-1403-D849-E49FB981E51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E86599-A574-71FC-11A3-EAF0C4D0CBF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D437F5-5A5E-4AEE-23D0-012737473C6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08101-86CD-37EE-E4D5-7F13A1685D5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564077-C3C9-4B80-C435-C36DB4594EA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46D077-E995-F76D-3EAA-930753F6407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0C663BC5-241D-D5D2-48EE-0C6108C8365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7FACC-0487-69FD-66CF-0C28C407493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7">
            <a:extLst>
              <a:ext uri="{FF2B5EF4-FFF2-40B4-BE49-F238E27FC236}">
                <a16:creationId xmlns:a16="http://schemas.microsoft.com/office/drawing/2014/main" id="{5A30B07C-5A2C-D403-0D35-A50A832E68FE}"/>
              </a:ext>
            </a:extLst>
          </p:cNvPr>
          <p:cNvSpPr/>
          <p:nvPr/>
        </p:nvSpPr>
        <p:spPr>
          <a:xfrm>
            <a:off x="5387238" y="3247165"/>
            <a:ext cx="977400" cy="977400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615ADB3B-3752-2AE7-1FF2-DE291EC9264D}"/>
              </a:ext>
            </a:extLst>
          </p:cNvPr>
          <p:cNvGrpSpPr/>
          <p:nvPr/>
        </p:nvGrpSpPr>
        <p:grpSpPr>
          <a:xfrm>
            <a:off x="4530569" y="8559228"/>
            <a:ext cx="10296525" cy="627638"/>
            <a:chOff x="0" y="-57150"/>
            <a:chExt cx="13728699" cy="836851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F102146-6CBD-DFF3-3BF8-BB55C29A3C2D}"/>
                </a:ext>
              </a:extLst>
            </p:cNvPr>
            <p:cNvSpPr/>
            <p:nvPr/>
          </p:nvSpPr>
          <p:spPr>
            <a:xfrm>
              <a:off x="0" y="-1"/>
              <a:ext cx="13728699" cy="779654"/>
            </a:xfrm>
            <a:custGeom>
              <a:avLst/>
              <a:gdLst/>
              <a:ahLst/>
              <a:cxnLst/>
              <a:rect l="l" t="t" r="r" b="b"/>
              <a:pathLst>
                <a:path w="13728700" h="779653">
                  <a:moveTo>
                    <a:pt x="0" y="0"/>
                  </a:moveTo>
                  <a:lnTo>
                    <a:pt x="13728700" y="0"/>
                  </a:lnTo>
                  <a:lnTo>
                    <a:pt x="13728700" y="779653"/>
                  </a:lnTo>
                  <a:lnTo>
                    <a:pt x="0" y="779653"/>
                  </a:lnTo>
                  <a:close/>
                </a:path>
              </a:pathLst>
            </a:custGeom>
            <a:solidFill>
              <a:srgbClr val="E6E8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A12D5237-564F-B569-3B28-754F68FF7535}"/>
                </a:ext>
              </a:extLst>
            </p:cNvPr>
            <p:cNvSpPr txBox="1"/>
            <p:nvPr/>
          </p:nvSpPr>
          <p:spPr>
            <a:xfrm>
              <a:off x="0" y="-57150"/>
              <a:ext cx="13728675" cy="83685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840"/>
                </a:lnSpc>
              </a:pP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의도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질문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나노브릭은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유상증자를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어떻게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dirty="0" err="1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진행하나요</a:t>
              </a:r>
              <a:r>
                <a:rPr lang="en-US" sz="3200" dirty="0">
                  <a:solidFill>
                    <a:srgbClr val="5648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sp>
        <p:nvSpPr>
          <p:cNvPr id="15" name="Freeform 59">
            <a:extLst>
              <a:ext uri="{FF2B5EF4-FFF2-40B4-BE49-F238E27FC236}">
                <a16:creationId xmlns:a16="http://schemas.microsoft.com/office/drawing/2014/main" id="{1AD91C23-A289-8A19-8B60-559663CECF93}"/>
              </a:ext>
            </a:extLst>
          </p:cNvPr>
          <p:cNvSpPr/>
          <p:nvPr/>
        </p:nvSpPr>
        <p:spPr>
          <a:xfrm>
            <a:off x="2590025" y="5714012"/>
            <a:ext cx="14014685" cy="1082680"/>
          </a:xfrm>
          <a:custGeom>
            <a:avLst/>
            <a:gdLst/>
            <a:ahLst/>
            <a:cxnLst/>
            <a:rect l="l" t="t" r="r" b="b"/>
            <a:pathLst>
              <a:path w="14014685" h="1082680">
                <a:moveTo>
                  <a:pt x="0" y="0"/>
                </a:moveTo>
                <a:lnTo>
                  <a:pt x="14014685" y="0"/>
                </a:lnTo>
                <a:lnTo>
                  <a:pt x="14014685" y="1082680"/>
                </a:lnTo>
                <a:lnTo>
                  <a:pt x="0" y="10826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60">
            <a:extLst>
              <a:ext uri="{FF2B5EF4-FFF2-40B4-BE49-F238E27FC236}">
                <a16:creationId xmlns:a16="http://schemas.microsoft.com/office/drawing/2014/main" id="{16C51D7F-7861-3065-547E-0CD6291D0188}"/>
              </a:ext>
            </a:extLst>
          </p:cNvPr>
          <p:cNvGrpSpPr/>
          <p:nvPr/>
        </p:nvGrpSpPr>
        <p:grpSpPr>
          <a:xfrm>
            <a:off x="5790692" y="5194811"/>
            <a:ext cx="1263551" cy="523220"/>
            <a:chOff x="0" y="0"/>
            <a:chExt cx="1684735" cy="697627"/>
          </a:xfrm>
        </p:grpSpPr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109657E5-C6C4-750A-90F4-4D823928E7ED}"/>
                </a:ext>
              </a:extLst>
            </p:cNvPr>
            <p:cNvSpPr/>
            <p:nvPr/>
          </p:nvSpPr>
          <p:spPr>
            <a:xfrm>
              <a:off x="0" y="0"/>
              <a:ext cx="1684735" cy="697627"/>
            </a:xfrm>
            <a:custGeom>
              <a:avLst/>
              <a:gdLst/>
              <a:ahLst/>
              <a:cxnLst/>
              <a:rect l="l" t="t" r="r" b="b"/>
              <a:pathLst>
                <a:path w="1684735" h="697627">
                  <a:moveTo>
                    <a:pt x="0" y="0"/>
                  </a:moveTo>
                  <a:lnTo>
                    <a:pt x="1684735" y="0"/>
                  </a:lnTo>
                  <a:lnTo>
                    <a:pt x="1684735" y="697627"/>
                  </a:lnTo>
                  <a:lnTo>
                    <a:pt x="0" y="6976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62">
              <a:extLst>
                <a:ext uri="{FF2B5EF4-FFF2-40B4-BE49-F238E27FC236}">
                  <a16:creationId xmlns:a16="http://schemas.microsoft.com/office/drawing/2014/main" id="{AA91F305-D3C6-E4B3-9CF4-5EA881224CEE}"/>
                </a:ext>
              </a:extLst>
            </p:cNvPr>
            <p:cNvSpPr txBox="1"/>
            <p:nvPr/>
          </p:nvSpPr>
          <p:spPr>
            <a:xfrm>
              <a:off x="0" y="-47625"/>
              <a:ext cx="1684735" cy="7452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제목</a:t>
              </a:r>
            </a:p>
          </p:txBody>
        </p:sp>
      </p:grpSp>
      <p:grpSp>
        <p:nvGrpSpPr>
          <p:cNvPr id="19" name="Group 63">
            <a:extLst>
              <a:ext uri="{FF2B5EF4-FFF2-40B4-BE49-F238E27FC236}">
                <a16:creationId xmlns:a16="http://schemas.microsoft.com/office/drawing/2014/main" id="{096CFAE6-B65A-1A44-B41D-6626A07E7C33}"/>
              </a:ext>
            </a:extLst>
          </p:cNvPr>
          <p:cNvGrpSpPr/>
          <p:nvPr/>
        </p:nvGrpSpPr>
        <p:grpSpPr>
          <a:xfrm>
            <a:off x="12865375" y="5223802"/>
            <a:ext cx="1549668" cy="523220"/>
            <a:chOff x="0" y="0"/>
            <a:chExt cx="2066224" cy="697627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E8FA45E3-DCE0-DC3C-79E5-0D9F19A0051A}"/>
                </a:ext>
              </a:extLst>
            </p:cNvPr>
            <p:cNvSpPr/>
            <p:nvPr/>
          </p:nvSpPr>
          <p:spPr>
            <a:xfrm>
              <a:off x="0" y="0"/>
              <a:ext cx="2066224" cy="697627"/>
            </a:xfrm>
            <a:custGeom>
              <a:avLst/>
              <a:gdLst/>
              <a:ahLst/>
              <a:cxnLst/>
              <a:rect l="l" t="t" r="r" b="b"/>
              <a:pathLst>
                <a:path w="2066224" h="697627">
                  <a:moveTo>
                    <a:pt x="0" y="0"/>
                  </a:moveTo>
                  <a:lnTo>
                    <a:pt x="2066224" y="0"/>
                  </a:lnTo>
                  <a:lnTo>
                    <a:pt x="2066224" y="697627"/>
                  </a:lnTo>
                  <a:lnTo>
                    <a:pt x="0" y="6976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65">
              <a:extLst>
                <a:ext uri="{FF2B5EF4-FFF2-40B4-BE49-F238E27FC236}">
                  <a16:creationId xmlns:a16="http://schemas.microsoft.com/office/drawing/2014/main" id="{31487849-5301-09EC-4247-2EC2EBA16C7D}"/>
                </a:ext>
              </a:extLst>
            </p:cNvPr>
            <p:cNvSpPr txBox="1"/>
            <p:nvPr/>
          </p:nvSpPr>
          <p:spPr>
            <a:xfrm>
              <a:off x="0" y="-47625"/>
              <a:ext cx="2066224" cy="7452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내용</a:t>
              </a:r>
            </a:p>
          </p:txBody>
        </p:sp>
      </p:grpSp>
      <p:grpSp>
        <p:nvGrpSpPr>
          <p:cNvPr id="38" name="Group 66">
            <a:extLst>
              <a:ext uri="{FF2B5EF4-FFF2-40B4-BE49-F238E27FC236}">
                <a16:creationId xmlns:a16="http://schemas.microsoft.com/office/drawing/2014/main" id="{5BB33B61-E0E6-2694-3412-27EFF06E44B5}"/>
              </a:ext>
            </a:extLst>
          </p:cNvPr>
          <p:cNvGrpSpPr/>
          <p:nvPr/>
        </p:nvGrpSpPr>
        <p:grpSpPr>
          <a:xfrm>
            <a:off x="2297595" y="2641220"/>
            <a:ext cx="11198122" cy="1961050"/>
            <a:chOff x="0" y="0"/>
            <a:chExt cx="14930829" cy="2614733"/>
          </a:xfrm>
        </p:grpSpPr>
        <p:sp>
          <p:nvSpPr>
            <p:cNvPr id="39" name="Freeform 67">
              <a:extLst>
                <a:ext uri="{FF2B5EF4-FFF2-40B4-BE49-F238E27FC236}">
                  <a16:creationId xmlns:a16="http://schemas.microsoft.com/office/drawing/2014/main" id="{ABC827A5-3FBB-CA85-800B-0A6BAA5FE7F3}"/>
                </a:ext>
              </a:extLst>
            </p:cNvPr>
            <p:cNvSpPr/>
            <p:nvPr/>
          </p:nvSpPr>
          <p:spPr>
            <a:xfrm>
              <a:off x="0" y="0"/>
              <a:ext cx="14930830" cy="2614733"/>
            </a:xfrm>
            <a:custGeom>
              <a:avLst/>
              <a:gdLst/>
              <a:ahLst/>
              <a:cxnLst/>
              <a:rect l="l" t="t" r="r" b="b"/>
              <a:pathLst>
                <a:path w="14930830" h="2614733">
                  <a:moveTo>
                    <a:pt x="0" y="0"/>
                  </a:moveTo>
                  <a:lnTo>
                    <a:pt x="14930830" y="0"/>
                  </a:lnTo>
                  <a:lnTo>
                    <a:pt x="14930830" y="2614733"/>
                  </a:lnTo>
                  <a:lnTo>
                    <a:pt x="0" y="2614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68">
              <a:extLst>
                <a:ext uri="{FF2B5EF4-FFF2-40B4-BE49-F238E27FC236}">
                  <a16:creationId xmlns:a16="http://schemas.microsoft.com/office/drawing/2014/main" id="{56E8358D-663A-6E66-2259-FD9FB8BB8B27}"/>
                </a:ext>
              </a:extLst>
            </p:cNvPr>
            <p:cNvSpPr txBox="1"/>
            <p:nvPr/>
          </p:nvSpPr>
          <p:spPr>
            <a:xfrm>
              <a:off x="0" y="-209550"/>
              <a:ext cx="14930829" cy="28242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039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모델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비교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목적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: 각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모델의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데이터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참조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능력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비교</a:t>
              </a:r>
              <a:r>
                <a:rPr lang="en-US" sz="3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&gt;</a:t>
              </a:r>
            </a:p>
            <a:p>
              <a:pPr marL="337820" lvl="1" indent="-168910" algn="l">
                <a:lnSpc>
                  <a:spcPts val="503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DB에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저장된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기사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데이터를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정확히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참조하는지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확인</a:t>
              </a: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37820" lvl="1" indent="-168910" algn="l">
                <a:lnSpc>
                  <a:spcPts val="5039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각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모델이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주어진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질문에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대해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기사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데이터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참조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능력을</a:t>
              </a:r>
              <a:r>
                <a:rPr lang="en-US" sz="2799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분석</a:t>
              </a:r>
              <a:endPara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41" name="화살표: 아래쪽 40">
            <a:extLst>
              <a:ext uri="{FF2B5EF4-FFF2-40B4-BE49-F238E27FC236}">
                <a16:creationId xmlns:a16="http://schemas.microsoft.com/office/drawing/2014/main" id="{F5988F63-B5E0-E65E-A36D-3141FF6D255A}"/>
              </a:ext>
            </a:extLst>
          </p:cNvPr>
          <p:cNvSpPr/>
          <p:nvPr/>
        </p:nvSpPr>
        <p:spPr>
          <a:xfrm>
            <a:off x="9144000" y="6984424"/>
            <a:ext cx="1069664" cy="1127880"/>
          </a:xfrm>
          <a:prstGeom prst="downArrow">
            <a:avLst/>
          </a:prstGeom>
          <a:solidFill>
            <a:srgbClr val="747E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542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A2E05-5B76-FFCB-D41B-593E754F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BB93344-F267-5F89-5DC3-C53F8CE9F9E3}"/>
              </a:ext>
            </a:extLst>
          </p:cNvPr>
          <p:cNvGrpSpPr/>
          <p:nvPr/>
        </p:nvGrpSpPr>
        <p:grpSpPr>
          <a:xfrm>
            <a:off x="152402" y="128908"/>
            <a:ext cx="17989286" cy="10081892"/>
            <a:chOff x="293771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562D551-70D4-C18F-3BF0-B3760455155C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42648B6-1879-542D-C50B-8368F1B3811D}"/>
                </a:ext>
              </a:extLst>
            </p:cNvPr>
            <p:cNvGrpSpPr/>
            <p:nvPr/>
          </p:nvGrpSpPr>
          <p:grpSpPr>
            <a:xfrm>
              <a:off x="293771" y="463429"/>
              <a:ext cx="17847895" cy="9624593"/>
              <a:chOff x="220043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9BB06B8D-8D32-538C-9E8F-D71C045F073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80D53E22-3F5C-CB51-31FC-FCC3DBD6BD6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0D70F09D-B1B5-D774-469A-6F485A1ED44C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2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914244B-1F92-35FD-C28F-868C46C0840F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4D6C0E30-62C2-7B94-C437-C925AE646594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0FDDE70C-D525-5584-146D-88F56A8CD5EF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A586302-119A-D5BB-08F0-5B60E9E49CB8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3D1B6FB7-1851-E498-1CCC-C78965140A91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0FDE3-A9D2-E197-7FF1-0108BBF92AEB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en-US" altLang="ko-KR" sz="3600" dirty="0">
                <a:solidFill>
                  <a:srgbClr val="747EA7"/>
                </a:solidFill>
              </a:rPr>
              <a:t>3</a:t>
            </a:r>
            <a:r>
              <a:rPr lang="ko-KR" altLang="en-US" sz="3600" dirty="0">
                <a:solidFill>
                  <a:srgbClr val="747EA7"/>
                </a:solidFill>
              </a:rPr>
              <a:t>개 </a:t>
            </a:r>
            <a:r>
              <a:rPr lang="ko-KR" altLang="en-US" sz="3600" dirty="0" err="1">
                <a:solidFill>
                  <a:srgbClr val="747EA7"/>
                </a:solidFill>
              </a:rPr>
              <a:t>임베딩</a:t>
            </a:r>
            <a:r>
              <a:rPr lang="ko-KR" altLang="en-US" sz="3600" dirty="0">
                <a:solidFill>
                  <a:srgbClr val="747EA7"/>
                </a:solidFill>
              </a:rPr>
              <a:t> 모델 비교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0ED878D-D334-F4DE-8EE0-1B7BCA95A72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0DBB1AA-2AC3-F703-3156-161F0C6537C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6C35BEF2-04E6-FA5A-3A3D-0E5A06D5AEA2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2F59696D-B232-36EA-3C7B-2F09403FD674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B4E1FF-CF85-2648-4FBB-8954CB223D30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F0436E-B3F0-1B44-576B-C823DF361B92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103C51-675E-0DE5-1E65-F11B42FD8D65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577BC8-2981-86BB-6865-8A6101395B11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695B44E-F9B1-778E-1A89-7BFF19446B5E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432242F-F7EC-27C5-B18F-9BB18C664487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86FF38-3E8C-3E4A-98C1-33A709864F71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87CD2BB-4545-071A-CF1B-F5591B0B3F40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DC99EED-24D1-8B04-BDF3-32B753B3B538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915D908E-E074-4F0E-3B28-F0EBC90CE8C4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2B3837-FF19-FA75-A580-26462C64CF7A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68" name="Freeform 7">
            <a:extLst>
              <a:ext uri="{FF2B5EF4-FFF2-40B4-BE49-F238E27FC236}">
                <a16:creationId xmlns:a16="http://schemas.microsoft.com/office/drawing/2014/main" id="{D4F766F8-1141-5B06-C273-991DBEC48D2D}"/>
              </a:ext>
            </a:extLst>
          </p:cNvPr>
          <p:cNvSpPr/>
          <p:nvPr/>
        </p:nvSpPr>
        <p:spPr>
          <a:xfrm>
            <a:off x="5931000" y="3898800"/>
            <a:ext cx="977400" cy="977400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9" name="Freeform 8">
            <a:extLst>
              <a:ext uri="{FF2B5EF4-FFF2-40B4-BE49-F238E27FC236}">
                <a16:creationId xmlns:a16="http://schemas.microsoft.com/office/drawing/2014/main" id="{FF85353C-E44B-823F-76EC-0BC757B9E63B}"/>
              </a:ext>
            </a:extLst>
          </p:cNvPr>
          <p:cNvSpPr/>
          <p:nvPr/>
        </p:nvSpPr>
        <p:spPr>
          <a:xfrm>
            <a:off x="9029880" y="6959520"/>
            <a:ext cx="1142640" cy="1142640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0" name="Freeform 9">
            <a:extLst>
              <a:ext uri="{FF2B5EF4-FFF2-40B4-BE49-F238E27FC236}">
                <a16:creationId xmlns:a16="http://schemas.microsoft.com/office/drawing/2014/main" id="{45036CEC-CB6B-2988-B036-A3588C8A6973}"/>
              </a:ext>
            </a:extLst>
          </p:cNvPr>
          <p:cNvSpPr/>
          <p:nvPr/>
        </p:nvSpPr>
        <p:spPr>
          <a:xfrm>
            <a:off x="12318840" y="7010280"/>
            <a:ext cx="964800" cy="964800"/>
          </a:xfrm>
          <a:custGeom>
            <a:avLst/>
            <a:gdLst/>
            <a:ahLst/>
            <a:cxnLst/>
            <a:rect l="l" t="t" r="r" b="b"/>
            <a:pathLst>
              <a:path w="964800" h="964800">
                <a:moveTo>
                  <a:pt x="0" y="0"/>
                </a:moveTo>
                <a:lnTo>
                  <a:pt x="964800" y="0"/>
                </a:lnTo>
                <a:lnTo>
                  <a:pt x="964800" y="964800"/>
                </a:lnTo>
                <a:lnTo>
                  <a:pt x="0" y="96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1" name="Freeform 65">
            <a:extLst>
              <a:ext uri="{FF2B5EF4-FFF2-40B4-BE49-F238E27FC236}">
                <a16:creationId xmlns:a16="http://schemas.microsoft.com/office/drawing/2014/main" id="{10942AE9-6890-59D9-8247-9BBF749C99EC}"/>
              </a:ext>
            </a:extLst>
          </p:cNvPr>
          <p:cNvSpPr/>
          <p:nvPr/>
        </p:nvSpPr>
        <p:spPr>
          <a:xfrm>
            <a:off x="4108527" y="2913694"/>
            <a:ext cx="8606088" cy="1848067"/>
          </a:xfrm>
          <a:custGeom>
            <a:avLst/>
            <a:gdLst/>
            <a:ahLst/>
            <a:cxnLst/>
            <a:rect l="l" t="t" r="r" b="b"/>
            <a:pathLst>
              <a:path w="8606088" h="1848067">
                <a:moveTo>
                  <a:pt x="0" y="0"/>
                </a:moveTo>
                <a:lnTo>
                  <a:pt x="8606088" y="0"/>
                </a:lnTo>
                <a:lnTo>
                  <a:pt x="8606088" y="1848067"/>
                </a:lnTo>
                <a:lnTo>
                  <a:pt x="0" y="18480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2" name="Group 66">
            <a:extLst>
              <a:ext uri="{FF2B5EF4-FFF2-40B4-BE49-F238E27FC236}">
                <a16:creationId xmlns:a16="http://schemas.microsoft.com/office/drawing/2014/main" id="{6159B3C7-6CCB-FF91-0D72-414F4C23D955}"/>
              </a:ext>
            </a:extLst>
          </p:cNvPr>
          <p:cNvGrpSpPr/>
          <p:nvPr/>
        </p:nvGrpSpPr>
        <p:grpSpPr>
          <a:xfrm>
            <a:off x="2400907" y="5874916"/>
            <a:ext cx="956490" cy="480268"/>
            <a:chOff x="0" y="0"/>
            <a:chExt cx="1275320" cy="640358"/>
          </a:xfrm>
        </p:grpSpPr>
        <p:sp>
          <p:nvSpPr>
            <p:cNvPr id="173" name="Freeform 67">
              <a:extLst>
                <a:ext uri="{FF2B5EF4-FFF2-40B4-BE49-F238E27FC236}">
                  <a16:creationId xmlns:a16="http://schemas.microsoft.com/office/drawing/2014/main" id="{FBDB49FC-6DC5-4DC1-85A5-0319D5250768}"/>
                </a:ext>
              </a:extLst>
            </p:cNvPr>
            <p:cNvSpPr/>
            <p:nvPr/>
          </p:nvSpPr>
          <p:spPr>
            <a:xfrm>
              <a:off x="0" y="0"/>
              <a:ext cx="1275320" cy="640358"/>
            </a:xfrm>
            <a:custGeom>
              <a:avLst/>
              <a:gdLst/>
              <a:ahLst/>
              <a:cxnLst/>
              <a:rect l="l" t="t" r="r" b="b"/>
              <a:pathLst>
                <a:path w="1275320" h="640358">
                  <a:moveTo>
                    <a:pt x="0" y="0"/>
                  </a:moveTo>
                  <a:lnTo>
                    <a:pt x="1275320" y="0"/>
                  </a:lnTo>
                  <a:lnTo>
                    <a:pt x="1275320" y="640358"/>
                  </a:lnTo>
                  <a:lnTo>
                    <a:pt x="0" y="640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TextBox 68">
              <a:extLst>
                <a:ext uri="{FF2B5EF4-FFF2-40B4-BE49-F238E27FC236}">
                  <a16:creationId xmlns:a16="http://schemas.microsoft.com/office/drawing/2014/main" id="{BDE41049-ACEA-1CDB-E4A2-FBD1B2053E1F}"/>
                </a:ext>
              </a:extLst>
            </p:cNvPr>
            <p:cNvSpPr txBox="1"/>
            <p:nvPr/>
          </p:nvSpPr>
          <p:spPr>
            <a:xfrm>
              <a:off x="0" y="-38100"/>
              <a:ext cx="1275320" cy="6784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정확도</a:t>
              </a:r>
            </a:p>
          </p:txBody>
        </p:sp>
      </p:grpSp>
      <p:grpSp>
        <p:nvGrpSpPr>
          <p:cNvPr id="175" name="Group 69">
            <a:extLst>
              <a:ext uri="{FF2B5EF4-FFF2-40B4-BE49-F238E27FC236}">
                <a16:creationId xmlns:a16="http://schemas.microsoft.com/office/drawing/2014/main" id="{0FEAC4A2-A69D-351D-C56E-234926A429CF}"/>
              </a:ext>
            </a:extLst>
          </p:cNvPr>
          <p:cNvGrpSpPr/>
          <p:nvPr/>
        </p:nvGrpSpPr>
        <p:grpSpPr>
          <a:xfrm>
            <a:off x="3358677" y="3492817"/>
            <a:ext cx="522494" cy="646331"/>
            <a:chOff x="0" y="0"/>
            <a:chExt cx="696659" cy="861775"/>
          </a:xfrm>
        </p:grpSpPr>
        <p:sp>
          <p:nvSpPr>
            <p:cNvPr id="176" name="Freeform 70">
              <a:extLst>
                <a:ext uri="{FF2B5EF4-FFF2-40B4-BE49-F238E27FC236}">
                  <a16:creationId xmlns:a16="http://schemas.microsoft.com/office/drawing/2014/main" id="{E4533A3C-83B7-CF11-8EE0-C1001B853DB6}"/>
                </a:ext>
              </a:extLst>
            </p:cNvPr>
            <p:cNvSpPr/>
            <p:nvPr/>
          </p:nvSpPr>
          <p:spPr>
            <a:xfrm>
              <a:off x="0" y="0"/>
              <a:ext cx="696659" cy="861775"/>
            </a:xfrm>
            <a:custGeom>
              <a:avLst/>
              <a:gdLst/>
              <a:ahLst/>
              <a:cxnLst/>
              <a:rect l="l" t="t" r="r" b="b"/>
              <a:pathLst>
                <a:path w="696659" h="861775">
                  <a:moveTo>
                    <a:pt x="0" y="0"/>
                  </a:moveTo>
                  <a:lnTo>
                    <a:pt x="696659" y="0"/>
                  </a:lnTo>
                  <a:lnTo>
                    <a:pt x="696659" y="861775"/>
                  </a:lnTo>
                  <a:lnTo>
                    <a:pt x="0" y="861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TextBox 71">
              <a:extLst>
                <a:ext uri="{FF2B5EF4-FFF2-40B4-BE49-F238E27FC236}">
                  <a16:creationId xmlns:a16="http://schemas.microsoft.com/office/drawing/2014/main" id="{CF8E2833-E3A6-A229-CC0E-3ECA89B64333}"/>
                </a:ext>
              </a:extLst>
            </p:cNvPr>
            <p:cNvSpPr txBox="1"/>
            <p:nvPr/>
          </p:nvSpPr>
          <p:spPr>
            <a:xfrm>
              <a:off x="0" y="-38100"/>
              <a:ext cx="696659" cy="8998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높음</a:t>
              </a:r>
            </a:p>
          </p:txBody>
        </p:sp>
      </p:grpSp>
      <p:grpSp>
        <p:nvGrpSpPr>
          <p:cNvPr id="178" name="Group 72">
            <a:extLst>
              <a:ext uri="{FF2B5EF4-FFF2-40B4-BE49-F238E27FC236}">
                <a16:creationId xmlns:a16="http://schemas.microsoft.com/office/drawing/2014/main" id="{411F3FF2-DBEF-2516-04B8-28C9FF4985F7}"/>
              </a:ext>
            </a:extLst>
          </p:cNvPr>
          <p:cNvGrpSpPr/>
          <p:nvPr/>
        </p:nvGrpSpPr>
        <p:grpSpPr>
          <a:xfrm>
            <a:off x="3357397" y="8209730"/>
            <a:ext cx="522494" cy="400870"/>
            <a:chOff x="0" y="0"/>
            <a:chExt cx="696659" cy="534494"/>
          </a:xfrm>
        </p:grpSpPr>
        <p:sp>
          <p:nvSpPr>
            <p:cNvPr id="179" name="Freeform 73">
              <a:extLst>
                <a:ext uri="{FF2B5EF4-FFF2-40B4-BE49-F238E27FC236}">
                  <a16:creationId xmlns:a16="http://schemas.microsoft.com/office/drawing/2014/main" id="{B75EC76C-F613-75DC-5C9E-404A0D380736}"/>
                </a:ext>
              </a:extLst>
            </p:cNvPr>
            <p:cNvSpPr/>
            <p:nvPr/>
          </p:nvSpPr>
          <p:spPr>
            <a:xfrm>
              <a:off x="0" y="0"/>
              <a:ext cx="696659" cy="534494"/>
            </a:xfrm>
            <a:custGeom>
              <a:avLst/>
              <a:gdLst/>
              <a:ahLst/>
              <a:cxnLst/>
              <a:rect l="l" t="t" r="r" b="b"/>
              <a:pathLst>
                <a:path w="696659" h="534494">
                  <a:moveTo>
                    <a:pt x="0" y="0"/>
                  </a:moveTo>
                  <a:lnTo>
                    <a:pt x="696659" y="0"/>
                  </a:lnTo>
                  <a:lnTo>
                    <a:pt x="696659" y="534494"/>
                  </a:lnTo>
                  <a:lnTo>
                    <a:pt x="0" y="5344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TextBox 74">
              <a:extLst>
                <a:ext uri="{FF2B5EF4-FFF2-40B4-BE49-F238E27FC236}">
                  <a16:creationId xmlns:a16="http://schemas.microsoft.com/office/drawing/2014/main" id="{1EA4F964-9F3C-A04A-53C2-333AF2719FE4}"/>
                </a:ext>
              </a:extLst>
            </p:cNvPr>
            <p:cNvSpPr txBox="1"/>
            <p:nvPr/>
          </p:nvSpPr>
          <p:spPr>
            <a:xfrm>
              <a:off x="0" y="-38100"/>
              <a:ext cx="696659" cy="57259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낮음</a:t>
              </a:r>
            </a:p>
          </p:txBody>
        </p:sp>
      </p:grpSp>
      <p:sp>
        <p:nvSpPr>
          <p:cNvPr id="181" name="Freeform 75">
            <a:extLst>
              <a:ext uri="{FF2B5EF4-FFF2-40B4-BE49-F238E27FC236}">
                <a16:creationId xmlns:a16="http://schemas.microsoft.com/office/drawing/2014/main" id="{24E56FDF-C11B-E6FC-ED21-F8E85286098A}"/>
              </a:ext>
            </a:extLst>
          </p:cNvPr>
          <p:cNvSpPr/>
          <p:nvPr/>
        </p:nvSpPr>
        <p:spPr>
          <a:xfrm>
            <a:off x="4108527" y="5021149"/>
            <a:ext cx="10685145" cy="1887597"/>
          </a:xfrm>
          <a:custGeom>
            <a:avLst/>
            <a:gdLst/>
            <a:ahLst/>
            <a:cxnLst/>
            <a:rect l="l" t="t" r="r" b="b"/>
            <a:pathLst>
              <a:path w="10685145" h="1887597">
                <a:moveTo>
                  <a:pt x="0" y="0"/>
                </a:moveTo>
                <a:lnTo>
                  <a:pt x="10685145" y="0"/>
                </a:lnTo>
                <a:lnTo>
                  <a:pt x="10685145" y="1887597"/>
                </a:lnTo>
                <a:lnTo>
                  <a:pt x="0" y="18875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2" name="Freeform 76">
            <a:extLst>
              <a:ext uri="{FF2B5EF4-FFF2-40B4-BE49-F238E27FC236}">
                <a16:creationId xmlns:a16="http://schemas.microsoft.com/office/drawing/2014/main" id="{3F025E07-990E-56ED-AE74-E528269AB003}"/>
              </a:ext>
            </a:extLst>
          </p:cNvPr>
          <p:cNvSpPr/>
          <p:nvPr/>
        </p:nvSpPr>
        <p:spPr>
          <a:xfrm>
            <a:off x="4098430" y="7139552"/>
            <a:ext cx="11974930" cy="1979782"/>
          </a:xfrm>
          <a:custGeom>
            <a:avLst/>
            <a:gdLst/>
            <a:ahLst/>
            <a:cxnLst/>
            <a:rect l="l" t="t" r="r" b="b"/>
            <a:pathLst>
              <a:path w="11974930" h="1979782">
                <a:moveTo>
                  <a:pt x="0" y="0"/>
                </a:moveTo>
                <a:lnTo>
                  <a:pt x="11974930" y="0"/>
                </a:lnTo>
                <a:lnTo>
                  <a:pt x="11974930" y="1979782"/>
                </a:lnTo>
                <a:lnTo>
                  <a:pt x="0" y="197978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3" name="AutoShape 77">
            <a:extLst>
              <a:ext uri="{FF2B5EF4-FFF2-40B4-BE49-F238E27FC236}">
                <a16:creationId xmlns:a16="http://schemas.microsoft.com/office/drawing/2014/main" id="{18308161-C5A5-2DE2-4168-A59AC2BE6103}"/>
              </a:ext>
            </a:extLst>
          </p:cNvPr>
          <p:cNvSpPr/>
          <p:nvPr/>
        </p:nvSpPr>
        <p:spPr>
          <a:xfrm flipV="1">
            <a:off x="3581824" y="4178300"/>
            <a:ext cx="0" cy="3634826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4" name="Group 78">
            <a:extLst>
              <a:ext uri="{FF2B5EF4-FFF2-40B4-BE49-F238E27FC236}">
                <a16:creationId xmlns:a16="http://schemas.microsoft.com/office/drawing/2014/main" id="{4B57B941-564F-4D9D-99D7-062C4741F951}"/>
              </a:ext>
            </a:extLst>
          </p:cNvPr>
          <p:cNvGrpSpPr/>
          <p:nvPr/>
        </p:nvGrpSpPr>
        <p:grpSpPr>
          <a:xfrm>
            <a:off x="4274017" y="7835365"/>
            <a:ext cx="11798583" cy="1272288"/>
            <a:chOff x="0" y="0"/>
            <a:chExt cx="15731444" cy="1696384"/>
          </a:xfrm>
        </p:grpSpPr>
        <p:sp>
          <p:nvSpPr>
            <p:cNvPr id="185" name="Freeform 79">
              <a:extLst>
                <a:ext uri="{FF2B5EF4-FFF2-40B4-BE49-F238E27FC236}">
                  <a16:creationId xmlns:a16="http://schemas.microsoft.com/office/drawing/2014/main" id="{26CB993D-1E17-444A-A853-8CB87393B47E}"/>
                </a:ext>
              </a:extLst>
            </p:cNvPr>
            <p:cNvSpPr/>
            <p:nvPr/>
          </p:nvSpPr>
          <p:spPr>
            <a:xfrm>
              <a:off x="0" y="0"/>
              <a:ext cx="15731489" cy="1696339"/>
            </a:xfrm>
            <a:custGeom>
              <a:avLst/>
              <a:gdLst/>
              <a:ahLst/>
              <a:cxnLst/>
              <a:rect l="l" t="t" r="r" b="b"/>
              <a:pathLst>
                <a:path w="15731489" h="1696339">
                  <a:moveTo>
                    <a:pt x="50800" y="0"/>
                  </a:moveTo>
                  <a:lnTo>
                    <a:pt x="15680689" y="0"/>
                  </a:lnTo>
                  <a:cubicBezTo>
                    <a:pt x="15708756" y="0"/>
                    <a:pt x="15731489" y="22733"/>
                    <a:pt x="15731489" y="50800"/>
                  </a:cubicBezTo>
                  <a:lnTo>
                    <a:pt x="15731489" y="1645539"/>
                  </a:lnTo>
                  <a:cubicBezTo>
                    <a:pt x="15731489" y="1673606"/>
                    <a:pt x="15708756" y="1696339"/>
                    <a:pt x="15680689" y="1696339"/>
                  </a:cubicBezTo>
                  <a:lnTo>
                    <a:pt x="50800" y="1696339"/>
                  </a:lnTo>
                  <a:cubicBezTo>
                    <a:pt x="22733" y="1696339"/>
                    <a:pt x="0" y="1673606"/>
                    <a:pt x="0" y="1645539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645539"/>
                  </a:lnTo>
                  <a:lnTo>
                    <a:pt x="50800" y="1645539"/>
                  </a:lnTo>
                  <a:lnTo>
                    <a:pt x="50800" y="1594739"/>
                  </a:lnTo>
                  <a:lnTo>
                    <a:pt x="15680689" y="1594739"/>
                  </a:lnTo>
                  <a:lnTo>
                    <a:pt x="15680689" y="1645539"/>
                  </a:lnTo>
                  <a:lnTo>
                    <a:pt x="15629889" y="1645539"/>
                  </a:lnTo>
                  <a:lnTo>
                    <a:pt x="15629889" y="50800"/>
                  </a:lnTo>
                  <a:lnTo>
                    <a:pt x="15680689" y="50800"/>
                  </a:lnTo>
                  <a:lnTo>
                    <a:pt x="15680689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6" name="Group 80">
            <a:extLst>
              <a:ext uri="{FF2B5EF4-FFF2-40B4-BE49-F238E27FC236}">
                <a16:creationId xmlns:a16="http://schemas.microsoft.com/office/drawing/2014/main" id="{5C7674C2-F86B-BACE-6CF1-0034D5A6508E}"/>
              </a:ext>
            </a:extLst>
          </p:cNvPr>
          <p:cNvGrpSpPr/>
          <p:nvPr/>
        </p:nvGrpSpPr>
        <p:grpSpPr>
          <a:xfrm>
            <a:off x="4158515" y="3536975"/>
            <a:ext cx="8594200" cy="890965"/>
            <a:chOff x="0" y="0"/>
            <a:chExt cx="11458933" cy="1187953"/>
          </a:xfrm>
        </p:grpSpPr>
        <p:sp>
          <p:nvSpPr>
            <p:cNvPr id="187" name="Freeform 81">
              <a:extLst>
                <a:ext uri="{FF2B5EF4-FFF2-40B4-BE49-F238E27FC236}">
                  <a16:creationId xmlns:a16="http://schemas.microsoft.com/office/drawing/2014/main" id="{31B93F89-A7E0-E085-DE08-CBEFD0388F18}"/>
                </a:ext>
              </a:extLst>
            </p:cNvPr>
            <p:cNvSpPr/>
            <p:nvPr/>
          </p:nvSpPr>
          <p:spPr>
            <a:xfrm>
              <a:off x="0" y="0"/>
              <a:ext cx="11458956" cy="1187958"/>
            </a:xfrm>
            <a:custGeom>
              <a:avLst/>
              <a:gdLst/>
              <a:ahLst/>
              <a:cxnLst/>
              <a:rect l="l" t="t" r="r" b="b"/>
              <a:pathLst>
                <a:path w="11458956" h="1187958">
                  <a:moveTo>
                    <a:pt x="50800" y="0"/>
                  </a:moveTo>
                  <a:lnTo>
                    <a:pt x="11408156" y="0"/>
                  </a:lnTo>
                  <a:cubicBezTo>
                    <a:pt x="11436224" y="0"/>
                    <a:pt x="11458956" y="22733"/>
                    <a:pt x="11458956" y="50800"/>
                  </a:cubicBezTo>
                  <a:lnTo>
                    <a:pt x="11458956" y="1137158"/>
                  </a:lnTo>
                  <a:cubicBezTo>
                    <a:pt x="11458956" y="1165225"/>
                    <a:pt x="11436224" y="1187958"/>
                    <a:pt x="11408156" y="1187958"/>
                  </a:cubicBezTo>
                  <a:lnTo>
                    <a:pt x="50800" y="1187958"/>
                  </a:lnTo>
                  <a:cubicBezTo>
                    <a:pt x="22733" y="1187958"/>
                    <a:pt x="0" y="1165225"/>
                    <a:pt x="0" y="113715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137158"/>
                  </a:lnTo>
                  <a:lnTo>
                    <a:pt x="50800" y="1137158"/>
                  </a:lnTo>
                  <a:lnTo>
                    <a:pt x="50800" y="1086358"/>
                  </a:lnTo>
                  <a:lnTo>
                    <a:pt x="11408156" y="1086358"/>
                  </a:lnTo>
                  <a:lnTo>
                    <a:pt x="11408156" y="1137158"/>
                  </a:lnTo>
                  <a:lnTo>
                    <a:pt x="11357356" y="1137158"/>
                  </a:lnTo>
                  <a:lnTo>
                    <a:pt x="11357356" y="50800"/>
                  </a:lnTo>
                  <a:lnTo>
                    <a:pt x="11408156" y="50800"/>
                  </a:lnTo>
                  <a:lnTo>
                    <a:pt x="11408156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8" name="Group 82">
            <a:extLst>
              <a:ext uri="{FF2B5EF4-FFF2-40B4-BE49-F238E27FC236}">
                <a16:creationId xmlns:a16="http://schemas.microsoft.com/office/drawing/2014/main" id="{FC425D8A-7ED2-CD62-24BA-AD729DACF8BF}"/>
              </a:ext>
            </a:extLst>
          </p:cNvPr>
          <p:cNvGrpSpPr/>
          <p:nvPr/>
        </p:nvGrpSpPr>
        <p:grpSpPr>
          <a:xfrm>
            <a:off x="12750019" y="7482480"/>
            <a:ext cx="3906922" cy="397907"/>
            <a:chOff x="-240513" y="-38051"/>
            <a:chExt cx="5209229" cy="530543"/>
          </a:xfrm>
        </p:grpSpPr>
        <p:sp>
          <p:nvSpPr>
            <p:cNvPr id="189" name="Freeform 83">
              <a:extLst>
                <a:ext uri="{FF2B5EF4-FFF2-40B4-BE49-F238E27FC236}">
                  <a16:creationId xmlns:a16="http://schemas.microsoft.com/office/drawing/2014/main" id="{C079D9FD-3386-D340-8384-F7AA32D25D6E}"/>
                </a:ext>
              </a:extLst>
            </p:cNvPr>
            <p:cNvSpPr/>
            <p:nvPr/>
          </p:nvSpPr>
          <p:spPr>
            <a:xfrm>
              <a:off x="0" y="0"/>
              <a:ext cx="4968716" cy="492443"/>
            </a:xfrm>
            <a:custGeom>
              <a:avLst/>
              <a:gdLst/>
              <a:ahLst/>
              <a:cxnLst/>
              <a:rect l="l" t="t" r="r" b="b"/>
              <a:pathLst>
                <a:path w="4968716" h="492443">
                  <a:moveTo>
                    <a:pt x="0" y="0"/>
                  </a:moveTo>
                  <a:lnTo>
                    <a:pt x="4968716" y="0"/>
                  </a:lnTo>
                  <a:lnTo>
                    <a:pt x="4968716" y="492443"/>
                  </a:lnTo>
                  <a:lnTo>
                    <a:pt x="0" y="4924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0" name="TextBox 84">
              <a:extLst>
                <a:ext uri="{FF2B5EF4-FFF2-40B4-BE49-F238E27FC236}">
                  <a16:creationId xmlns:a16="http://schemas.microsoft.com/office/drawing/2014/main" id="{E8DE0789-29DD-0056-A40A-7E3618B7B303}"/>
                </a:ext>
              </a:extLst>
            </p:cNvPr>
            <p:cNvSpPr txBox="1"/>
            <p:nvPr/>
          </p:nvSpPr>
          <p:spPr>
            <a:xfrm>
              <a:off x="-240513" y="-38051"/>
              <a:ext cx="4968716" cy="530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</a:t>
              </a:r>
              <a:r>
                <a:rPr lang="en-US" sz="1800" b="1" dirty="0" err="1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질문과</a:t>
              </a:r>
              <a:r>
                <a:rPr lang="en-US" sz="18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b="1" dirty="0" err="1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전혀</a:t>
              </a:r>
              <a:r>
                <a:rPr lang="en-US" sz="18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b="1" dirty="0" err="1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관련</a:t>
              </a:r>
              <a:r>
                <a:rPr lang="en-US" sz="18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b="1" dirty="0" err="1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없는</a:t>
              </a:r>
              <a:r>
                <a:rPr lang="en-US" sz="1800" b="1" dirty="0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b="1" dirty="0" err="1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데이터</a:t>
              </a:r>
              <a:endParaRPr lang="en-US" sz="1800" b="1" dirty="0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191" name="Group 85">
            <a:extLst>
              <a:ext uri="{FF2B5EF4-FFF2-40B4-BE49-F238E27FC236}">
                <a16:creationId xmlns:a16="http://schemas.microsoft.com/office/drawing/2014/main" id="{0F484742-31BD-6458-AA23-FD9D76E74B06}"/>
              </a:ext>
            </a:extLst>
          </p:cNvPr>
          <p:cNvGrpSpPr/>
          <p:nvPr/>
        </p:nvGrpSpPr>
        <p:grpSpPr>
          <a:xfrm>
            <a:off x="4274017" y="5607018"/>
            <a:ext cx="8594200" cy="535796"/>
            <a:chOff x="0" y="0"/>
            <a:chExt cx="11458933" cy="714395"/>
          </a:xfrm>
        </p:grpSpPr>
        <p:sp>
          <p:nvSpPr>
            <p:cNvPr id="192" name="Freeform 86">
              <a:extLst>
                <a:ext uri="{FF2B5EF4-FFF2-40B4-BE49-F238E27FC236}">
                  <a16:creationId xmlns:a16="http://schemas.microsoft.com/office/drawing/2014/main" id="{248FBC0F-A612-3100-1760-0307C8B41C90}"/>
                </a:ext>
              </a:extLst>
            </p:cNvPr>
            <p:cNvSpPr/>
            <p:nvPr/>
          </p:nvSpPr>
          <p:spPr>
            <a:xfrm>
              <a:off x="0" y="0"/>
              <a:ext cx="11458956" cy="714400"/>
            </a:xfrm>
            <a:custGeom>
              <a:avLst/>
              <a:gdLst/>
              <a:ahLst/>
              <a:cxnLst/>
              <a:rect l="l" t="t" r="r" b="b"/>
              <a:pathLst>
                <a:path w="11458956" h="714400">
                  <a:moveTo>
                    <a:pt x="50800" y="0"/>
                  </a:moveTo>
                  <a:lnTo>
                    <a:pt x="11408156" y="0"/>
                  </a:lnTo>
                  <a:cubicBezTo>
                    <a:pt x="11436224" y="0"/>
                    <a:pt x="11458956" y="13671"/>
                    <a:pt x="11458956" y="30549"/>
                  </a:cubicBezTo>
                  <a:lnTo>
                    <a:pt x="11458956" y="683849"/>
                  </a:lnTo>
                  <a:cubicBezTo>
                    <a:pt x="11458956" y="700727"/>
                    <a:pt x="11436224" y="714400"/>
                    <a:pt x="11408156" y="714400"/>
                  </a:cubicBezTo>
                  <a:lnTo>
                    <a:pt x="50800" y="714400"/>
                  </a:lnTo>
                  <a:cubicBezTo>
                    <a:pt x="22733" y="714400"/>
                    <a:pt x="0" y="700727"/>
                    <a:pt x="0" y="683849"/>
                  </a:cubicBezTo>
                  <a:lnTo>
                    <a:pt x="0" y="30549"/>
                  </a:lnTo>
                  <a:cubicBezTo>
                    <a:pt x="0" y="13671"/>
                    <a:pt x="22733" y="0"/>
                    <a:pt x="50800" y="0"/>
                  </a:cubicBezTo>
                  <a:moveTo>
                    <a:pt x="50800" y="61099"/>
                  </a:moveTo>
                  <a:lnTo>
                    <a:pt x="50800" y="30549"/>
                  </a:lnTo>
                  <a:lnTo>
                    <a:pt x="101600" y="30549"/>
                  </a:lnTo>
                  <a:lnTo>
                    <a:pt x="101600" y="683849"/>
                  </a:lnTo>
                  <a:lnTo>
                    <a:pt x="50800" y="683849"/>
                  </a:lnTo>
                  <a:lnTo>
                    <a:pt x="50800" y="653299"/>
                  </a:lnTo>
                  <a:lnTo>
                    <a:pt x="11408156" y="653299"/>
                  </a:lnTo>
                  <a:lnTo>
                    <a:pt x="11408156" y="683849"/>
                  </a:lnTo>
                  <a:lnTo>
                    <a:pt x="11357356" y="683849"/>
                  </a:lnTo>
                  <a:lnTo>
                    <a:pt x="11357356" y="30549"/>
                  </a:lnTo>
                  <a:lnTo>
                    <a:pt x="11408156" y="30549"/>
                  </a:lnTo>
                  <a:lnTo>
                    <a:pt x="11408156" y="61099"/>
                  </a:lnTo>
                  <a:lnTo>
                    <a:pt x="50800" y="610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1541B098-8535-91B6-0137-787484E93584}"/>
              </a:ext>
            </a:extLst>
          </p:cNvPr>
          <p:cNvSpPr/>
          <p:nvPr/>
        </p:nvSpPr>
        <p:spPr>
          <a:xfrm>
            <a:off x="2672688" y="9286537"/>
            <a:ext cx="14795226" cy="704003"/>
          </a:xfrm>
          <a:prstGeom prst="rect">
            <a:avLst/>
          </a:prstGeom>
          <a:solidFill>
            <a:srgbClr val="E6E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B1D4BAB-148B-6985-1B46-52A429E481EE}"/>
              </a:ext>
            </a:extLst>
          </p:cNvPr>
          <p:cNvSpPr txBox="1"/>
          <p:nvPr/>
        </p:nvSpPr>
        <p:spPr>
          <a:xfrm>
            <a:off x="2700426" y="9005175"/>
            <a:ext cx="15358974" cy="124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(MS)"/>
              <a:ea typeface="Calibri (MS)"/>
              <a:cs typeface="Calibri (MS)"/>
              <a:sym typeface="Calibri (MS)"/>
            </a:endParaRPr>
          </a:p>
          <a:p>
            <a:pPr marL="0" marR="0" lvl="0" indent="0" algn="l" defTabSz="914400" rtl="0" eaLnBrk="1" fontAlgn="auto" latinLnBrk="0" hangingPunct="1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같은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질문을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해도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모델의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차원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수에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따라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유사도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높은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데이터를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찾아내는데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차이를</a:t>
            </a:r>
            <a:r>
              <a:rPr kumimoji="0" lang="en-US" altLang="ko-KR" sz="2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kumimoji="0" lang="en-US" altLang="ko-KR" sz="2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(MS)"/>
                <a:ea typeface="Calibri (MS)"/>
                <a:cs typeface="Calibri (MS)"/>
                <a:sym typeface="Calibri (MS)"/>
              </a:rPr>
              <a:t>보임</a:t>
            </a:r>
            <a:endParaRPr kumimoji="0" lang="en-US" altLang="ko-KR" sz="2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(MS)"/>
              <a:ea typeface="Calibri (MS)"/>
              <a:cs typeface="Calibri (MS)"/>
              <a:sym typeface="Calibri (MS)"/>
            </a:endParaRPr>
          </a:p>
          <a:p>
            <a:endParaRPr lang="ko-KR" altLang="en-US" dirty="0"/>
          </a:p>
        </p:txBody>
      </p:sp>
      <p:grpSp>
        <p:nvGrpSpPr>
          <p:cNvPr id="195" name="Group 10">
            <a:extLst>
              <a:ext uri="{FF2B5EF4-FFF2-40B4-BE49-F238E27FC236}">
                <a16:creationId xmlns:a16="http://schemas.microsoft.com/office/drawing/2014/main" id="{4DA63C67-C8D7-29EA-DDB1-B2B469C544C9}"/>
              </a:ext>
            </a:extLst>
          </p:cNvPr>
          <p:cNvGrpSpPr/>
          <p:nvPr/>
        </p:nvGrpSpPr>
        <p:grpSpPr>
          <a:xfrm>
            <a:off x="2162726" y="2290119"/>
            <a:ext cx="9302347" cy="719781"/>
            <a:chOff x="-211129" y="-262081"/>
            <a:chExt cx="12403129" cy="959708"/>
          </a:xfrm>
        </p:grpSpPr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565E4503-73EC-42AF-B9FF-3B8CB143AAF3}"/>
                </a:ext>
              </a:extLst>
            </p:cNvPr>
            <p:cNvSpPr/>
            <p:nvPr/>
          </p:nvSpPr>
          <p:spPr>
            <a:xfrm>
              <a:off x="0" y="0"/>
              <a:ext cx="12192000" cy="697627"/>
            </a:xfrm>
            <a:custGeom>
              <a:avLst/>
              <a:gdLst/>
              <a:ahLst/>
              <a:cxnLst/>
              <a:rect l="l" t="t" r="r" b="b"/>
              <a:pathLst>
                <a:path w="12192000" h="697627">
                  <a:moveTo>
                    <a:pt x="0" y="0"/>
                  </a:moveTo>
                  <a:lnTo>
                    <a:pt x="12192000" y="0"/>
                  </a:lnTo>
                  <a:lnTo>
                    <a:pt x="12192000" y="697627"/>
                  </a:lnTo>
                  <a:lnTo>
                    <a:pt x="0" y="6976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7" name="TextBox 12">
              <a:extLst>
                <a:ext uri="{FF2B5EF4-FFF2-40B4-BE49-F238E27FC236}">
                  <a16:creationId xmlns:a16="http://schemas.microsoft.com/office/drawing/2014/main" id="{77A1B50A-1027-0793-954A-1C674E6329C5}"/>
                </a:ext>
              </a:extLst>
            </p:cNvPr>
            <p:cNvSpPr txBox="1"/>
            <p:nvPr/>
          </p:nvSpPr>
          <p:spPr>
            <a:xfrm>
              <a:off x="-211129" y="-262081"/>
              <a:ext cx="12192000" cy="7452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b="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질문</a:t>
              </a:r>
              <a:r>
                <a:rPr lang="en-US" sz="2799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  <a:r>
                <a:rPr lang="en-US" sz="2799" b="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나노브릭은</a:t>
              </a:r>
              <a:r>
                <a:rPr lang="en-US" sz="2799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b="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유상증자를</a:t>
              </a:r>
              <a:r>
                <a:rPr lang="en-US" sz="2799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b="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어떻게</a:t>
              </a:r>
              <a:r>
                <a:rPr lang="en-US" sz="2799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9" b="1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진행하나요</a:t>
              </a:r>
              <a:r>
                <a:rPr lang="en-US" sz="2799" b="1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7992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80F2-2026-0FEF-003A-92366962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F5CDFB3-5DBF-AF50-0411-BBE9BDA38E7C}"/>
              </a:ext>
            </a:extLst>
          </p:cNvPr>
          <p:cNvGrpSpPr/>
          <p:nvPr/>
        </p:nvGrpSpPr>
        <p:grpSpPr>
          <a:xfrm>
            <a:off x="152402" y="128908"/>
            <a:ext cx="17989286" cy="10081892"/>
            <a:chOff x="293771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33C0F6D-65CE-278F-3549-2E852624AC1B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2D0062C-326E-51B7-808F-0A37657614F1}"/>
                </a:ext>
              </a:extLst>
            </p:cNvPr>
            <p:cNvGrpSpPr/>
            <p:nvPr/>
          </p:nvGrpSpPr>
          <p:grpSpPr>
            <a:xfrm>
              <a:off x="293771" y="463429"/>
              <a:ext cx="17847895" cy="9624593"/>
              <a:chOff x="220043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BC7AE585-ACB8-5726-A057-91FA3FF87EC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23C3C516-FE93-694B-1965-3166865F39B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1DDD5947-72BF-B947-C7B9-CC773C7EF3B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2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D6D3263-A63B-3C2E-AD67-473DD2FD7346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735CD08-B7A6-CC5B-3F69-AB8F3A85804B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919CD311-E310-F22B-C8C5-1598AEF15CB8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C299083A-0298-9B70-18EA-12FFDC73937D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6731AEA-A493-706B-D2F5-A162FB08064E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99C697-272C-4137-6651-BC63F0B01D77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en-US" altLang="ko-KR" sz="3600" dirty="0">
                <a:solidFill>
                  <a:srgbClr val="747EA7"/>
                </a:solidFill>
              </a:rPr>
              <a:t>3</a:t>
            </a:r>
            <a:r>
              <a:rPr lang="ko-KR" altLang="en-US" sz="3600" dirty="0">
                <a:solidFill>
                  <a:srgbClr val="747EA7"/>
                </a:solidFill>
              </a:rPr>
              <a:t>개 </a:t>
            </a:r>
            <a:r>
              <a:rPr lang="ko-KR" altLang="en-US" sz="3600" dirty="0" err="1">
                <a:solidFill>
                  <a:srgbClr val="747EA7"/>
                </a:solidFill>
              </a:rPr>
              <a:t>임베딩</a:t>
            </a:r>
            <a:r>
              <a:rPr lang="ko-KR" altLang="en-US" sz="3600" dirty="0">
                <a:solidFill>
                  <a:srgbClr val="747EA7"/>
                </a:solidFill>
              </a:rPr>
              <a:t> 모델 비교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54ADA97-7A09-FE91-989B-719EA1BA2355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562E913-0123-F26A-754E-AFB0825E753F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22C2108E-B8CF-A738-DF53-07197267D79C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D77E48B5-30B0-7041-115C-2AD03F2DA33C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FADDAB-30EF-4C80-8591-CFFFBD976EC1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5CBD19-056F-6574-9C51-1ACA0FD22A1E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14CF1D-74EB-FE45-6079-5322250EE7CA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AA8DAC-36E7-EADE-07F3-B57A0B2A26E6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EAD4CE-99D0-9D18-717B-50A8A557C53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4AE50E-C3F7-964D-2A21-6E989243BF57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F6B54D-45B8-8930-77D4-BA384D84DA99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22F4D5-AD90-C93F-56F2-EF61438F459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CB40288-3BE5-4ABC-58FC-E49C9C9CDB4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90C8095F-C9C1-EEA6-4691-BE65124DC294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57069B-18AA-7688-2005-8818A1CDB110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0">
            <a:extLst>
              <a:ext uri="{FF2B5EF4-FFF2-40B4-BE49-F238E27FC236}">
                <a16:creationId xmlns:a16="http://schemas.microsoft.com/office/drawing/2014/main" id="{FA1F13B5-EC65-7EB4-0CBD-505D40186E9F}"/>
              </a:ext>
            </a:extLst>
          </p:cNvPr>
          <p:cNvSpPr/>
          <p:nvPr/>
        </p:nvSpPr>
        <p:spPr>
          <a:xfrm>
            <a:off x="5691711" y="3361157"/>
            <a:ext cx="1009720" cy="1039062"/>
          </a:xfrm>
          <a:custGeom>
            <a:avLst/>
            <a:gdLst/>
            <a:ahLst/>
            <a:cxnLst/>
            <a:rect l="l" t="t" r="r" b="b"/>
            <a:pathLst>
              <a:path w="977400" h="977400">
                <a:moveTo>
                  <a:pt x="0" y="0"/>
                </a:moveTo>
                <a:lnTo>
                  <a:pt x="977400" y="0"/>
                </a:lnTo>
                <a:lnTo>
                  <a:pt x="977400" y="977400"/>
                </a:lnTo>
                <a:lnTo>
                  <a:pt x="0" y="97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C04212EC-30F9-779F-EEB0-7BAB508D5615}"/>
              </a:ext>
            </a:extLst>
          </p:cNvPr>
          <p:cNvSpPr/>
          <p:nvPr/>
        </p:nvSpPr>
        <p:spPr>
          <a:xfrm>
            <a:off x="8790591" y="6421877"/>
            <a:ext cx="1180424" cy="1214726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A35F6D15-F8AC-2AC0-E77F-7F7F2A7EB1B9}"/>
              </a:ext>
            </a:extLst>
          </p:cNvPr>
          <p:cNvSpPr/>
          <p:nvPr/>
        </p:nvSpPr>
        <p:spPr>
          <a:xfrm>
            <a:off x="12079550" y="6472636"/>
            <a:ext cx="996703" cy="1025667"/>
          </a:xfrm>
          <a:custGeom>
            <a:avLst/>
            <a:gdLst/>
            <a:ahLst/>
            <a:cxnLst/>
            <a:rect l="l" t="t" r="r" b="b"/>
            <a:pathLst>
              <a:path w="964800" h="964800">
                <a:moveTo>
                  <a:pt x="0" y="0"/>
                </a:moveTo>
                <a:lnTo>
                  <a:pt x="964800" y="0"/>
                </a:lnTo>
                <a:lnTo>
                  <a:pt x="964800" y="964800"/>
                </a:lnTo>
                <a:lnTo>
                  <a:pt x="0" y="96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16">
            <a:extLst>
              <a:ext uri="{FF2B5EF4-FFF2-40B4-BE49-F238E27FC236}">
                <a16:creationId xmlns:a16="http://schemas.microsoft.com/office/drawing/2014/main" id="{61E71B1A-8872-EA96-B6A0-55049C956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38627"/>
              </p:ext>
            </p:extLst>
          </p:nvPr>
        </p:nvGraphicFramePr>
        <p:xfrm>
          <a:off x="2135512" y="2399027"/>
          <a:ext cx="15520905" cy="6538714"/>
        </p:xfrm>
        <a:graphic>
          <a:graphicData uri="http://schemas.openxmlformats.org/drawingml/2006/table">
            <a:tbl>
              <a:tblPr/>
              <a:tblGrid>
                <a:gridCol w="186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2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472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특성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MPNet-base-v2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text-embedding-3-small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text-embedding-ada-002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6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모델 종류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Sentence-Transformers의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MPNet 기반 모델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OpenAI의 텍스트 임베딩 모델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OpenAI의 텍스트 임베딩 모델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6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주요 용도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문장 간 의미적 유사성 평가,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문장 임베딩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텍스트 임베딩, 검색 및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유사도 측정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텍스트 임베딩, 검색 및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유사도 측정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4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차원 수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768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1536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1536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89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특징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문장 간 유사도 측정에 최적화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paraphrase 감지에 뛰어남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- 빠르고 효율적인 벡터화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- 주로 검색 및 질문 응답에 사용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멀티링구얼 지원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 정밀한 검색과 유사도 측정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689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학습 방식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Masked Language Model (MLM) 방식으로 사전 훈련된 모델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비지도 학습 방식으로 텍스트 임베딩 모델 훈련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비지도 학습 방식으로 다양한 언어와 텍스트를 임베딩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689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토큰 당 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ts val="2879"/>
                        </a:lnSpc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가격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무료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1,000 </a:t>
                      </a:r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토큰당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$0.00002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1,000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토큰당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$0.00010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6438C3-CEB2-449A-0CFF-9B9C258445DE}"/>
              </a:ext>
            </a:extLst>
          </p:cNvPr>
          <p:cNvSpPr/>
          <p:nvPr/>
        </p:nvSpPr>
        <p:spPr>
          <a:xfrm>
            <a:off x="8497105" y="2355564"/>
            <a:ext cx="4644464" cy="6575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112EE-D13F-3637-9D35-5E43C6382053}"/>
              </a:ext>
            </a:extLst>
          </p:cNvPr>
          <p:cNvSpPr txBox="1"/>
          <p:nvPr/>
        </p:nvSpPr>
        <p:spPr>
          <a:xfrm>
            <a:off x="3429000" y="9100733"/>
            <a:ext cx="1401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rgbClr val="FF0000"/>
                </a:solidFill>
              </a:rPr>
              <a:t>가성비와 정확도가 좋은 </a:t>
            </a:r>
            <a:r>
              <a:rPr lang="en-US" altLang="ko-KR" sz="3600" b="1" dirty="0">
                <a:solidFill>
                  <a:srgbClr val="FF0000"/>
                </a:solidFill>
              </a:rPr>
              <a:t>text-embedding-3-small </a:t>
            </a:r>
            <a:r>
              <a:rPr lang="ko-KR" altLang="en-US" sz="3600" b="1" dirty="0">
                <a:solidFill>
                  <a:srgbClr val="FF0000"/>
                </a:solidFill>
              </a:rPr>
              <a:t>모델</a:t>
            </a:r>
            <a:r>
              <a:rPr lang="ko-KR" altLang="en-US" sz="3600" dirty="0">
                <a:solidFill>
                  <a:srgbClr val="FF0000"/>
                </a:solidFill>
              </a:rPr>
              <a:t>로 채택</a:t>
            </a:r>
            <a:r>
              <a:rPr lang="en-US" altLang="ko-KR" sz="3600" dirty="0">
                <a:solidFill>
                  <a:srgbClr val="FF0000"/>
                </a:solidFill>
              </a:rPr>
              <a:t>!!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13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32-52FE-6F96-7A3B-C2804EDE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A72E2E-DDDF-C77B-32C1-15BB66A5C76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F8319F-E883-1DC0-68C0-32557E5AB89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449D8A3-524C-9EB8-9BBB-E56BA562D1C4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FFB802ED-FA2A-AE57-F23B-2DF94FEBC1C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6656967A-ECA3-ECF4-FF95-C89618E32F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9DF10878-F8B5-4839-A7D6-C1B29E1F3B6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1D1C595-775C-B7BC-F406-871A6B8D068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9DC239-B63F-9A42-CCC5-F7F3E9FC099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8CAC60A-EEB2-65AC-4164-ADF0BD10C2A1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7841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설계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환경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FBB2E3E-2F34-4FFE-3F7A-10DD045FD9F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54430C7-07B3-EF70-963E-23B96F19183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E25C7D-C9E6-B3FC-5219-49756CE5288E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7490952" y="342900"/>
            <a:chExt cx="1333500" cy="81153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004D08F-7FB5-54FD-52BF-A66A1CAA9F85}"/>
                </a:ext>
              </a:extLst>
            </p:cNvPr>
            <p:cNvGrpSpPr/>
            <p:nvPr/>
          </p:nvGrpSpPr>
          <p:grpSpPr>
            <a:xfrm>
              <a:off x="7616567" y="342900"/>
              <a:ext cx="1092200" cy="8115300"/>
              <a:chOff x="3581400" y="405174"/>
              <a:chExt cx="1092200" cy="81153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D062EF71-C32E-44C1-6931-347B787FA3D3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Freeform 58">
                <a:extLst>
                  <a:ext uri="{FF2B5EF4-FFF2-40B4-BE49-F238E27FC236}">
                    <a16:creationId xmlns:a16="http://schemas.microsoft.com/office/drawing/2014/main" id="{586112DB-080D-2D5F-A28A-DD1A421940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1C6FBD-341A-C41C-D159-B3EB356B80D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5A3B85-D34A-9ED0-5EB4-79328318B9A0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BBCAA0-4138-BFA7-9D5C-DA956FFE452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60AD9C-90A2-1403-D849-E49FB981E51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E86599-A574-71FC-11A3-EAF0C4D0CBF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DD437F5-5A5E-4AEE-23D0-012737473C6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08101-86CD-37EE-E4D5-7F13A1685D5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564077-C3C9-4B80-C435-C36DB4594EA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46D077-E995-F76D-3EAA-930753F64076}"/>
                </a:ext>
              </a:extLst>
            </p:cNvPr>
            <p:cNvGrpSpPr/>
            <p:nvPr/>
          </p:nvGrpSpPr>
          <p:grpSpPr>
            <a:xfrm>
              <a:off x="7490952" y="2755900"/>
              <a:ext cx="1333500" cy="863600"/>
              <a:chOff x="8227344" y="2113347"/>
              <a:chExt cx="1333500" cy="863600"/>
            </a:xfrm>
          </p:grpSpPr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0C663BC5-241D-D5D2-48EE-0C6108C8365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7FACC-0487-69FD-66CF-0C28C407493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3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089DA054-9F3E-0905-C702-F54BC14523F4}"/>
              </a:ext>
            </a:extLst>
          </p:cNvPr>
          <p:cNvGrpSpPr/>
          <p:nvPr/>
        </p:nvGrpSpPr>
        <p:grpSpPr>
          <a:xfrm>
            <a:off x="2259493" y="2143716"/>
            <a:ext cx="15190306" cy="7629942"/>
            <a:chOff x="3333630" y="3253241"/>
            <a:chExt cx="12746823" cy="6023927"/>
          </a:xfrm>
        </p:grpSpPr>
        <p:sp>
          <p:nvSpPr>
            <p:cNvPr id="2" name="Freeform 13" descr="Python] pypi(Python package Index) 란?">
              <a:extLst>
                <a:ext uri="{FF2B5EF4-FFF2-40B4-BE49-F238E27FC236}">
                  <a16:creationId xmlns:a16="http://schemas.microsoft.com/office/drawing/2014/main" id="{AAEC354D-A377-5D10-4588-798829C024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5375" y="3819613"/>
              <a:ext cx="846548" cy="1080000"/>
            </a:xfrm>
            <a:custGeom>
              <a:avLst/>
              <a:gdLst/>
              <a:ahLst/>
              <a:cxnLst/>
              <a:rect l="l" t="t" r="r" b="b"/>
              <a:pathLst>
                <a:path w="1355040" h="1728720">
                  <a:moveTo>
                    <a:pt x="0" y="0"/>
                  </a:moveTo>
                  <a:lnTo>
                    <a:pt x="1355040" y="0"/>
                  </a:lnTo>
                  <a:lnTo>
                    <a:pt x="1355040" y="1728720"/>
                  </a:lnTo>
                  <a:lnTo>
                    <a:pt x="0" y="172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4080" r="-50042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36CF2D48-8549-3DDB-B051-302E609F5628}"/>
                </a:ext>
              </a:extLst>
            </p:cNvPr>
            <p:cNvGrpSpPr/>
            <p:nvPr/>
          </p:nvGrpSpPr>
          <p:grpSpPr>
            <a:xfrm>
              <a:off x="3333630" y="3503189"/>
              <a:ext cx="3707221" cy="2425979"/>
              <a:chOff x="0" y="0"/>
              <a:chExt cx="4942960" cy="3234640"/>
            </a:xfrm>
          </p:grpSpPr>
          <p:sp>
            <p:nvSpPr>
              <p:cNvPr id="4" name="Freeform 15">
                <a:extLst>
                  <a:ext uri="{FF2B5EF4-FFF2-40B4-BE49-F238E27FC236}">
                    <a16:creationId xmlns:a16="http://schemas.microsoft.com/office/drawing/2014/main" id="{965178F4-FC07-8517-C236-AF376AEC1D4C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16">
              <a:extLst>
                <a:ext uri="{FF2B5EF4-FFF2-40B4-BE49-F238E27FC236}">
                  <a16:creationId xmlns:a16="http://schemas.microsoft.com/office/drawing/2014/main" id="{41768AF0-0185-FBFD-36E3-A1B2AA78A945}"/>
                </a:ext>
              </a:extLst>
            </p:cNvPr>
            <p:cNvGrpSpPr/>
            <p:nvPr/>
          </p:nvGrpSpPr>
          <p:grpSpPr>
            <a:xfrm>
              <a:off x="4363462" y="3253241"/>
              <a:ext cx="1684280" cy="531225"/>
              <a:chOff x="0" y="-253894"/>
              <a:chExt cx="2245707" cy="708301"/>
            </a:xfrm>
          </p:grpSpPr>
          <p:sp>
            <p:nvSpPr>
              <p:cNvPr id="13" name="Freeform 17">
                <a:extLst>
                  <a:ext uri="{FF2B5EF4-FFF2-40B4-BE49-F238E27FC236}">
                    <a16:creationId xmlns:a16="http://schemas.microsoft.com/office/drawing/2014/main" id="{9095D38A-B459-9879-B4D8-6DC5223579F8}"/>
                  </a:ext>
                </a:extLst>
              </p:cNvPr>
              <p:cNvSpPr/>
              <p:nvPr/>
            </p:nvSpPr>
            <p:spPr>
              <a:xfrm>
                <a:off x="16891" y="-253894"/>
                <a:ext cx="2228723" cy="691281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Freeform 18">
                <a:extLst>
                  <a:ext uri="{FF2B5EF4-FFF2-40B4-BE49-F238E27FC236}">
                    <a16:creationId xmlns:a16="http://schemas.microsoft.com/office/drawing/2014/main" id="{9178EE77-3425-6200-C8C5-19A5ACAC197E}"/>
                  </a:ext>
                </a:extLst>
              </p:cNvPr>
              <p:cNvSpPr/>
              <p:nvPr/>
            </p:nvSpPr>
            <p:spPr>
              <a:xfrm>
                <a:off x="1" y="-89668"/>
                <a:ext cx="2228723" cy="544075"/>
              </a:xfrm>
              <a:custGeom>
                <a:avLst/>
                <a:gdLst/>
                <a:ahLst/>
                <a:cxnLst/>
                <a:rect l="l" t="t" r="r" b="b"/>
                <a:pathLst>
                  <a:path w="2245614" h="454406">
                    <a:moveTo>
                      <a:pt x="16891" y="0"/>
                    </a:moveTo>
                    <a:lnTo>
                      <a:pt x="2228723" y="0"/>
                    </a:lnTo>
                    <a:cubicBezTo>
                      <a:pt x="2238121" y="0"/>
                      <a:pt x="2245614" y="7620"/>
                      <a:pt x="2245614" y="16891"/>
                    </a:cubicBezTo>
                    <a:lnTo>
                      <a:pt x="2245614" y="437388"/>
                    </a:lnTo>
                    <a:cubicBezTo>
                      <a:pt x="2245614" y="446786"/>
                      <a:pt x="2237994" y="454279"/>
                      <a:pt x="2228723" y="454279"/>
                    </a:cubicBezTo>
                    <a:lnTo>
                      <a:pt x="16891" y="454279"/>
                    </a:lnTo>
                    <a:cubicBezTo>
                      <a:pt x="7620" y="454406"/>
                      <a:pt x="0" y="446786"/>
                      <a:pt x="0" y="437388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37388"/>
                    </a:lnTo>
                    <a:lnTo>
                      <a:pt x="16891" y="437388"/>
                    </a:lnTo>
                    <a:lnTo>
                      <a:pt x="16891" y="420497"/>
                    </a:lnTo>
                    <a:lnTo>
                      <a:pt x="2228723" y="420497"/>
                    </a:lnTo>
                    <a:lnTo>
                      <a:pt x="2228723" y="437388"/>
                    </a:lnTo>
                    <a:lnTo>
                      <a:pt x="2211832" y="437388"/>
                    </a:lnTo>
                    <a:lnTo>
                      <a:pt x="2211832" y="16891"/>
                    </a:lnTo>
                    <a:lnTo>
                      <a:pt x="2228723" y="16891"/>
                    </a:lnTo>
                    <a:lnTo>
                      <a:pt x="222872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9">
                <a:extLst>
                  <a:ext uri="{FF2B5EF4-FFF2-40B4-BE49-F238E27FC236}">
                    <a16:creationId xmlns:a16="http://schemas.microsoft.com/office/drawing/2014/main" id="{F35D1BC8-BF92-1A50-9C7C-8D4E5BA25C1C}"/>
                  </a:ext>
                </a:extLst>
              </p:cNvPr>
              <p:cNvSpPr txBox="1"/>
              <p:nvPr/>
            </p:nvSpPr>
            <p:spPr>
              <a:xfrm>
                <a:off x="0" y="16208"/>
                <a:ext cx="2245707" cy="380268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사용</a:t>
                </a:r>
                <a:r>
                  <a:rPr lang="en-US" sz="2400" spc="-2" dirty="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언어</a:t>
                </a:r>
                <a:endParaRPr lang="en-US" sz="24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grpSp>
          <p:nvGrpSpPr>
            <p:cNvPr id="16" name="Group 20">
              <a:extLst>
                <a:ext uri="{FF2B5EF4-FFF2-40B4-BE49-F238E27FC236}">
                  <a16:creationId xmlns:a16="http://schemas.microsoft.com/office/drawing/2014/main" id="{43F926DD-423A-C561-F510-B59D13B3CC92}"/>
                </a:ext>
              </a:extLst>
            </p:cNvPr>
            <p:cNvGrpSpPr/>
            <p:nvPr/>
          </p:nvGrpSpPr>
          <p:grpSpPr>
            <a:xfrm>
              <a:off x="7844431" y="3503189"/>
              <a:ext cx="3707221" cy="2425979"/>
              <a:chOff x="0" y="0"/>
              <a:chExt cx="4942960" cy="3234640"/>
            </a:xfrm>
          </p:grpSpPr>
          <p:sp>
            <p:nvSpPr>
              <p:cNvPr id="17" name="Freeform 21">
                <a:extLst>
                  <a:ext uri="{FF2B5EF4-FFF2-40B4-BE49-F238E27FC236}">
                    <a16:creationId xmlns:a16="http://schemas.microsoft.com/office/drawing/2014/main" id="{B3CEB3E5-9288-DA52-DA2D-DD6A8D07CF2F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8" name="Group 22">
              <a:extLst>
                <a:ext uri="{FF2B5EF4-FFF2-40B4-BE49-F238E27FC236}">
                  <a16:creationId xmlns:a16="http://schemas.microsoft.com/office/drawing/2014/main" id="{2A6BB33E-7CDD-7F40-0B0F-6CFCF8FD5B96}"/>
                </a:ext>
              </a:extLst>
            </p:cNvPr>
            <p:cNvGrpSpPr/>
            <p:nvPr/>
          </p:nvGrpSpPr>
          <p:grpSpPr>
            <a:xfrm>
              <a:off x="8874263" y="3410511"/>
              <a:ext cx="1684280" cy="406271"/>
              <a:chOff x="0" y="62363"/>
              <a:chExt cx="2245707" cy="541692"/>
            </a:xfrm>
          </p:grpSpPr>
          <p:sp>
            <p:nvSpPr>
              <p:cNvPr id="19" name="Freeform 23">
                <a:extLst>
                  <a:ext uri="{FF2B5EF4-FFF2-40B4-BE49-F238E27FC236}">
                    <a16:creationId xmlns:a16="http://schemas.microsoft.com/office/drawing/2014/main" id="{9244B7A5-5D9A-976F-B83B-9A8386B049EC}"/>
                  </a:ext>
                </a:extLst>
              </p:cNvPr>
              <p:cNvSpPr/>
              <p:nvPr/>
            </p:nvSpPr>
            <p:spPr>
              <a:xfrm>
                <a:off x="16891" y="120950"/>
                <a:ext cx="2211833" cy="462546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25">
                <a:extLst>
                  <a:ext uri="{FF2B5EF4-FFF2-40B4-BE49-F238E27FC236}">
                    <a16:creationId xmlns:a16="http://schemas.microsoft.com/office/drawing/2014/main" id="{48056B2C-F692-3F6F-74A7-B3C8A850EC49}"/>
                  </a:ext>
                </a:extLst>
              </p:cNvPr>
              <p:cNvSpPr txBox="1"/>
              <p:nvPr/>
            </p:nvSpPr>
            <p:spPr>
              <a:xfrm>
                <a:off x="0" y="62363"/>
                <a:ext cx="2245707" cy="541692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데이터</a:t>
                </a:r>
                <a:r>
                  <a:rPr lang="en-US" sz="2400" spc="-2" dirty="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관리</a:t>
                </a:r>
                <a:endParaRPr lang="en-US" sz="24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38" name="Freeform 26" descr="Flask&quot; Icon - Download for free – Iconduck">
              <a:extLst>
                <a:ext uri="{FF2B5EF4-FFF2-40B4-BE49-F238E27FC236}">
                  <a16:creationId xmlns:a16="http://schemas.microsoft.com/office/drawing/2014/main" id="{4F4117F6-8ACD-34D8-1DE9-244CA600E9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219522" y="4426645"/>
              <a:ext cx="608544" cy="663500"/>
            </a:xfrm>
            <a:custGeom>
              <a:avLst/>
              <a:gdLst/>
              <a:ahLst/>
              <a:cxnLst/>
              <a:rect l="l" t="t" r="r" b="b"/>
              <a:pathLst>
                <a:path w="760680" h="977040">
                  <a:moveTo>
                    <a:pt x="0" y="0"/>
                  </a:moveTo>
                  <a:lnTo>
                    <a:pt x="760680" y="0"/>
                  </a:lnTo>
                  <a:lnTo>
                    <a:pt x="760680" y="977040"/>
                  </a:lnTo>
                  <a:lnTo>
                    <a:pt x="0" y="97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5" b="-15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39" name="Group 27">
              <a:extLst>
                <a:ext uri="{FF2B5EF4-FFF2-40B4-BE49-F238E27FC236}">
                  <a16:creationId xmlns:a16="http://schemas.microsoft.com/office/drawing/2014/main" id="{00395D68-EED9-C109-B097-B3E8EA92F9DB}"/>
                </a:ext>
              </a:extLst>
            </p:cNvPr>
            <p:cNvGrpSpPr/>
            <p:nvPr/>
          </p:nvGrpSpPr>
          <p:grpSpPr>
            <a:xfrm>
              <a:off x="12355232" y="3503189"/>
              <a:ext cx="3707221" cy="2425979"/>
              <a:chOff x="0" y="0"/>
              <a:chExt cx="4942960" cy="3234640"/>
            </a:xfrm>
          </p:grpSpPr>
          <p:sp>
            <p:nvSpPr>
              <p:cNvPr id="40" name="Freeform 28">
                <a:extLst>
                  <a:ext uri="{FF2B5EF4-FFF2-40B4-BE49-F238E27FC236}">
                    <a16:creationId xmlns:a16="http://schemas.microsoft.com/office/drawing/2014/main" id="{7CD14AE0-A9E8-DE62-6FC2-DED384AF1C8B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1" name="Group 29">
              <a:extLst>
                <a:ext uri="{FF2B5EF4-FFF2-40B4-BE49-F238E27FC236}">
                  <a16:creationId xmlns:a16="http://schemas.microsoft.com/office/drawing/2014/main" id="{C11D058D-62B7-944B-60B2-31489382E3BB}"/>
                </a:ext>
              </a:extLst>
            </p:cNvPr>
            <p:cNvGrpSpPr/>
            <p:nvPr/>
          </p:nvGrpSpPr>
          <p:grpSpPr>
            <a:xfrm>
              <a:off x="13384704" y="3335166"/>
              <a:ext cx="1684280" cy="369335"/>
              <a:chOff x="0" y="-38100"/>
              <a:chExt cx="2245707" cy="492447"/>
            </a:xfrm>
          </p:grpSpPr>
          <p:sp>
            <p:nvSpPr>
              <p:cNvPr id="42" name="Freeform 30">
                <a:extLst>
                  <a:ext uri="{FF2B5EF4-FFF2-40B4-BE49-F238E27FC236}">
                    <a16:creationId xmlns:a16="http://schemas.microsoft.com/office/drawing/2014/main" id="{80C26B86-D7DE-C3D9-D672-4299173465DF}"/>
                  </a:ext>
                </a:extLst>
              </p:cNvPr>
              <p:cNvSpPr/>
              <p:nvPr/>
            </p:nvSpPr>
            <p:spPr>
              <a:xfrm>
                <a:off x="16891" y="16891"/>
                <a:ext cx="2211832" cy="420497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32">
                <a:extLst>
                  <a:ext uri="{FF2B5EF4-FFF2-40B4-BE49-F238E27FC236}">
                    <a16:creationId xmlns:a16="http://schemas.microsoft.com/office/drawing/2014/main" id="{FFFDD747-EBA6-7605-E01D-451DC375B0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45707" cy="492447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서버</a:t>
                </a:r>
                <a:endParaRPr lang="en-US" sz="24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45" name="Freeform 33" descr="Oracle Cloud Logo and symbol, meaning, history, PNG, brand">
              <a:extLst>
                <a:ext uri="{FF2B5EF4-FFF2-40B4-BE49-F238E27FC236}">
                  <a16:creationId xmlns:a16="http://schemas.microsoft.com/office/drawing/2014/main" id="{DDFB6509-D385-2958-E1E7-793D0BD43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65506" y="3708142"/>
              <a:ext cx="1025960" cy="576000"/>
            </a:xfrm>
            <a:custGeom>
              <a:avLst/>
              <a:gdLst/>
              <a:ahLst/>
              <a:cxnLst/>
              <a:rect l="l" t="t" r="r" b="b"/>
              <a:pathLst>
                <a:path w="1737720" h="977040">
                  <a:moveTo>
                    <a:pt x="0" y="0"/>
                  </a:moveTo>
                  <a:lnTo>
                    <a:pt x="1737720" y="0"/>
                  </a:lnTo>
                  <a:lnTo>
                    <a:pt x="1737720" y="977040"/>
                  </a:lnTo>
                  <a:lnTo>
                    <a:pt x="0" y="97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21" b="-2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Freeform 34" descr="Oracle Linux 9 - Windows에서 무료 다운로드 및 설치 | Microsoft Store">
              <a:extLst>
                <a:ext uri="{FF2B5EF4-FFF2-40B4-BE49-F238E27FC236}">
                  <a16:creationId xmlns:a16="http://schemas.microsoft.com/office/drawing/2014/main" id="{7B366229-B3E1-BF95-72E7-334D90EC74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90753" y="3799034"/>
              <a:ext cx="1160336" cy="576000"/>
            </a:xfrm>
            <a:custGeom>
              <a:avLst/>
              <a:gdLst/>
              <a:ahLst/>
              <a:cxnLst/>
              <a:rect l="l" t="t" r="r" b="b"/>
              <a:pathLst>
                <a:path w="1388160" h="1388160">
                  <a:moveTo>
                    <a:pt x="0" y="0"/>
                  </a:moveTo>
                  <a:lnTo>
                    <a:pt x="1388160" y="0"/>
                  </a:lnTo>
                  <a:lnTo>
                    <a:pt x="1388160" y="1388160"/>
                  </a:lnTo>
                  <a:lnTo>
                    <a:pt x="0" y="138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44286" b="-5716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Freeform 35" descr="Nginx">
              <a:extLst>
                <a:ext uri="{FF2B5EF4-FFF2-40B4-BE49-F238E27FC236}">
                  <a16:creationId xmlns:a16="http://schemas.microsoft.com/office/drawing/2014/main" id="{ABC7E2AD-8446-A3F9-8327-DE303FF463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317583" y="4458596"/>
              <a:ext cx="738663" cy="576000"/>
            </a:xfrm>
            <a:custGeom>
              <a:avLst/>
              <a:gdLst/>
              <a:ahLst/>
              <a:cxnLst/>
              <a:rect l="l" t="t" r="r" b="b"/>
              <a:pathLst>
                <a:path w="1353600" h="1055520">
                  <a:moveTo>
                    <a:pt x="0" y="0"/>
                  </a:moveTo>
                  <a:lnTo>
                    <a:pt x="1353600" y="0"/>
                  </a:lnTo>
                  <a:lnTo>
                    <a:pt x="1353600" y="1055520"/>
                  </a:lnTo>
                  <a:lnTo>
                    <a:pt x="0" y="105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13" b="-1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8" name="Group 36">
              <a:extLst>
                <a:ext uri="{FF2B5EF4-FFF2-40B4-BE49-F238E27FC236}">
                  <a16:creationId xmlns:a16="http://schemas.microsoft.com/office/drawing/2014/main" id="{A77A8803-6F32-7E0A-41B2-EFDED3CACC7F}"/>
                </a:ext>
              </a:extLst>
            </p:cNvPr>
            <p:cNvGrpSpPr/>
            <p:nvPr/>
          </p:nvGrpSpPr>
          <p:grpSpPr>
            <a:xfrm>
              <a:off x="12373232" y="6851189"/>
              <a:ext cx="3707221" cy="2425979"/>
              <a:chOff x="0" y="0"/>
              <a:chExt cx="4942960" cy="3234640"/>
            </a:xfrm>
          </p:grpSpPr>
          <p:sp>
            <p:nvSpPr>
              <p:cNvPr id="49" name="Freeform 37">
                <a:extLst>
                  <a:ext uri="{FF2B5EF4-FFF2-40B4-BE49-F238E27FC236}">
                    <a16:creationId xmlns:a16="http://schemas.microsoft.com/office/drawing/2014/main" id="{024AD935-3277-6AFB-EEF7-3B103FF1E61D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0" name="Group 38">
              <a:extLst>
                <a:ext uri="{FF2B5EF4-FFF2-40B4-BE49-F238E27FC236}">
                  <a16:creationId xmlns:a16="http://schemas.microsoft.com/office/drawing/2014/main" id="{B3F5C265-90BA-6C7D-E1C3-D10AA974DE1A}"/>
                </a:ext>
              </a:extLst>
            </p:cNvPr>
            <p:cNvGrpSpPr/>
            <p:nvPr/>
          </p:nvGrpSpPr>
          <p:grpSpPr>
            <a:xfrm>
              <a:off x="13403064" y="6578964"/>
              <a:ext cx="1684280" cy="446941"/>
              <a:chOff x="0" y="-141519"/>
              <a:chExt cx="2245707" cy="595925"/>
            </a:xfrm>
          </p:grpSpPr>
          <p:sp>
            <p:nvSpPr>
              <p:cNvPr id="51" name="Freeform 39">
                <a:extLst>
                  <a:ext uri="{FF2B5EF4-FFF2-40B4-BE49-F238E27FC236}">
                    <a16:creationId xmlns:a16="http://schemas.microsoft.com/office/drawing/2014/main" id="{529A8FE9-44EF-DF78-969B-56EC226BB67E}"/>
                  </a:ext>
                </a:extLst>
              </p:cNvPr>
              <p:cNvSpPr/>
              <p:nvPr/>
            </p:nvSpPr>
            <p:spPr>
              <a:xfrm>
                <a:off x="16892" y="-92779"/>
                <a:ext cx="2211833" cy="530168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2" name="Freeform 40">
                <a:extLst>
                  <a:ext uri="{FF2B5EF4-FFF2-40B4-BE49-F238E27FC236}">
                    <a16:creationId xmlns:a16="http://schemas.microsoft.com/office/drawing/2014/main" id="{36CC33C1-77AD-9396-56C0-2B54AC75B0B5}"/>
                  </a:ext>
                </a:extLst>
              </p:cNvPr>
              <p:cNvSpPr/>
              <p:nvPr/>
            </p:nvSpPr>
            <p:spPr>
              <a:xfrm>
                <a:off x="0" y="-141519"/>
                <a:ext cx="2245614" cy="595925"/>
              </a:xfrm>
              <a:custGeom>
                <a:avLst/>
                <a:gdLst/>
                <a:ahLst/>
                <a:cxnLst/>
                <a:rect l="l" t="t" r="r" b="b"/>
                <a:pathLst>
                  <a:path w="2245614" h="454406">
                    <a:moveTo>
                      <a:pt x="16891" y="0"/>
                    </a:moveTo>
                    <a:lnTo>
                      <a:pt x="2228723" y="0"/>
                    </a:lnTo>
                    <a:cubicBezTo>
                      <a:pt x="2238121" y="0"/>
                      <a:pt x="2245614" y="7620"/>
                      <a:pt x="2245614" y="16891"/>
                    </a:cubicBezTo>
                    <a:lnTo>
                      <a:pt x="2245614" y="437388"/>
                    </a:lnTo>
                    <a:cubicBezTo>
                      <a:pt x="2245614" y="446786"/>
                      <a:pt x="2237994" y="454279"/>
                      <a:pt x="2228723" y="454279"/>
                    </a:cubicBezTo>
                    <a:lnTo>
                      <a:pt x="16891" y="454279"/>
                    </a:lnTo>
                    <a:cubicBezTo>
                      <a:pt x="7620" y="454406"/>
                      <a:pt x="0" y="446786"/>
                      <a:pt x="0" y="437388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37388"/>
                    </a:lnTo>
                    <a:lnTo>
                      <a:pt x="16891" y="437388"/>
                    </a:lnTo>
                    <a:lnTo>
                      <a:pt x="16891" y="420497"/>
                    </a:lnTo>
                    <a:lnTo>
                      <a:pt x="2228723" y="420497"/>
                    </a:lnTo>
                    <a:lnTo>
                      <a:pt x="2228723" y="437388"/>
                    </a:lnTo>
                    <a:lnTo>
                      <a:pt x="2211832" y="437388"/>
                    </a:lnTo>
                    <a:lnTo>
                      <a:pt x="2211832" y="16891"/>
                    </a:lnTo>
                    <a:lnTo>
                      <a:pt x="2228723" y="16891"/>
                    </a:lnTo>
                    <a:lnTo>
                      <a:pt x="222872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3" name="TextBox 41">
                <a:extLst>
                  <a:ext uri="{FF2B5EF4-FFF2-40B4-BE49-F238E27FC236}">
                    <a16:creationId xmlns:a16="http://schemas.microsoft.com/office/drawing/2014/main" id="{DDA071CE-1731-25AD-C100-C837CF234B8E}"/>
                  </a:ext>
                </a:extLst>
              </p:cNvPr>
              <p:cNvSpPr txBox="1"/>
              <p:nvPr/>
            </p:nvSpPr>
            <p:spPr>
              <a:xfrm>
                <a:off x="0" y="77972"/>
                <a:ext cx="2245707" cy="188534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2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생성형</a:t>
                </a:r>
                <a:r>
                  <a:rPr lang="en-US" sz="2200" spc="-2" dirty="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AI </a:t>
                </a:r>
                <a:r>
                  <a:rPr lang="en-US" sz="22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모델</a:t>
                </a:r>
                <a:endParaRPr lang="en-US" sz="22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grpSp>
          <p:nvGrpSpPr>
            <p:cNvPr id="54" name="Group 42">
              <a:extLst>
                <a:ext uri="{FF2B5EF4-FFF2-40B4-BE49-F238E27FC236}">
                  <a16:creationId xmlns:a16="http://schemas.microsoft.com/office/drawing/2014/main" id="{C41E8290-0DD7-EDE3-0D9E-A08CF5FC2703}"/>
                </a:ext>
              </a:extLst>
            </p:cNvPr>
            <p:cNvGrpSpPr/>
            <p:nvPr/>
          </p:nvGrpSpPr>
          <p:grpSpPr>
            <a:xfrm>
              <a:off x="7844431" y="6851189"/>
              <a:ext cx="3707221" cy="2425979"/>
              <a:chOff x="0" y="0"/>
              <a:chExt cx="4942960" cy="3234640"/>
            </a:xfrm>
          </p:grpSpPr>
          <p:sp>
            <p:nvSpPr>
              <p:cNvPr id="55" name="Freeform 43">
                <a:extLst>
                  <a:ext uri="{FF2B5EF4-FFF2-40B4-BE49-F238E27FC236}">
                    <a16:creationId xmlns:a16="http://schemas.microsoft.com/office/drawing/2014/main" id="{F4355406-62E6-A217-BFCA-318ABB8309AA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172510A3-0919-171B-43CB-C9CD469B5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8812" y="7146970"/>
              <a:ext cx="1842827" cy="720000"/>
            </a:xfrm>
            <a:custGeom>
              <a:avLst/>
              <a:gdLst/>
              <a:ahLst/>
              <a:cxnLst/>
              <a:rect l="l" t="t" r="r" b="b"/>
              <a:pathLst>
                <a:path w="2556000" h="998640">
                  <a:moveTo>
                    <a:pt x="0" y="0"/>
                  </a:moveTo>
                  <a:lnTo>
                    <a:pt x="2556000" y="0"/>
                  </a:lnTo>
                  <a:lnTo>
                    <a:pt x="2556000" y="998640"/>
                  </a:lnTo>
                  <a:lnTo>
                    <a:pt x="0" y="99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7" b="-7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57" name="Group 49">
              <a:extLst>
                <a:ext uri="{FF2B5EF4-FFF2-40B4-BE49-F238E27FC236}">
                  <a16:creationId xmlns:a16="http://schemas.microsoft.com/office/drawing/2014/main" id="{6184BACA-767A-58B2-4C17-15E1FB6DD5FA}"/>
                </a:ext>
              </a:extLst>
            </p:cNvPr>
            <p:cNvGrpSpPr/>
            <p:nvPr/>
          </p:nvGrpSpPr>
          <p:grpSpPr>
            <a:xfrm>
              <a:off x="3351990" y="6851189"/>
              <a:ext cx="3707221" cy="2425979"/>
              <a:chOff x="0" y="0"/>
              <a:chExt cx="4942960" cy="3234640"/>
            </a:xfrm>
          </p:grpSpPr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CD29A353-D175-2813-D421-8651D24E25DD}"/>
                  </a:ext>
                </a:extLst>
              </p:cNvPr>
              <p:cNvSpPr/>
              <p:nvPr/>
            </p:nvSpPr>
            <p:spPr>
              <a:xfrm>
                <a:off x="0" y="0"/>
                <a:ext cx="4942967" cy="3234690"/>
              </a:xfrm>
              <a:custGeom>
                <a:avLst/>
                <a:gdLst/>
                <a:ahLst/>
                <a:cxnLst/>
                <a:rect l="l" t="t" r="r" b="b"/>
                <a:pathLst>
                  <a:path w="4942967" h="3234690">
                    <a:moveTo>
                      <a:pt x="0" y="556006"/>
                    </a:moveTo>
                    <a:cubicBezTo>
                      <a:pt x="0" y="248793"/>
                      <a:pt x="250444" y="0"/>
                      <a:pt x="558927" y="0"/>
                    </a:cubicBezTo>
                    <a:lnTo>
                      <a:pt x="4384040" y="0"/>
                    </a:lnTo>
                    <a:lnTo>
                      <a:pt x="4384040" y="25400"/>
                    </a:lnTo>
                    <a:lnTo>
                      <a:pt x="4384040" y="0"/>
                    </a:lnTo>
                    <a:cubicBezTo>
                      <a:pt x="4692650" y="0"/>
                      <a:pt x="4942967" y="248793"/>
                      <a:pt x="4942967" y="556006"/>
                    </a:cubicBezTo>
                    <a:lnTo>
                      <a:pt x="4917567" y="556006"/>
                    </a:lnTo>
                    <a:lnTo>
                      <a:pt x="4942967" y="556006"/>
                    </a:lnTo>
                    <a:lnTo>
                      <a:pt x="4942967" y="2678557"/>
                    </a:lnTo>
                    <a:lnTo>
                      <a:pt x="4917567" y="2678557"/>
                    </a:lnTo>
                    <a:lnTo>
                      <a:pt x="4942967" y="2678557"/>
                    </a:lnTo>
                    <a:cubicBezTo>
                      <a:pt x="4942967" y="2985770"/>
                      <a:pt x="4692523" y="3234563"/>
                      <a:pt x="4384040" y="3234563"/>
                    </a:cubicBezTo>
                    <a:lnTo>
                      <a:pt x="4384040" y="3209163"/>
                    </a:lnTo>
                    <a:lnTo>
                      <a:pt x="4384040" y="3234563"/>
                    </a:lnTo>
                    <a:lnTo>
                      <a:pt x="558927" y="3234563"/>
                    </a:lnTo>
                    <a:lnTo>
                      <a:pt x="558927" y="3209163"/>
                    </a:lnTo>
                    <a:lnTo>
                      <a:pt x="558927" y="3234563"/>
                    </a:lnTo>
                    <a:cubicBezTo>
                      <a:pt x="250444" y="3234690"/>
                      <a:pt x="0" y="2985770"/>
                      <a:pt x="0" y="2678557"/>
                    </a:cubicBezTo>
                    <a:lnTo>
                      <a:pt x="0" y="556006"/>
                    </a:lnTo>
                    <a:lnTo>
                      <a:pt x="25400" y="556006"/>
                    </a:lnTo>
                    <a:lnTo>
                      <a:pt x="0" y="556006"/>
                    </a:lnTo>
                    <a:moveTo>
                      <a:pt x="50800" y="556006"/>
                    </a:moveTo>
                    <a:lnTo>
                      <a:pt x="50800" y="2678557"/>
                    </a:lnTo>
                    <a:lnTo>
                      <a:pt x="25400" y="2678557"/>
                    </a:lnTo>
                    <a:lnTo>
                      <a:pt x="50800" y="2678557"/>
                    </a:lnTo>
                    <a:cubicBezTo>
                      <a:pt x="50800" y="2957449"/>
                      <a:pt x="278130" y="3183763"/>
                      <a:pt x="558927" y="3183763"/>
                    </a:cubicBezTo>
                    <a:lnTo>
                      <a:pt x="4384040" y="3183763"/>
                    </a:lnTo>
                    <a:cubicBezTo>
                      <a:pt x="4664837" y="3183763"/>
                      <a:pt x="4892167" y="2957449"/>
                      <a:pt x="4892167" y="2678557"/>
                    </a:cubicBezTo>
                    <a:lnTo>
                      <a:pt x="4892167" y="556006"/>
                    </a:lnTo>
                    <a:cubicBezTo>
                      <a:pt x="4892167" y="277114"/>
                      <a:pt x="4664710" y="50800"/>
                      <a:pt x="4384040" y="50800"/>
                    </a:cubicBezTo>
                    <a:lnTo>
                      <a:pt x="558927" y="50800"/>
                    </a:lnTo>
                    <a:lnTo>
                      <a:pt x="558927" y="25400"/>
                    </a:lnTo>
                    <a:lnTo>
                      <a:pt x="558927" y="50800"/>
                    </a:lnTo>
                    <a:cubicBezTo>
                      <a:pt x="278130" y="50800"/>
                      <a:pt x="50800" y="277114"/>
                      <a:pt x="50800" y="556006"/>
                    </a:cubicBez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9" name="Group 51">
              <a:extLst>
                <a:ext uri="{FF2B5EF4-FFF2-40B4-BE49-F238E27FC236}">
                  <a16:creationId xmlns:a16="http://schemas.microsoft.com/office/drawing/2014/main" id="{B1954F60-EADE-D3B0-CF7A-809DC00ECC2F}"/>
                </a:ext>
              </a:extLst>
            </p:cNvPr>
            <p:cNvGrpSpPr/>
            <p:nvPr/>
          </p:nvGrpSpPr>
          <p:grpSpPr>
            <a:xfrm>
              <a:off x="4381823" y="6655806"/>
              <a:ext cx="1684280" cy="369335"/>
              <a:chOff x="0" y="-38100"/>
              <a:chExt cx="2245707" cy="492447"/>
            </a:xfrm>
          </p:grpSpPr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94C89E5E-4CA3-1CD7-12B8-09F07D01ABFB}"/>
                  </a:ext>
                </a:extLst>
              </p:cNvPr>
              <p:cNvSpPr/>
              <p:nvPr/>
            </p:nvSpPr>
            <p:spPr>
              <a:xfrm>
                <a:off x="16891" y="16891"/>
                <a:ext cx="2211832" cy="420497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TextBox 54">
                <a:extLst>
                  <a:ext uri="{FF2B5EF4-FFF2-40B4-BE49-F238E27FC236}">
                    <a16:creationId xmlns:a16="http://schemas.microsoft.com/office/drawing/2014/main" id="{69B8DFEE-BBC3-CF60-C5EE-D0E0257297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45707" cy="492447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자연어</a:t>
                </a:r>
                <a:r>
                  <a:rPr lang="en-US" sz="2400" spc="-2" dirty="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처리</a:t>
                </a:r>
                <a:endParaRPr lang="en-US" sz="24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63" name="Freeform 55" descr="Java to Kotlin (2) - null을 다루는 방법">
              <a:extLst>
                <a:ext uri="{FF2B5EF4-FFF2-40B4-BE49-F238E27FC236}">
                  <a16:creationId xmlns:a16="http://schemas.microsoft.com/office/drawing/2014/main" id="{83FEA8D9-9E44-E437-51C3-356E462D4F09}"/>
                </a:ext>
              </a:extLst>
            </p:cNvPr>
            <p:cNvSpPr/>
            <p:nvPr/>
          </p:nvSpPr>
          <p:spPr>
            <a:xfrm>
              <a:off x="4927381" y="3999695"/>
              <a:ext cx="1928910" cy="853220"/>
            </a:xfrm>
            <a:custGeom>
              <a:avLst/>
              <a:gdLst/>
              <a:ahLst/>
              <a:cxnLst/>
              <a:rect l="l" t="t" r="r" b="b"/>
              <a:pathLst>
                <a:path w="2296080" h="1721880">
                  <a:moveTo>
                    <a:pt x="0" y="0"/>
                  </a:moveTo>
                  <a:lnTo>
                    <a:pt x="2296080" y="0"/>
                  </a:lnTo>
                  <a:lnTo>
                    <a:pt x="2296080" y="1721880"/>
                  </a:lnTo>
                  <a:lnTo>
                    <a:pt x="0" y="1721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0677" t="-50905" r="-8358" b="-50924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8" name="Freeform 56" descr="Autoblogging with OpenAI's GPT-4o mini – CyberSEO Pro">
              <a:extLst>
                <a:ext uri="{FF2B5EF4-FFF2-40B4-BE49-F238E27FC236}">
                  <a16:creationId xmlns:a16="http://schemas.microsoft.com/office/drawing/2014/main" id="{D8C6FF2F-C24C-E981-24D3-DCD1ED874E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54600" y="7117473"/>
              <a:ext cx="1296000" cy="1296000"/>
            </a:xfrm>
            <a:custGeom>
              <a:avLst/>
              <a:gdLst/>
              <a:ahLst/>
              <a:cxnLst/>
              <a:rect l="l" t="t" r="r" b="b"/>
              <a:pathLst>
                <a:path w="1524960" h="1524960">
                  <a:moveTo>
                    <a:pt x="0" y="0"/>
                  </a:moveTo>
                  <a:lnTo>
                    <a:pt x="1524960" y="0"/>
                  </a:lnTo>
                  <a:lnTo>
                    <a:pt x="1524960" y="1524960"/>
                  </a:lnTo>
                  <a:lnTo>
                    <a:pt x="0" y="152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Freeform 57" descr="SQLite 초보자를 위한 완벽한 가이드: 7단계로 간단한 CRUD 애플리케이션 만들기 - 디비안츠 블로그">
              <a:extLst>
                <a:ext uri="{FF2B5EF4-FFF2-40B4-BE49-F238E27FC236}">
                  <a16:creationId xmlns:a16="http://schemas.microsoft.com/office/drawing/2014/main" id="{5260CF67-6E5D-C63E-ABE3-34DFECF09B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8980" y="3868765"/>
              <a:ext cx="1215902" cy="576000"/>
            </a:xfrm>
            <a:custGeom>
              <a:avLst/>
              <a:gdLst/>
              <a:ahLst/>
              <a:cxnLst/>
              <a:rect l="l" t="t" r="r" b="b"/>
              <a:pathLst>
                <a:path w="1472760" h="697680">
                  <a:moveTo>
                    <a:pt x="0" y="0"/>
                  </a:moveTo>
                  <a:lnTo>
                    <a:pt x="1472760" y="0"/>
                  </a:lnTo>
                  <a:lnTo>
                    <a:pt x="1472760" y="697680"/>
                  </a:lnTo>
                  <a:lnTo>
                    <a:pt x="0" y="69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10" b="-1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Freeform 58" descr="Faiss - Introduction to Similarity Search">
              <a:extLst>
                <a:ext uri="{FF2B5EF4-FFF2-40B4-BE49-F238E27FC236}">
                  <a16:creationId xmlns:a16="http://schemas.microsoft.com/office/drawing/2014/main" id="{FA62E174-444D-AC1A-5BF0-13FCFF67D6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63470" y="3992179"/>
              <a:ext cx="1536106" cy="863999"/>
            </a:xfrm>
            <a:custGeom>
              <a:avLst/>
              <a:gdLst/>
              <a:ahLst/>
              <a:cxnLst/>
              <a:rect l="l" t="t" r="r" b="b"/>
              <a:pathLst>
                <a:path w="2351520" h="1322640">
                  <a:moveTo>
                    <a:pt x="0" y="0"/>
                  </a:moveTo>
                  <a:lnTo>
                    <a:pt x="2351520" y="0"/>
                  </a:lnTo>
                  <a:lnTo>
                    <a:pt x="2351520" y="1322640"/>
                  </a:lnTo>
                  <a:lnTo>
                    <a:pt x="0" y="132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t="-32" b="-32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1" name="Freeform 59">
              <a:extLst>
                <a:ext uri="{FF2B5EF4-FFF2-40B4-BE49-F238E27FC236}">
                  <a16:creationId xmlns:a16="http://schemas.microsoft.com/office/drawing/2014/main" id="{8740C1EC-470E-E836-0F06-17204A74F3E8}"/>
                </a:ext>
              </a:extLst>
            </p:cNvPr>
            <p:cNvSpPr/>
            <p:nvPr/>
          </p:nvSpPr>
          <p:spPr>
            <a:xfrm>
              <a:off x="3437402" y="7504502"/>
              <a:ext cx="3499681" cy="336314"/>
            </a:xfrm>
            <a:custGeom>
              <a:avLst/>
              <a:gdLst/>
              <a:ahLst/>
              <a:cxnLst/>
              <a:rect l="l" t="t" r="r" b="b"/>
              <a:pathLst>
                <a:path w="3575880" h="340920">
                  <a:moveTo>
                    <a:pt x="0" y="0"/>
                  </a:moveTo>
                  <a:lnTo>
                    <a:pt x="3575880" y="0"/>
                  </a:lnTo>
                  <a:lnTo>
                    <a:pt x="3575880" y="340920"/>
                  </a:lnTo>
                  <a:lnTo>
                    <a:pt x="0" y="340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178" t="-1428" r="1" b="-58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pic>
          <p:nvPicPr>
            <p:cNvPr id="132" name="Picture 4" descr="RSS - 위키백과, 우리 모두의 백과사전">
              <a:extLst>
                <a:ext uri="{FF2B5EF4-FFF2-40B4-BE49-F238E27FC236}">
                  <a16:creationId xmlns:a16="http://schemas.microsoft.com/office/drawing/2014/main" id="{816585A8-8F7D-0A63-5F15-00C475078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4600" y="7811762"/>
              <a:ext cx="551250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3" name="Freeform 106">
              <a:extLst>
                <a:ext uri="{FF2B5EF4-FFF2-40B4-BE49-F238E27FC236}">
                  <a16:creationId xmlns:a16="http://schemas.microsoft.com/office/drawing/2014/main" id="{D6476B19-AE6A-6B19-F9AE-C5C4124D69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86431" y="4445952"/>
              <a:ext cx="1611612" cy="582779"/>
            </a:xfrm>
            <a:custGeom>
              <a:avLst/>
              <a:gdLst/>
              <a:ahLst/>
              <a:cxnLst/>
              <a:rect l="l" t="t" r="r" b="b"/>
              <a:pathLst>
                <a:path w="1277025" h="419024">
                  <a:moveTo>
                    <a:pt x="0" y="0"/>
                  </a:moveTo>
                  <a:lnTo>
                    <a:pt x="1277025" y="0"/>
                  </a:lnTo>
                  <a:lnTo>
                    <a:pt x="1277025" y="419024"/>
                  </a:lnTo>
                  <a:lnTo>
                    <a:pt x="0" y="41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8924" t="1164" b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7FA5B04E-FDF7-601B-3775-95A700DC55A3}"/>
                </a:ext>
              </a:extLst>
            </p:cNvPr>
            <p:cNvGrpSpPr/>
            <p:nvPr/>
          </p:nvGrpSpPr>
          <p:grpSpPr>
            <a:xfrm>
              <a:off x="9898980" y="7254969"/>
              <a:ext cx="1381112" cy="1070366"/>
              <a:chOff x="9525000" y="7916854"/>
              <a:chExt cx="1381112" cy="1070366"/>
            </a:xfrm>
          </p:grpSpPr>
          <p:pic>
            <p:nvPicPr>
              <p:cNvPr id="135" name="Picture 2" descr="매일경제 마켓">
                <a:extLst>
                  <a:ext uri="{FF2B5EF4-FFF2-40B4-BE49-F238E27FC236}">
                    <a16:creationId xmlns:a16="http://schemas.microsoft.com/office/drawing/2014/main" id="{6D91EAEA-ECBC-9E0D-98E7-EB1080A701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234" t="18753" r="13236" b="54049"/>
              <a:stretch/>
            </p:blipFill>
            <p:spPr bwMode="auto">
              <a:xfrm>
                <a:off x="9525001" y="7916854"/>
                <a:ext cx="1381111" cy="50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6" name="Picture 2" descr="매일경제 마켓">
                <a:extLst>
                  <a:ext uri="{FF2B5EF4-FFF2-40B4-BE49-F238E27FC236}">
                    <a16:creationId xmlns:a16="http://schemas.microsoft.com/office/drawing/2014/main" id="{9B1E9C6D-15C1-A7DC-68B4-FA761AEBEC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234" t="54153" r="13236" b="16397"/>
              <a:stretch/>
            </p:blipFill>
            <p:spPr bwMode="auto">
              <a:xfrm>
                <a:off x="9525000" y="8483220"/>
                <a:ext cx="1275502" cy="50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7" name="Group 44">
              <a:extLst>
                <a:ext uri="{FF2B5EF4-FFF2-40B4-BE49-F238E27FC236}">
                  <a16:creationId xmlns:a16="http://schemas.microsoft.com/office/drawing/2014/main" id="{33674A5C-9D11-3F5F-B8CA-CBF5357ACE29}"/>
                </a:ext>
              </a:extLst>
            </p:cNvPr>
            <p:cNvGrpSpPr/>
            <p:nvPr/>
          </p:nvGrpSpPr>
          <p:grpSpPr>
            <a:xfrm>
              <a:off x="8874263" y="6405465"/>
              <a:ext cx="1684280" cy="647079"/>
              <a:chOff x="0" y="-408367"/>
              <a:chExt cx="2245707" cy="862773"/>
            </a:xfrm>
          </p:grpSpPr>
          <p:sp>
            <p:nvSpPr>
              <p:cNvPr id="138" name="Freeform 45">
                <a:extLst>
                  <a:ext uri="{FF2B5EF4-FFF2-40B4-BE49-F238E27FC236}">
                    <a16:creationId xmlns:a16="http://schemas.microsoft.com/office/drawing/2014/main" id="{2C39C1F3-7395-80AE-7018-CBD1343BA2B9}"/>
                  </a:ext>
                </a:extLst>
              </p:cNvPr>
              <p:cNvSpPr/>
              <p:nvPr/>
            </p:nvSpPr>
            <p:spPr>
              <a:xfrm>
                <a:off x="16891" y="-408367"/>
                <a:ext cx="2211833" cy="845756"/>
              </a:xfrm>
              <a:custGeom>
                <a:avLst/>
                <a:gdLst/>
                <a:ahLst/>
                <a:cxnLst/>
                <a:rect l="l" t="t" r="r" b="b"/>
                <a:pathLst>
                  <a:path w="2211832" h="420497">
                    <a:moveTo>
                      <a:pt x="0" y="0"/>
                    </a:moveTo>
                    <a:lnTo>
                      <a:pt x="2211832" y="0"/>
                    </a:lnTo>
                    <a:lnTo>
                      <a:pt x="2211832" y="420497"/>
                    </a:lnTo>
                    <a:lnTo>
                      <a:pt x="0" y="42049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41" name="Freeform 46">
                <a:extLst>
                  <a:ext uri="{FF2B5EF4-FFF2-40B4-BE49-F238E27FC236}">
                    <a16:creationId xmlns:a16="http://schemas.microsoft.com/office/drawing/2014/main" id="{234664C3-9180-3651-71D3-CAE60734A757}"/>
                  </a:ext>
                </a:extLst>
              </p:cNvPr>
              <p:cNvSpPr/>
              <p:nvPr/>
            </p:nvSpPr>
            <p:spPr>
              <a:xfrm>
                <a:off x="0" y="-177035"/>
                <a:ext cx="2245614" cy="631441"/>
              </a:xfrm>
              <a:custGeom>
                <a:avLst/>
                <a:gdLst/>
                <a:ahLst/>
                <a:cxnLst/>
                <a:rect l="l" t="t" r="r" b="b"/>
                <a:pathLst>
                  <a:path w="2245614" h="454406">
                    <a:moveTo>
                      <a:pt x="16891" y="0"/>
                    </a:moveTo>
                    <a:lnTo>
                      <a:pt x="2228723" y="0"/>
                    </a:lnTo>
                    <a:cubicBezTo>
                      <a:pt x="2238121" y="0"/>
                      <a:pt x="2245614" y="7620"/>
                      <a:pt x="2245614" y="16891"/>
                    </a:cubicBezTo>
                    <a:lnTo>
                      <a:pt x="2245614" y="437388"/>
                    </a:lnTo>
                    <a:cubicBezTo>
                      <a:pt x="2245614" y="446786"/>
                      <a:pt x="2237994" y="454279"/>
                      <a:pt x="2228723" y="454279"/>
                    </a:cubicBezTo>
                    <a:lnTo>
                      <a:pt x="16891" y="454279"/>
                    </a:lnTo>
                    <a:cubicBezTo>
                      <a:pt x="7620" y="454406"/>
                      <a:pt x="0" y="446786"/>
                      <a:pt x="0" y="437388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37388"/>
                    </a:lnTo>
                    <a:lnTo>
                      <a:pt x="16891" y="437388"/>
                    </a:lnTo>
                    <a:lnTo>
                      <a:pt x="16891" y="420497"/>
                    </a:lnTo>
                    <a:lnTo>
                      <a:pt x="2228723" y="420497"/>
                    </a:lnTo>
                    <a:lnTo>
                      <a:pt x="2228723" y="437388"/>
                    </a:lnTo>
                    <a:lnTo>
                      <a:pt x="2211832" y="437388"/>
                    </a:lnTo>
                    <a:lnTo>
                      <a:pt x="2211832" y="16891"/>
                    </a:lnTo>
                    <a:lnTo>
                      <a:pt x="2228723" y="16891"/>
                    </a:lnTo>
                    <a:lnTo>
                      <a:pt x="222872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23852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4" name="TextBox 47">
                <a:extLst>
                  <a:ext uri="{FF2B5EF4-FFF2-40B4-BE49-F238E27FC236}">
                    <a16:creationId xmlns:a16="http://schemas.microsoft.com/office/drawing/2014/main" id="{A74ADAD4-BED2-44D1-D325-EE71BE7187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245707" cy="492447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데이터</a:t>
                </a:r>
                <a:r>
                  <a:rPr lang="en-US" sz="2400" spc="-2" dirty="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2400" spc="-2" dirty="0" err="1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수집</a:t>
                </a:r>
                <a:endParaRPr lang="en-US" sz="2400" spc="-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81C918D-CE37-C985-EF9C-B61B99D3C1AC}"/>
                </a:ext>
              </a:extLst>
            </p:cNvPr>
            <p:cNvSpPr txBox="1"/>
            <p:nvPr/>
          </p:nvSpPr>
          <p:spPr>
            <a:xfrm>
              <a:off x="3812019" y="5081830"/>
              <a:ext cx="2765911" cy="607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 err="1"/>
                <a:t>백엔드</a:t>
              </a:r>
              <a:r>
                <a:rPr lang="ko-KR" altLang="en-US" sz="2200" dirty="0"/>
                <a:t> 및 </a:t>
              </a:r>
              <a:r>
                <a:rPr lang="en-US" altLang="ko-KR" sz="2200" dirty="0"/>
                <a:t>RAG </a:t>
              </a:r>
              <a:r>
                <a:rPr lang="ko-KR" altLang="en-US" sz="2200" dirty="0"/>
                <a:t>개발</a:t>
              </a:r>
              <a:r>
                <a:rPr lang="en-US" altLang="ko-KR" sz="2200" dirty="0"/>
                <a:t>(.</a:t>
              </a:r>
              <a:r>
                <a:rPr lang="en-US" altLang="ko-KR" sz="2200" dirty="0" err="1"/>
                <a:t>py</a:t>
              </a:r>
              <a:r>
                <a:rPr lang="en-US" altLang="ko-KR" sz="2200" dirty="0"/>
                <a:t>) </a:t>
              </a:r>
              <a:r>
                <a:rPr lang="ko-KR" altLang="en-US" sz="2200" dirty="0"/>
                <a:t>안드로이드</a:t>
              </a:r>
              <a:r>
                <a:rPr lang="en-US" altLang="ko-KR" sz="2200" dirty="0"/>
                <a:t> </a:t>
              </a:r>
              <a:r>
                <a:rPr lang="ko-KR" altLang="en-US" sz="2200" dirty="0"/>
                <a:t>앱 개발</a:t>
              </a:r>
              <a:r>
                <a:rPr lang="en-US" altLang="ko-KR" sz="2200" dirty="0"/>
                <a:t>(Kt)</a:t>
              </a:r>
              <a:endParaRPr lang="ko-KR" altLang="en-US" sz="2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D3B181B-7517-2150-A780-7C39DF2309BA}"/>
                </a:ext>
              </a:extLst>
            </p:cNvPr>
            <p:cNvSpPr txBox="1"/>
            <p:nvPr/>
          </p:nvSpPr>
          <p:spPr>
            <a:xfrm>
              <a:off x="8055040" y="5030213"/>
              <a:ext cx="3496617" cy="607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데이터 저장</a:t>
              </a:r>
              <a:r>
                <a:rPr lang="en-US" altLang="ko-KR" sz="2200" dirty="0"/>
                <a:t>, </a:t>
              </a:r>
              <a:r>
                <a:rPr lang="ko-KR" altLang="en-US" sz="2200" dirty="0"/>
                <a:t>벡터 검색</a:t>
              </a:r>
              <a:r>
                <a:rPr lang="en-US" altLang="ko-KR" sz="2200" dirty="0"/>
                <a:t>, </a:t>
              </a:r>
              <a:r>
                <a:rPr lang="ko-KR" altLang="en-US" sz="2200" dirty="0"/>
                <a:t>기사 수집 및 다국어 번역에 활용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ED60132-F422-AEBB-6E40-816BD2C59253}"/>
                </a:ext>
              </a:extLst>
            </p:cNvPr>
            <p:cNvSpPr txBox="1"/>
            <p:nvPr/>
          </p:nvSpPr>
          <p:spPr>
            <a:xfrm>
              <a:off x="12877568" y="5297504"/>
              <a:ext cx="2679525" cy="340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200" dirty="0"/>
                <a:t>웹 서버 및 </a:t>
              </a:r>
              <a:r>
                <a:rPr lang="en-US" altLang="ko-KR" sz="2200" dirty="0"/>
                <a:t>API </a:t>
              </a:r>
              <a:r>
                <a:rPr lang="ko-KR" altLang="en-US" sz="2200" dirty="0"/>
                <a:t>환경 구축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70BB0D8-5D61-D60A-D15B-BD5E04114F98}"/>
                </a:ext>
              </a:extLst>
            </p:cNvPr>
            <p:cNvSpPr txBox="1"/>
            <p:nvPr/>
          </p:nvSpPr>
          <p:spPr>
            <a:xfrm>
              <a:off x="3526318" y="8228143"/>
              <a:ext cx="3410764" cy="61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텍스트를 벡터 데이터로 변환에</a:t>
              </a:r>
              <a:r>
                <a:rPr lang="en-US" altLang="ko-KR" sz="2200" dirty="0"/>
                <a:t> </a:t>
              </a:r>
              <a:r>
                <a:rPr lang="ko-KR" altLang="en-US" sz="2200" dirty="0"/>
                <a:t>활용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1EBF855-5B48-FE5E-0D0B-24AB802A9084}"/>
                </a:ext>
              </a:extLst>
            </p:cNvPr>
            <p:cNvSpPr txBox="1"/>
            <p:nvPr/>
          </p:nvSpPr>
          <p:spPr>
            <a:xfrm>
              <a:off x="8359812" y="8452417"/>
              <a:ext cx="2639784" cy="656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RSS </a:t>
              </a:r>
              <a:r>
                <a:rPr lang="ko-KR" altLang="en-US" sz="2400" dirty="0"/>
                <a:t>기반으로 금융 관련 기사 자동 수집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6108ADA-313F-8A42-1EE9-A99E932D0576}"/>
                </a:ext>
              </a:extLst>
            </p:cNvPr>
            <p:cNvSpPr txBox="1"/>
            <p:nvPr/>
          </p:nvSpPr>
          <p:spPr>
            <a:xfrm>
              <a:off x="12499668" y="8452419"/>
              <a:ext cx="3388958" cy="607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검색된 정보를 기반으로 사용자 질문에 대한 응답 생성</a:t>
              </a:r>
            </a:p>
          </p:txBody>
        </p:sp>
      </p:grpSp>
      <p:sp>
        <p:nvSpPr>
          <p:cNvPr id="152" name="Freeform 18">
            <a:extLst>
              <a:ext uri="{FF2B5EF4-FFF2-40B4-BE49-F238E27FC236}">
                <a16:creationId xmlns:a16="http://schemas.microsoft.com/office/drawing/2014/main" id="{FB00DD30-6DC8-92D4-9780-D36185859774}"/>
              </a:ext>
            </a:extLst>
          </p:cNvPr>
          <p:cNvSpPr/>
          <p:nvPr/>
        </p:nvSpPr>
        <p:spPr>
          <a:xfrm>
            <a:off x="8847940" y="2255448"/>
            <a:ext cx="1991966" cy="516846"/>
          </a:xfrm>
          <a:custGeom>
            <a:avLst/>
            <a:gdLst/>
            <a:ahLst/>
            <a:cxnLst/>
            <a:rect l="l" t="t" r="r" b="b"/>
            <a:pathLst>
              <a:path w="2245614" h="454406">
                <a:moveTo>
                  <a:pt x="16891" y="0"/>
                </a:moveTo>
                <a:lnTo>
                  <a:pt x="2228723" y="0"/>
                </a:lnTo>
                <a:cubicBezTo>
                  <a:pt x="2238121" y="0"/>
                  <a:pt x="2245614" y="7620"/>
                  <a:pt x="2245614" y="16891"/>
                </a:cubicBezTo>
                <a:lnTo>
                  <a:pt x="2245614" y="437388"/>
                </a:lnTo>
                <a:cubicBezTo>
                  <a:pt x="2245614" y="446786"/>
                  <a:pt x="2237994" y="454279"/>
                  <a:pt x="2228723" y="454279"/>
                </a:cubicBezTo>
                <a:lnTo>
                  <a:pt x="16891" y="454279"/>
                </a:lnTo>
                <a:cubicBezTo>
                  <a:pt x="7620" y="454406"/>
                  <a:pt x="0" y="446786"/>
                  <a:pt x="0" y="437388"/>
                </a:cubicBezTo>
                <a:lnTo>
                  <a:pt x="0" y="16891"/>
                </a:lnTo>
                <a:cubicBezTo>
                  <a:pt x="0" y="7620"/>
                  <a:pt x="7620" y="0"/>
                  <a:pt x="16891" y="0"/>
                </a:cubicBezTo>
                <a:moveTo>
                  <a:pt x="16891" y="33909"/>
                </a:moveTo>
                <a:lnTo>
                  <a:pt x="16891" y="16891"/>
                </a:lnTo>
                <a:lnTo>
                  <a:pt x="33909" y="16891"/>
                </a:lnTo>
                <a:lnTo>
                  <a:pt x="33909" y="437388"/>
                </a:lnTo>
                <a:lnTo>
                  <a:pt x="16891" y="437388"/>
                </a:lnTo>
                <a:lnTo>
                  <a:pt x="16891" y="420497"/>
                </a:lnTo>
                <a:lnTo>
                  <a:pt x="2228723" y="420497"/>
                </a:lnTo>
                <a:lnTo>
                  <a:pt x="2228723" y="437388"/>
                </a:lnTo>
                <a:lnTo>
                  <a:pt x="2211832" y="437388"/>
                </a:lnTo>
                <a:lnTo>
                  <a:pt x="2211832" y="16891"/>
                </a:lnTo>
                <a:lnTo>
                  <a:pt x="2228723" y="16891"/>
                </a:lnTo>
                <a:lnTo>
                  <a:pt x="2228723" y="33909"/>
                </a:lnTo>
                <a:lnTo>
                  <a:pt x="16891" y="33909"/>
                </a:lnTo>
                <a:close/>
              </a:path>
            </a:pathLst>
          </a:custGeom>
          <a:solidFill>
            <a:srgbClr val="22385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3" name="Freeform 18">
            <a:extLst>
              <a:ext uri="{FF2B5EF4-FFF2-40B4-BE49-F238E27FC236}">
                <a16:creationId xmlns:a16="http://schemas.microsoft.com/office/drawing/2014/main" id="{0996ADC6-2F6E-C779-2FC5-A07FA61E1580}"/>
              </a:ext>
            </a:extLst>
          </p:cNvPr>
          <p:cNvSpPr/>
          <p:nvPr/>
        </p:nvSpPr>
        <p:spPr>
          <a:xfrm>
            <a:off x="14237210" y="2193856"/>
            <a:ext cx="1991966" cy="516846"/>
          </a:xfrm>
          <a:custGeom>
            <a:avLst/>
            <a:gdLst/>
            <a:ahLst/>
            <a:cxnLst/>
            <a:rect l="l" t="t" r="r" b="b"/>
            <a:pathLst>
              <a:path w="2245614" h="454406">
                <a:moveTo>
                  <a:pt x="16891" y="0"/>
                </a:moveTo>
                <a:lnTo>
                  <a:pt x="2228723" y="0"/>
                </a:lnTo>
                <a:cubicBezTo>
                  <a:pt x="2238121" y="0"/>
                  <a:pt x="2245614" y="7620"/>
                  <a:pt x="2245614" y="16891"/>
                </a:cubicBezTo>
                <a:lnTo>
                  <a:pt x="2245614" y="437388"/>
                </a:lnTo>
                <a:cubicBezTo>
                  <a:pt x="2245614" y="446786"/>
                  <a:pt x="2237994" y="454279"/>
                  <a:pt x="2228723" y="454279"/>
                </a:cubicBezTo>
                <a:lnTo>
                  <a:pt x="16891" y="454279"/>
                </a:lnTo>
                <a:cubicBezTo>
                  <a:pt x="7620" y="454406"/>
                  <a:pt x="0" y="446786"/>
                  <a:pt x="0" y="437388"/>
                </a:cubicBezTo>
                <a:lnTo>
                  <a:pt x="0" y="16891"/>
                </a:lnTo>
                <a:cubicBezTo>
                  <a:pt x="0" y="7620"/>
                  <a:pt x="7620" y="0"/>
                  <a:pt x="16891" y="0"/>
                </a:cubicBezTo>
                <a:moveTo>
                  <a:pt x="16891" y="33909"/>
                </a:moveTo>
                <a:lnTo>
                  <a:pt x="16891" y="16891"/>
                </a:lnTo>
                <a:lnTo>
                  <a:pt x="33909" y="16891"/>
                </a:lnTo>
                <a:lnTo>
                  <a:pt x="33909" y="437388"/>
                </a:lnTo>
                <a:lnTo>
                  <a:pt x="16891" y="437388"/>
                </a:lnTo>
                <a:lnTo>
                  <a:pt x="16891" y="420497"/>
                </a:lnTo>
                <a:lnTo>
                  <a:pt x="2228723" y="420497"/>
                </a:lnTo>
                <a:lnTo>
                  <a:pt x="2228723" y="437388"/>
                </a:lnTo>
                <a:lnTo>
                  <a:pt x="2211832" y="437388"/>
                </a:lnTo>
                <a:lnTo>
                  <a:pt x="2211832" y="16891"/>
                </a:lnTo>
                <a:lnTo>
                  <a:pt x="2228723" y="16891"/>
                </a:lnTo>
                <a:lnTo>
                  <a:pt x="2228723" y="33909"/>
                </a:lnTo>
                <a:lnTo>
                  <a:pt x="16891" y="33909"/>
                </a:lnTo>
                <a:close/>
              </a:path>
            </a:pathLst>
          </a:custGeom>
          <a:solidFill>
            <a:srgbClr val="22385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4" name="Freeform 18">
            <a:extLst>
              <a:ext uri="{FF2B5EF4-FFF2-40B4-BE49-F238E27FC236}">
                <a16:creationId xmlns:a16="http://schemas.microsoft.com/office/drawing/2014/main" id="{7BC1328F-676D-A204-59C3-21BC03385BF6}"/>
              </a:ext>
            </a:extLst>
          </p:cNvPr>
          <p:cNvSpPr/>
          <p:nvPr/>
        </p:nvSpPr>
        <p:spPr>
          <a:xfrm>
            <a:off x="3523799" y="6402395"/>
            <a:ext cx="1991966" cy="516846"/>
          </a:xfrm>
          <a:custGeom>
            <a:avLst/>
            <a:gdLst/>
            <a:ahLst/>
            <a:cxnLst/>
            <a:rect l="l" t="t" r="r" b="b"/>
            <a:pathLst>
              <a:path w="2245614" h="454406">
                <a:moveTo>
                  <a:pt x="16891" y="0"/>
                </a:moveTo>
                <a:lnTo>
                  <a:pt x="2228723" y="0"/>
                </a:lnTo>
                <a:cubicBezTo>
                  <a:pt x="2238121" y="0"/>
                  <a:pt x="2245614" y="7620"/>
                  <a:pt x="2245614" y="16891"/>
                </a:cubicBezTo>
                <a:lnTo>
                  <a:pt x="2245614" y="437388"/>
                </a:lnTo>
                <a:cubicBezTo>
                  <a:pt x="2245614" y="446786"/>
                  <a:pt x="2237994" y="454279"/>
                  <a:pt x="2228723" y="454279"/>
                </a:cubicBezTo>
                <a:lnTo>
                  <a:pt x="16891" y="454279"/>
                </a:lnTo>
                <a:cubicBezTo>
                  <a:pt x="7620" y="454406"/>
                  <a:pt x="0" y="446786"/>
                  <a:pt x="0" y="437388"/>
                </a:cubicBezTo>
                <a:lnTo>
                  <a:pt x="0" y="16891"/>
                </a:lnTo>
                <a:cubicBezTo>
                  <a:pt x="0" y="7620"/>
                  <a:pt x="7620" y="0"/>
                  <a:pt x="16891" y="0"/>
                </a:cubicBezTo>
                <a:moveTo>
                  <a:pt x="16891" y="33909"/>
                </a:moveTo>
                <a:lnTo>
                  <a:pt x="16891" y="16891"/>
                </a:lnTo>
                <a:lnTo>
                  <a:pt x="33909" y="16891"/>
                </a:lnTo>
                <a:lnTo>
                  <a:pt x="33909" y="437388"/>
                </a:lnTo>
                <a:lnTo>
                  <a:pt x="16891" y="437388"/>
                </a:lnTo>
                <a:lnTo>
                  <a:pt x="16891" y="420497"/>
                </a:lnTo>
                <a:lnTo>
                  <a:pt x="2228723" y="420497"/>
                </a:lnTo>
                <a:lnTo>
                  <a:pt x="2228723" y="437388"/>
                </a:lnTo>
                <a:lnTo>
                  <a:pt x="2211832" y="437388"/>
                </a:lnTo>
                <a:lnTo>
                  <a:pt x="2211832" y="16891"/>
                </a:lnTo>
                <a:lnTo>
                  <a:pt x="2228723" y="16891"/>
                </a:lnTo>
                <a:lnTo>
                  <a:pt x="2228723" y="33909"/>
                </a:lnTo>
                <a:lnTo>
                  <a:pt x="16891" y="33909"/>
                </a:lnTo>
                <a:close/>
              </a:path>
            </a:pathLst>
          </a:custGeom>
          <a:solidFill>
            <a:srgbClr val="223852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111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84B72-B6B8-1201-BDA3-0856F815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A382C-583A-DB01-8508-AE4CA39CB8D5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FF829A-2723-1934-12B2-373E3857AA8C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29347F-C7BE-1BDC-81FD-927E22618E63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36D8137-FB9D-FD3F-D030-907179858566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F99104-A239-0BE3-92D6-987379BAD904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4E57C2E-A030-2514-AA89-172162B0CE1F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0E10C90-6C63-7E50-40FF-A2B6A3635029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05A61-ECCB-7133-B4FF-63BF7D3648B6}"/>
              </a:ext>
            </a:extLst>
          </p:cNvPr>
          <p:cNvSpPr txBox="1"/>
          <p:nvPr/>
        </p:nvSpPr>
        <p:spPr>
          <a:xfrm>
            <a:off x="5095875" y="3743117"/>
            <a:ext cx="80962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전공 교과 내용 반영</a:t>
            </a:r>
          </a:p>
        </p:txBody>
      </p:sp>
    </p:spTree>
    <p:extLst>
      <p:ext uri="{BB962C8B-B14F-4D97-AF65-F5344CB8AC3E}">
        <p14:creationId xmlns:p14="http://schemas.microsoft.com/office/powerpoint/2010/main" val="2305463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D6AC-D059-092E-6D28-5519FDA9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CFE8C35-853B-71C6-49F2-3306B5A9E8C7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2452276-8273-D7A6-2423-C68D81EDFD01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3D46E7A-71FF-CF50-9B94-043610BA91FF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007DB65D-36D1-08F9-187D-B27BDF2588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998DCE26-8508-1F66-E305-368AF9FBBDB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BE3444CD-251A-3B5B-31BC-392E244ED0DC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376D1A2-3666-9E12-2815-3BFF208D74C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E1376528-6D3A-1211-E2D6-061748D9C47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EDB7D23A-4756-A36B-60AA-9BCED6A7F7F8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7841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전공 교과 내용 반영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6F7881D2-EE6F-5851-A179-204933CFDF7E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DEC58A71-4EC6-792D-A258-105B5DDED5E6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CA1BAA-D57A-04AE-7EA9-F3F0F38F5434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8777748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2F5C3AB-0427-F567-5A5A-B520DAACDBAA}"/>
                </a:ext>
              </a:extLst>
            </p:cNvPr>
            <p:cNvGrpSpPr/>
            <p:nvPr/>
          </p:nvGrpSpPr>
          <p:grpSpPr>
            <a:xfrm>
              <a:off x="8897425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F8CB32A-9D63-0D90-E269-E38D4E5CB4D2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0A5C7B3F-0A45-1DF3-B3F8-7AFC24D66DF5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720689-97EF-8970-9D1F-61577361F2D4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1FDD81-6E26-59CF-27BD-EB421BFB0DD7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17FCEC-10B9-41E4-9836-D4C842B5258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E361FB-3AD9-7FA1-8D44-7A1D8F4766F5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B1B723-FA9F-D901-799F-2CE2118A1EBC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DB2BC-BD96-EF50-744B-0B72C8218B4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CA6FD9-A6C5-3DEC-12BA-D412AF40726C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59146B-F3FA-A343-26AE-802010C0FF98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FE6E434-E036-233F-37B1-A5C050E22E1E}"/>
                </a:ext>
              </a:extLst>
            </p:cNvPr>
            <p:cNvGrpSpPr/>
            <p:nvPr/>
          </p:nvGrpSpPr>
          <p:grpSpPr>
            <a:xfrm>
              <a:off x="8777748" y="365493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B3209B17-FD5F-56F8-9B5A-EE1C7795C2C7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F75D37-D3B8-37AF-BDC6-9ECE79D2F0D3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4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CA7E100-CCCB-F9E7-9830-DF98BD74CE5E}"/>
              </a:ext>
            </a:extLst>
          </p:cNvPr>
          <p:cNvGrpSpPr/>
          <p:nvPr/>
        </p:nvGrpSpPr>
        <p:grpSpPr>
          <a:xfrm>
            <a:off x="1967739" y="2178298"/>
            <a:ext cx="10723244" cy="7463760"/>
            <a:chOff x="1217256" y="2745960"/>
            <a:chExt cx="10723244" cy="746376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2A83939-671F-E100-F0C4-E551EDA48C86}"/>
                </a:ext>
              </a:extLst>
            </p:cNvPr>
            <p:cNvGrpSpPr/>
            <p:nvPr/>
          </p:nvGrpSpPr>
          <p:grpSpPr>
            <a:xfrm>
              <a:off x="1217256" y="2745960"/>
              <a:ext cx="10723244" cy="7372230"/>
              <a:chOff x="1088891" y="2654300"/>
              <a:chExt cx="10723243" cy="7372230"/>
            </a:xfrm>
          </p:grpSpPr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072E5AD3-28D3-3093-CF4E-8D865BD76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8891" y="2654300"/>
                <a:ext cx="10723243" cy="7372230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BAD1C593-6B9B-2BA5-106D-85077DB0A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71906" t="93780"/>
              <a:stretch/>
            </p:blipFill>
            <p:spPr>
              <a:xfrm>
                <a:off x="5181600" y="8624331"/>
                <a:ext cx="3012563" cy="458518"/>
              </a:xfrm>
              <a:prstGeom prst="rect">
                <a:avLst/>
              </a:prstGeom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EBF018-6D9B-5D2F-5A1F-887AF37747D7}"/>
                </a:ext>
              </a:extLst>
            </p:cNvPr>
            <p:cNvSpPr txBox="1"/>
            <p:nvPr/>
          </p:nvSpPr>
          <p:spPr>
            <a:xfrm>
              <a:off x="5078911" y="9809610"/>
              <a:ext cx="3114668" cy="400110"/>
            </a:xfrm>
            <a:prstGeom prst="rect">
              <a:avLst/>
            </a:prstGeom>
            <a:solidFill>
              <a:srgbClr val="F2F3F8"/>
            </a:solidFill>
            <a:ln w="38100">
              <a:solidFill>
                <a:srgbClr val="747EA7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2000" dirty="0"/>
                <a:t>&lt;</a:t>
              </a:r>
              <a:r>
                <a:rPr lang="ko-KR" altLang="en-US" sz="2000" dirty="0"/>
                <a:t>교과 반영 코드 예시</a:t>
              </a:r>
              <a:r>
                <a:rPr lang="en-US" altLang="ko-KR" sz="2000" dirty="0"/>
                <a:t>&gt;</a:t>
              </a:r>
              <a:endParaRPr lang="ko-KR" altLang="en-US" sz="2000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5129FA3-A8E5-4825-259B-F0344B77D9D6}"/>
                </a:ext>
              </a:extLst>
            </p:cNvPr>
            <p:cNvSpPr/>
            <p:nvPr/>
          </p:nvSpPr>
          <p:spPr>
            <a:xfrm>
              <a:off x="1448636" y="4381501"/>
              <a:ext cx="2589965" cy="7175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805ED3A-17E8-0651-5FA4-E9ABB4D27916}"/>
                </a:ext>
              </a:extLst>
            </p:cNvPr>
            <p:cNvSpPr/>
            <p:nvPr/>
          </p:nvSpPr>
          <p:spPr>
            <a:xfrm>
              <a:off x="1505640" y="5254535"/>
              <a:ext cx="6687939" cy="339303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B4F1BF6-EB5D-B0B4-6687-CA01A78AA1DF}"/>
              </a:ext>
            </a:extLst>
          </p:cNvPr>
          <p:cNvGrpSpPr/>
          <p:nvPr/>
        </p:nvGrpSpPr>
        <p:grpSpPr>
          <a:xfrm>
            <a:off x="9030893" y="4531390"/>
            <a:ext cx="8900410" cy="4314286"/>
            <a:chOff x="8623202" y="5143500"/>
            <a:chExt cx="8908978" cy="4314286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FE717499-24C6-C88B-C2AA-35C38267D20F}"/>
                </a:ext>
              </a:extLst>
            </p:cNvPr>
            <p:cNvSpPr/>
            <p:nvPr/>
          </p:nvSpPr>
          <p:spPr>
            <a:xfrm>
              <a:off x="8623202" y="5143500"/>
              <a:ext cx="8908978" cy="3917730"/>
            </a:xfrm>
            <a:prstGeom prst="roundRect">
              <a:avLst/>
            </a:prstGeom>
            <a:solidFill>
              <a:srgbClr val="F2F3F8"/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78286B-4A5F-3BA9-82B6-9F9C0C8766A8}"/>
                </a:ext>
              </a:extLst>
            </p:cNvPr>
            <p:cNvSpPr txBox="1"/>
            <p:nvPr/>
          </p:nvSpPr>
          <p:spPr>
            <a:xfrm>
              <a:off x="8747850" y="5313703"/>
              <a:ext cx="8502883" cy="4144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801" b="1" dirty="0"/>
                <a:t>자료구조 과목 활용</a:t>
              </a:r>
              <a:endParaRPr lang="en-US" altLang="ko-KR" sz="2801" b="1" dirty="0"/>
            </a:p>
            <a:p>
              <a:pPr marL="342917" indent="-342917">
                <a:lnSpc>
                  <a:spcPct val="150000"/>
                </a:lnSpc>
                <a:buFontTx/>
                <a:buChar char="-"/>
              </a:pPr>
              <a:r>
                <a:rPr lang="ko-KR" altLang="en-US" sz="2400" dirty="0"/>
                <a:t>파이썬 기반 핵심 알고리즘 및 유사도 기반 문서 필터링 구현  </a:t>
              </a:r>
              <a:endParaRPr lang="en-US" altLang="ko-KR" sz="2400" dirty="0"/>
            </a:p>
            <a:p>
              <a:pPr marL="342917" indent="-342917">
                <a:lnSpc>
                  <a:spcPct val="150000"/>
                </a:lnSpc>
                <a:buFontTx/>
                <a:buChar char="-"/>
              </a:pPr>
              <a:r>
                <a:rPr lang="ko-KR" altLang="en-US" sz="2400" dirty="0"/>
                <a:t>중복 제거를 위한 </a:t>
              </a:r>
              <a:r>
                <a:rPr lang="en-US" altLang="ko-KR" sz="2400" dirty="0"/>
                <a:t>set() </a:t>
              </a:r>
              <a:r>
                <a:rPr lang="ko-KR" altLang="en-US" sz="2400" dirty="0"/>
                <a:t>활용</a:t>
              </a:r>
              <a:endParaRPr lang="en-US" altLang="ko-KR" sz="2400" dirty="0"/>
            </a:p>
            <a:p>
              <a:pPr marL="342917" indent="-342917">
                <a:lnSpc>
                  <a:spcPct val="150000"/>
                </a:lnSpc>
                <a:buFontTx/>
                <a:buChar char="-"/>
              </a:pPr>
              <a:r>
                <a:rPr lang="ko-KR" altLang="en-US" sz="2400" dirty="0"/>
                <a:t>리스트 기반 순위 정렬 및 조건 필터링</a:t>
              </a:r>
              <a:endParaRPr lang="en-US" altLang="ko-KR" sz="2400" dirty="0"/>
            </a:p>
            <a:p>
              <a:pPr marL="342917" indent="-342917">
                <a:lnSpc>
                  <a:spcPct val="150000"/>
                </a:lnSpc>
                <a:buFontTx/>
                <a:buChar char="-"/>
              </a:pPr>
              <a:r>
                <a:rPr lang="ko-KR" altLang="en-US" sz="2400" dirty="0"/>
                <a:t>문서 정보 저장에 </a:t>
              </a:r>
              <a:r>
                <a:rPr lang="ko-KR" altLang="en-US" sz="2400" dirty="0" err="1"/>
                <a:t>딕셔너리</a:t>
              </a:r>
              <a:r>
                <a:rPr lang="ko-KR" altLang="en-US" sz="2400" dirty="0"/>
                <a:t> 자료구조 사용</a:t>
              </a:r>
              <a:endParaRPr lang="en-US" altLang="ko-KR" sz="2400" dirty="0"/>
            </a:p>
            <a:p>
              <a:pPr marL="342917" indent="-342917">
                <a:lnSpc>
                  <a:spcPct val="150000"/>
                </a:lnSpc>
                <a:buFontTx/>
                <a:buChar char="-"/>
              </a:pPr>
              <a:r>
                <a:rPr lang="ko-KR" altLang="en-US" sz="2400" dirty="0"/>
                <a:t>반복문과 조건문을 통한 유사도 기반 상위 문서 추출</a:t>
              </a:r>
            </a:p>
            <a:p>
              <a:pPr>
                <a:lnSpc>
                  <a:spcPct val="200000"/>
                </a:lnSpc>
              </a:pPr>
              <a:endParaRPr lang="ko-KR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751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D6AC-D059-092E-6D28-5519FDA9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CFE8C35-853B-71C6-49F2-3306B5A9E8C7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2452276-8273-D7A6-2423-C68D81EDFD01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3D46E7A-71FF-CF50-9B94-043610BA91FF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007DB65D-36D1-08F9-187D-B27BDF2588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998DCE26-8508-1F66-E305-368AF9FBBDB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BE3444CD-251A-3B5B-31BC-392E244ED0DC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376D1A2-3666-9E12-2815-3BFF208D74C1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E1376528-6D3A-1211-E2D6-061748D9C47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EDB7D23A-4756-A36B-60AA-9BCED6A7F7F8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ts val="7841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전공 교과 내용 반영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6F7881D2-EE6F-5851-A179-204933CFDF7E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DEC58A71-4EC6-792D-A258-105B5DDED5E6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CA1BAA-D57A-04AE-7EA9-F3F0F38F5434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8777748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2F5C3AB-0427-F567-5A5A-B520DAACDBAA}"/>
                </a:ext>
              </a:extLst>
            </p:cNvPr>
            <p:cNvGrpSpPr/>
            <p:nvPr/>
          </p:nvGrpSpPr>
          <p:grpSpPr>
            <a:xfrm>
              <a:off x="8897425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F8CB32A-9D63-0D90-E269-E38D4E5CB4D2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0A5C7B3F-0A45-1DF3-B3F8-7AFC24D66DF5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720689-97EF-8970-9D1F-61577361F2D4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1FDD81-6E26-59CF-27BD-EB421BFB0DD7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17FCEC-10B9-41E4-9836-D4C842B5258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E361FB-3AD9-7FA1-8D44-7A1D8F4766F5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B1B723-FA9F-D901-799F-2CE2118A1EBC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DB2BC-BD96-EF50-744B-0B72C8218B4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CA6FD9-A6C5-3DEC-12BA-D412AF40726C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59146B-F3FA-A343-26AE-802010C0FF98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FE6E434-E036-233F-37B1-A5C050E22E1E}"/>
                </a:ext>
              </a:extLst>
            </p:cNvPr>
            <p:cNvGrpSpPr/>
            <p:nvPr/>
          </p:nvGrpSpPr>
          <p:grpSpPr>
            <a:xfrm>
              <a:off x="8777748" y="365493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B3209B17-FD5F-56F8-9B5A-EE1C7795C2C7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F75D37-D3B8-37AF-BDC6-9ECE79D2F0D3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4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4F67045B-EBFE-B970-A8F1-8F3FE3C6CD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5600" y="5999206"/>
            <a:ext cx="13279703" cy="3181794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F20955D-F02B-8D0E-721A-29058E9481D8}"/>
              </a:ext>
            </a:extLst>
          </p:cNvPr>
          <p:cNvSpPr/>
          <p:nvPr/>
        </p:nvSpPr>
        <p:spPr>
          <a:xfrm>
            <a:off x="7791959" y="2768271"/>
            <a:ext cx="7119887" cy="2919753"/>
          </a:xfrm>
          <a:prstGeom prst="roundRect">
            <a:avLst/>
          </a:prstGeom>
          <a:solidFill>
            <a:srgbClr val="F2F3F8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D1845-6706-E261-9943-8F77906DFEB4}"/>
              </a:ext>
            </a:extLst>
          </p:cNvPr>
          <p:cNvSpPr txBox="1"/>
          <p:nvPr/>
        </p:nvSpPr>
        <p:spPr>
          <a:xfrm>
            <a:off x="8283655" y="3003506"/>
            <a:ext cx="6861912" cy="2340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1" b="1" dirty="0"/>
              <a:t>데이터베이스 구축실습 과목 활용</a:t>
            </a:r>
            <a:endParaRPr lang="en-US" altLang="ko-KR" sz="2801" b="1" dirty="0"/>
          </a:p>
          <a:p>
            <a:pPr marL="342917" indent="-342917">
              <a:lnSpc>
                <a:spcPct val="150000"/>
              </a:lnSpc>
              <a:buFontTx/>
              <a:buChar char="-"/>
            </a:pPr>
            <a:r>
              <a:rPr lang="en-US" altLang="ko-KR" sz="2400" dirty="0"/>
              <a:t>SQLite</a:t>
            </a:r>
            <a:r>
              <a:rPr lang="ko-KR" altLang="en-US" sz="2400" dirty="0"/>
              <a:t>를 활용한 관계형 데이터베이스 구성</a:t>
            </a:r>
            <a:endParaRPr lang="en-US" altLang="ko-KR" sz="2400" dirty="0"/>
          </a:p>
          <a:p>
            <a:pPr marL="342917" indent="-342917">
              <a:lnSpc>
                <a:spcPct val="150000"/>
              </a:lnSpc>
              <a:buFontTx/>
              <a:buChar char="-"/>
            </a:pPr>
            <a:r>
              <a:rPr lang="en-US" altLang="ko-KR" sz="2400" dirty="0"/>
              <a:t>CREATE TABLE </a:t>
            </a:r>
            <a:r>
              <a:rPr lang="ko-KR" altLang="en-US" sz="2400" dirty="0"/>
              <a:t>문으로 데이터 스키마 설계</a:t>
            </a:r>
            <a:endParaRPr lang="en-US" altLang="ko-KR" sz="2400" dirty="0"/>
          </a:p>
          <a:p>
            <a:pPr marL="342917" indent="-342917">
              <a:lnSpc>
                <a:spcPct val="150000"/>
              </a:lnSpc>
              <a:buFontTx/>
              <a:buChar char="-"/>
            </a:pPr>
            <a:r>
              <a:rPr lang="en-US" altLang="ko-KR" sz="2400" dirty="0"/>
              <a:t>SQL SELECT </a:t>
            </a:r>
            <a:r>
              <a:rPr lang="ko-KR" altLang="en-US" sz="2400" dirty="0"/>
              <a:t>구문을 사용한 기사 정보 조회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09560CC-B336-1990-C88A-62B52A2848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97565" y="2640787"/>
            <a:ext cx="4420217" cy="3200847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1C9F22-66E0-AAC6-2256-2671F2FC7A12}"/>
              </a:ext>
            </a:extLst>
          </p:cNvPr>
          <p:cNvSpPr/>
          <p:nvPr/>
        </p:nvSpPr>
        <p:spPr>
          <a:xfrm>
            <a:off x="3282524" y="2687550"/>
            <a:ext cx="2021942" cy="393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12A75C-99CF-05FB-F4F4-F1DF6E8C9193}"/>
              </a:ext>
            </a:extLst>
          </p:cNvPr>
          <p:cNvSpPr/>
          <p:nvPr/>
        </p:nvSpPr>
        <p:spPr>
          <a:xfrm>
            <a:off x="6191758" y="7632055"/>
            <a:ext cx="1192473" cy="3371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841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ED16-071B-82B8-D941-42CBDC30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2FE03E-F954-95A4-4927-3389F8E5C253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7A7540C-A73E-B100-590D-8EA0588AED66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F94BC9-BC5A-2227-686B-752E505B8025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D387818-FAA8-CCC8-AD9F-A71A7F811CE9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7D14B1B-E919-F095-AC54-3B370825192E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9968642-F029-9432-D199-2D8503D83CA2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EEFF9C5-38F9-F7B5-3E61-FE7582EE1740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7713C-2C69-3531-0C6F-D268294A275E}"/>
              </a:ext>
            </a:extLst>
          </p:cNvPr>
          <p:cNvSpPr txBox="1"/>
          <p:nvPr/>
        </p:nvSpPr>
        <p:spPr>
          <a:xfrm>
            <a:off x="4752975" y="4420225"/>
            <a:ext cx="87820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시스템 동작 과정</a:t>
            </a:r>
          </a:p>
        </p:txBody>
      </p:sp>
    </p:spTree>
    <p:extLst>
      <p:ext uri="{BB962C8B-B14F-4D97-AF65-F5344CB8AC3E}">
        <p14:creationId xmlns:p14="http://schemas.microsoft.com/office/powerpoint/2010/main" val="629539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738E-A7AE-8112-F5E9-F4248D0E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D3D668E-DA1E-E8E5-60EB-2EDF3620B22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0FFEFF5C-B518-2F16-2E66-2847E85D9D5B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60E68E6-562D-6784-2DDE-4E46BB051873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AC867487-960F-1023-81A1-10DE67C898F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A3335C10-112A-689A-52F9-85B7CB2C44D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6FE4012E-C45D-1D3A-218D-4641ADFB5A4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DD74FC9-F5F7-0D28-E887-B6E5A5409628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46B3B1B0-B4F5-02C9-98B9-7A694EFFC00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460A2A0-7477-4C33-54C7-D3B3ED7BAA23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160B73D-8D33-6532-62AC-005FC3ADC873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345931CA-8E6A-4E5E-67C1-F9774E895D5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D8A93B-2B88-3C49-7E11-72DEC13DBD2F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46022C3-712A-74A6-9A92-A5CBD8CDAD53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B4FD4E3-9DA0-8BCA-B469-7712AF77605C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15302D2-8B87-7EA3-1B39-018BFD430A01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74A02-FF3D-D10F-4123-7C805C823534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C30E37-481E-DA98-BB8F-5B69F85D5452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6246D9-B49B-405A-770A-A947AE88D459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03A1D5-2391-6F7B-5D14-3C607239A2F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97E344-41CE-658A-34AA-A6412BB8CFE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4B5F65-D6B0-57AF-D4F8-543424059D6F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60E9EE-DFE3-E376-47A8-300D46DD485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98A587-3981-28DE-06A8-6BBBBD02BDF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D2A699D-B0B1-3D70-834F-1C59C42074C3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5D4D52A8-B673-2EC7-832D-76ED2754A85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B9030A-7EE7-7626-39AD-996E42F91D8F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ED9DC43-B5CB-F769-4628-C11BD2BFB1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99" y="2082324"/>
            <a:ext cx="13647306" cy="78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50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D834-82F9-BE1D-77EA-89E2A203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C1DB60C8-112A-C3B3-EB59-97F73C32574A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05B6EECA-CC3F-FEFC-7E79-BF0FE590B96C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9713929-2DA0-FB56-7DC3-BB355528E122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56FEF2F3-38D9-00EC-4E3C-5C199BFA761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A1769E46-21A6-E60E-044D-7390AAF0BE2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ADC7BAA4-C139-EF0C-4C03-B4223458FEB0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E1D42DC2-0BB4-0623-A782-942423E291ED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4F40783-F88A-14AD-9A71-C209D721A25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E34BA905-1944-F017-A471-AAE2CD4D7927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4BBC6925-92B0-0508-E3EC-D8ED5528B9EF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63879654-9603-CC16-69AF-6DD1F6FF5354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1F732D-B482-3950-924B-4FBC6386A0F7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질문과 데이터를 번역하는 이유</a:t>
            </a: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66741F-BBE7-64AB-F633-1D829BD71E35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069D860-8A47-A2F6-9622-C2C4E8905B34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5AF0342-5129-4880-38ED-BA65054251F9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3992F52B-C6F7-589D-7B63-CA53AA92699E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D36B3C-0072-CF25-AEAB-C18D12BD3362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F99538-DE6D-2B18-4743-80A57A8E9CB5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9CA1FA-8A95-E6F2-38F8-1E1042B1EC7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B6AB5A-8157-905D-C38C-ECDF63DDA696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1E0198-030E-A0CA-8C0B-A5579D32A142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7386DA-35B3-36ED-B94E-1B3FF6E4C2A6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279B06-BAB6-BC73-CCF1-E0D58A14E4D8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9D0E41-8E63-3144-E0EE-6D48C33E4601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079C99-4DE4-E97C-A19C-C5DDA158997C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354220B1-6FD2-8B1B-5DA3-F23E2E68E943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240C-562B-803E-EA82-B6198476811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028AEC-53F5-A781-FCA3-FF126E25FF66}"/>
              </a:ext>
            </a:extLst>
          </p:cNvPr>
          <p:cNvSpPr txBox="1"/>
          <p:nvPr/>
        </p:nvSpPr>
        <p:spPr>
          <a:xfrm>
            <a:off x="1951729" y="2495709"/>
            <a:ext cx="459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번역 없는 </a:t>
            </a:r>
            <a:r>
              <a:rPr lang="en-US" altLang="ko-KR" sz="3600" b="1" dirty="0"/>
              <a:t>RAG </a:t>
            </a:r>
            <a:r>
              <a:rPr lang="ko-KR" altLang="en-US" sz="3600" b="1" dirty="0"/>
              <a:t>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A0D04-C67C-17D2-0E2F-8AEDCAE16B89}"/>
              </a:ext>
            </a:extLst>
          </p:cNvPr>
          <p:cNvSpPr txBox="1"/>
          <p:nvPr/>
        </p:nvSpPr>
        <p:spPr>
          <a:xfrm>
            <a:off x="2097412" y="6721203"/>
            <a:ext cx="8962474" cy="131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DB</a:t>
            </a:r>
            <a:r>
              <a:rPr lang="ko-KR" altLang="en-US" sz="2800" b="1" dirty="0"/>
              <a:t>에 </a:t>
            </a:r>
            <a:r>
              <a:rPr lang="en-US" altLang="ko-KR" sz="2800" b="1" dirty="0"/>
              <a:t>SK</a:t>
            </a:r>
            <a:r>
              <a:rPr lang="ko-KR" altLang="en-US" sz="2800" b="1" dirty="0"/>
              <a:t>이노베이션의 악재에 관련된 </a:t>
            </a:r>
            <a:r>
              <a:rPr lang="ko-KR" altLang="en-US" sz="2800" b="1" dirty="0">
                <a:solidFill>
                  <a:srgbClr val="FF0000"/>
                </a:solidFill>
              </a:rPr>
              <a:t>자료가 있음에도 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800" b="1" dirty="0">
                <a:solidFill>
                  <a:srgbClr val="FF0000"/>
                </a:solidFill>
              </a:rPr>
              <a:t>불구하고</a:t>
            </a:r>
            <a:r>
              <a:rPr lang="en-US" altLang="ko-KR" sz="2800" b="1" dirty="0">
                <a:solidFill>
                  <a:srgbClr val="FF0000"/>
                </a:solidFill>
              </a:rPr>
              <a:t> </a:t>
            </a:r>
            <a:r>
              <a:rPr lang="ko-KR" altLang="en-US" sz="2800" b="1" dirty="0">
                <a:solidFill>
                  <a:srgbClr val="FF0000"/>
                </a:solidFill>
              </a:rPr>
              <a:t>유사한 자료로 추출하지 못하는 </a:t>
            </a:r>
            <a:r>
              <a:rPr lang="ko-KR" altLang="en-US" sz="2800" b="1" dirty="0"/>
              <a:t>것을 파악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0A372D2-E2C0-C9A9-184C-5D6C14B850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232" y="4583631"/>
            <a:ext cx="7310239" cy="1701360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71B8B3-CFEA-A30E-059B-F94F87F0F3A7}"/>
              </a:ext>
            </a:extLst>
          </p:cNvPr>
          <p:cNvGrpSpPr/>
          <p:nvPr/>
        </p:nvGrpSpPr>
        <p:grpSpPr>
          <a:xfrm>
            <a:off x="11296177" y="2142968"/>
            <a:ext cx="6153623" cy="7457511"/>
            <a:chOff x="8494205" y="2484600"/>
            <a:chExt cx="3227894" cy="599006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04348D1C-AFD6-E442-E42C-C05C6F167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017"/>
            <a:stretch/>
          </p:blipFill>
          <p:spPr>
            <a:xfrm>
              <a:off x="8494206" y="3597835"/>
              <a:ext cx="3227892" cy="3774870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D8AE952-F51D-192D-063B-80CCD034E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206" y="7348005"/>
              <a:ext cx="3227893" cy="1126660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5FFA1116-A198-7276-5454-29C533C2E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509"/>
            <a:stretch/>
          </p:blipFill>
          <p:spPr>
            <a:xfrm>
              <a:off x="8494205" y="2484600"/>
              <a:ext cx="3227892" cy="1180480"/>
            </a:xfrm>
            <a:prstGeom prst="rect">
              <a:avLst/>
            </a:prstGeom>
          </p:spPr>
        </p:pic>
      </p:grpSp>
      <p:sp>
        <p:nvSpPr>
          <p:cNvPr id="33" name="TextBox 14">
            <a:extLst>
              <a:ext uri="{FF2B5EF4-FFF2-40B4-BE49-F238E27FC236}">
                <a16:creationId xmlns:a16="http://schemas.microsoft.com/office/drawing/2014/main" id="{E4C5E206-D374-6016-73E1-EBB3497AD84B}"/>
              </a:ext>
            </a:extLst>
          </p:cNvPr>
          <p:cNvSpPr/>
          <p:nvPr/>
        </p:nvSpPr>
        <p:spPr>
          <a:xfrm>
            <a:off x="2245331" y="3514991"/>
            <a:ext cx="6044453" cy="52176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질문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: SK </a:t>
            </a: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이노베이션에 악재가 있니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?</a:t>
            </a:r>
            <a:endParaRPr lang="en-US" altLang="ko-KR" sz="2800" b="1" strike="noStrike" spc="-1" dirty="0">
              <a:solidFill>
                <a:srgbClr val="0000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207960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738E-A7AE-8112-F5E9-F4248D0E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D3D668E-DA1E-E8E5-60EB-2EDF3620B22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0FFEFF5C-B518-2F16-2E66-2847E85D9D5B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60E68E6-562D-6784-2DDE-4E46BB051873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AC867487-960F-1023-81A1-10DE67C898F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A3335C10-112A-689A-52F9-85B7CB2C44D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6FE4012E-C45D-1D3A-218D-4641ADFB5A4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DD74FC9-F5F7-0D28-E887-B6E5A5409628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46B3B1B0-B4F5-02C9-98B9-7A694EFFC00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460A2A0-7477-4C33-54C7-D3B3ED7BAA23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160B73D-8D33-6532-62AC-005FC3ADC873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345931CA-8E6A-4E5E-67C1-F9774E895D5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AAD88-5FF8-D290-25E2-844478021ADC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질문과 데이터를 번역하는 이유</a:t>
            </a: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D8A93B-2B88-3C49-7E11-72DEC13DBD2F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46022C3-712A-74A6-9A92-A5CBD8CDAD53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B4FD4E3-9DA0-8BCA-B469-7712AF77605C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15302D2-8B87-7EA3-1B39-018BFD430A01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74A02-FF3D-D10F-4123-7C805C823534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C30E37-481E-DA98-BB8F-5B69F85D5452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6246D9-B49B-405A-770A-A947AE88D459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03A1D5-2391-6F7B-5D14-3C607239A2F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97E344-41CE-658A-34AA-A6412BB8CFE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4B5F65-D6B0-57AF-D4F8-543424059D6F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60E9EE-DFE3-E376-47A8-300D46DD485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98A587-3981-28DE-06A8-6BBBBD02BDF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D2A699D-B0B1-3D70-834F-1C59C42074C3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5D4D52A8-B673-2EC7-832D-76ED2754A85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B9030A-7EE7-7626-39AD-996E42F91D8F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47295E7-B9DE-6D00-B0A8-D96B4B460A26}"/>
              </a:ext>
            </a:extLst>
          </p:cNvPr>
          <p:cNvSpPr txBox="1"/>
          <p:nvPr/>
        </p:nvSpPr>
        <p:spPr>
          <a:xfrm>
            <a:off x="2162726" y="2222081"/>
            <a:ext cx="5467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질문</a:t>
            </a:r>
            <a:r>
              <a:rPr lang="en-US" altLang="ko-KR" sz="3600" b="1" dirty="0"/>
              <a:t>&amp;</a:t>
            </a:r>
            <a:r>
              <a:rPr lang="ko-KR" altLang="en-US" sz="3600" b="1" dirty="0"/>
              <a:t>자료 번역 </a:t>
            </a:r>
            <a:r>
              <a:rPr lang="en-US" altLang="ko-KR" sz="3600" b="1" dirty="0"/>
              <a:t>RAG </a:t>
            </a:r>
            <a:r>
              <a:rPr lang="ko-KR" altLang="en-US" sz="3600" b="1" dirty="0"/>
              <a:t>모델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C498450-CC82-103D-5695-B155044D2C40}"/>
              </a:ext>
            </a:extLst>
          </p:cNvPr>
          <p:cNvGrpSpPr/>
          <p:nvPr/>
        </p:nvGrpSpPr>
        <p:grpSpPr>
          <a:xfrm>
            <a:off x="5681165" y="3744501"/>
            <a:ext cx="5467946" cy="5328053"/>
            <a:chOff x="4110633" y="3677593"/>
            <a:chExt cx="2958059" cy="3593252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210963C1-D692-697B-5CB6-CD3792CA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10633" y="3677593"/>
              <a:ext cx="2958059" cy="1251276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3BC829A-8E56-8973-0CC7-1488297EE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0633" y="4929049"/>
              <a:ext cx="2958058" cy="2341796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4647DC45-B5E1-016E-1C8E-8A289274C0B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462" y="3140363"/>
            <a:ext cx="5467946" cy="4890773"/>
          </a:xfrm>
          <a:prstGeom prst="rect">
            <a:avLst/>
          </a:prstGeom>
        </p:spPr>
      </p:pic>
      <p:sp>
        <p:nvSpPr>
          <p:cNvPr id="39" name="TextBox 14">
            <a:extLst>
              <a:ext uri="{FF2B5EF4-FFF2-40B4-BE49-F238E27FC236}">
                <a16:creationId xmlns:a16="http://schemas.microsoft.com/office/drawing/2014/main" id="{D0A55025-DEC9-9044-8F01-7F984F9001FA}"/>
              </a:ext>
            </a:extLst>
          </p:cNvPr>
          <p:cNvSpPr/>
          <p:nvPr/>
        </p:nvSpPr>
        <p:spPr>
          <a:xfrm>
            <a:off x="9756064" y="8676595"/>
            <a:ext cx="8145221" cy="9526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영어 데이터 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+ </a:t>
            </a: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영어 질문간의 유사도 분석 방식이</a:t>
            </a:r>
            <a:endParaRPr lang="en-US" altLang="ko-KR" sz="2800" b="1" spc="-1" dirty="0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정확도가 높다는 사실을 확인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!</a:t>
            </a:r>
            <a:endParaRPr lang="en-US" altLang="ko-KR" sz="2800" b="1" strike="noStrike" spc="-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ABAC9F6A-5843-1CA2-4092-DE649FA28495}"/>
              </a:ext>
            </a:extLst>
          </p:cNvPr>
          <p:cNvSpPr/>
          <p:nvPr/>
        </p:nvSpPr>
        <p:spPr>
          <a:xfrm>
            <a:off x="2281765" y="3060673"/>
            <a:ext cx="6044453" cy="521766"/>
          </a:xfrm>
          <a:prstGeom prst="rect">
            <a:avLst/>
          </a:prstGeom>
          <a:solidFill>
            <a:srgbClr val="C3D6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질문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: SK </a:t>
            </a:r>
            <a:r>
              <a:rPr lang="ko-KR" altLang="en-US" sz="2800" b="1" spc="-1" dirty="0">
                <a:solidFill>
                  <a:srgbClr val="000000"/>
                </a:solidFill>
                <a:latin typeface="맑은 고딕"/>
              </a:rPr>
              <a:t>이노베이션에 악재가 있니</a:t>
            </a:r>
            <a:r>
              <a:rPr lang="en-US" altLang="ko-KR" sz="2800" b="1" spc="-1" dirty="0">
                <a:solidFill>
                  <a:srgbClr val="000000"/>
                </a:solidFill>
                <a:latin typeface="맑은 고딕"/>
              </a:rPr>
              <a:t>?</a:t>
            </a:r>
            <a:endParaRPr lang="en-US" altLang="ko-KR" sz="2800" b="1" strike="noStrike" spc="-1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174A74F-D02B-C6E3-12DD-8B66496C41AA}"/>
              </a:ext>
            </a:extLst>
          </p:cNvPr>
          <p:cNvSpPr/>
          <p:nvPr/>
        </p:nvSpPr>
        <p:spPr>
          <a:xfrm>
            <a:off x="6014647" y="3850392"/>
            <a:ext cx="4084569" cy="16356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01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D61B-83E3-2E50-2C88-8A170E42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343D8C42-C1D3-B5F8-6691-684B7CD5AF9B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9955F4B-EBCA-FAEF-E7F2-775E4EE68D85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E8706D0-1C29-79BD-D2AE-B2A833B48F9B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EC276874-15EC-F235-ED62-66F74557BD96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2715EA59-1BF3-3794-7A96-9036C79BB2EC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E01C16FA-B136-1BA7-150B-E70B75A2041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0AAEE019-DABB-0AAF-42E2-6E4FC26ABCB4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75EDFC98-29DA-B489-84C9-9AFA9A5EA9C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BF959A15-5C5B-F793-4674-0A971ADF32EC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C47F7B3C-65AA-5F52-8D9F-4429F68C2692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F53A8B98-88D2-C100-4F5E-FC85E439B74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61E56E-CF82-495E-2E24-A22D7AD1BAD0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데이터 수집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95468E2-AD9B-7149-76A0-87A896D6FD17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3B49588-5F6F-9245-1B8D-2C425CE57040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AD3ECED-BB7F-0529-D75A-C931EF4B5EB5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C8E648FE-1306-BB40-39DB-1B2F0CBA2680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692BFD-5F7E-53BF-66D3-AD21E44B9832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77CA9C-039F-5E2D-4B5A-E1101873FB5E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1E65D3-28D9-69F1-A14F-F28CBC4450ED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15FB99-DCB7-F089-2AEC-4562E032C776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792E3D-6CAC-E8C2-205A-E287ADA97DCE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E88771-E33E-9642-C4C0-3D61204B7F51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805EB3-245D-5873-5FA3-0630AAE7E171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DC7EEC-A294-65FF-E22A-66761D263FC4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5BD4E44-91F1-68FD-C1C4-17D6B350B645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73FD42BD-4749-6CD1-7E4D-0077D1485FEF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FE9812-5F1F-F730-D88B-C17B3CB08161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2F0CC00-0354-5CD1-9A54-2A9B9BD1A6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26" y="2068338"/>
            <a:ext cx="13420174" cy="772612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0571FC1-F84A-A4B9-1137-94CE8795A0AD}"/>
              </a:ext>
            </a:extLst>
          </p:cNvPr>
          <p:cNvSpPr/>
          <p:nvPr/>
        </p:nvSpPr>
        <p:spPr>
          <a:xfrm>
            <a:off x="2514600" y="6324597"/>
            <a:ext cx="9470322" cy="33399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4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BBA9-C547-7E1A-F42F-7832DB48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CDC7721-0F60-F989-100D-B3B29862E4FC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27F52599-C38B-7A98-0CBC-A3C9533AD31D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165420B-F711-D8F4-5A58-9277DFAED239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07A3E647-AE7B-EA5C-5998-0976CB3F4831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D6B30C57-1348-216D-5A8D-7DC839464E0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CCE20BF8-A304-14C5-3071-00110726A4D3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5D9588D-BA67-87F9-51F3-F16E9E39306E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BB18811D-D90E-B4BD-A2C0-C2EAC0AED33F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674D0C33-3B9E-669C-4052-5B3D0392FB7C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C73B96F-0644-BF52-6982-16FF10EB01E3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7C1C3800-8EE4-C315-8E5E-405D8C75B11F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29376-7A46-8445-706F-525435F0479E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데이터 수집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409706A-DC40-1D96-D1D6-7051E74A0B5D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FF47343-EAB2-C2EF-7CD5-3FBEF8AFCD57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3FC7780-D7FA-3F7D-1F02-66C2A0A97510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205F16EF-4828-EC20-C98F-B5A55BF7417C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48DB14-0172-81BA-7CAF-F503C066AF96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D3393F-6EE5-4DBF-21A0-C73A684868EC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846DE-96AB-EF03-A537-C323A33C3B12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F64D84-26A2-78FD-2801-43273966A96C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D7E0DF-9AA8-2E44-34A5-F72487261C1D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D41112-E0AF-1BEF-5BE6-4EDF49CAE05A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748654-2360-62ED-5640-CCB55B444454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25A746-6B42-A79C-BCDC-F1A3C4E0001E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03336E2-364C-704F-10B1-DEB2F9CA7A10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66BB3B72-1E27-2C63-F1F6-D0FFE403394F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912FE4-37E2-0AAE-A9FC-B52A13A5ED14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9">
            <a:extLst>
              <a:ext uri="{FF2B5EF4-FFF2-40B4-BE49-F238E27FC236}">
                <a16:creationId xmlns:a16="http://schemas.microsoft.com/office/drawing/2014/main" id="{08CB5FF1-71EF-16FC-E078-0333A4552CF3}"/>
              </a:ext>
            </a:extLst>
          </p:cNvPr>
          <p:cNvSpPr txBox="1"/>
          <p:nvPr/>
        </p:nvSpPr>
        <p:spPr>
          <a:xfrm>
            <a:off x="2162726" y="2303066"/>
            <a:ext cx="7093972" cy="7241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969"/>
              </a:lnSpc>
            </a:pPr>
            <a:r>
              <a:rPr lang="ko-KR" altLang="en-US" sz="3200" b="1" spc="-99" dirty="0">
                <a:latin typeface="Calibri (MS)"/>
                <a:ea typeface="Calibri (MS)"/>
                <a:cs typeface="Calibri (MS)"/>
                <a:sym typeface="Calibri (MS)"/>
              </a:rPr>
              <a:t>외부 뉴스 </a:t>
            </a:r>
            <a:r>
              <a:rPr lang="ko-KR" altLang="en-US" sz="3200" b="1" spc="-99" dirty="0" err="1">
                <a:latin typeface="Calibri (MS)"/>
                <a:ea typeface="Calibri (MS)"/>
                <a:cs typeface="Calibri (MS)"/>
                <a:sym typeface="Calibri (MS)"/>
              </a:rPr>
              <a:t>크롤링</a:t>
            </a:r>
            <a:r>
              <a:rPr lang="ko-KR" altLang="en-US" sz="3200" b="1" spc="-99" dirty="0"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ko-KR" altLang="en-US" sz="3200" b="1" spc="-99" dirty="0" err="1"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r>
              <a:rPr lang="ko-KR" altLang="en-US" sz="3200" b="1" spc="-99" dirty="0">
                <a:latin typeface="Calibri (MS)"/>
                <a:ea typeface="Calibri (MS)"/>
                <a:cs typeface="Calibri (MS)"/>
                <a:sym typeface="Calibri (MS)"/>
              </a:rPr>
              <a:t> 저장 단계</a:t>
            </a:r>
            <a:endParaRPr lang="en-US" sz="3200" b="1" spc="-99" dirty="0">
              <a:latin typeface="Calibri (MS)"/>
              <a:ea typeface="Calibri (MS)"/>
              <a:cs typeface="Calibri (MS)"/>
              <a:sym typeface="Calibri (MS)"/>
            </a:endParaRPr>
          </a:p>
        </p:txBody>
      </p:sp>
      <p:pic>
        <p:nvPicPr>
          <p:cNvPr id="3" name="Picture 2" descr="RSS - 위키백과, 우리 모두의 백과사전">
            <a:extLst>
              <a:ext uri="{FF2B5EF4-FFF2-40B4-BE49-F238E27FC236}">
                <a16:creationId xmlns:a16="http://schemas.microsoft.com/office/drawing/2014/main" id="{BB9F20D8-B13B-2321-DEB9-FB3BF5DAE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094" y="3587022"/>
            <a:ext cx="1481597" cy="157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95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85FC3168-5BF5-FCCF-91BA-92173AF8F680}"/>
              </a:ext>
            </a:extLst>
          </p:cNvPr>
          <p:cNvSpPr/>
          <p:nvPr/>
        </p:nvSpPr>
        <p:spPr>
          <a:xfrm>
            <a:off x="14259407" y="6604700"/>
            <a:ext cx="2249234" cy="2226629"/>
          </a:xfrm>
          <a:custGeom>
            <a:avLst/>
            <a:gdLst/>
            <a:ahLst/>
            <a:cxnLst/>
            <a:rect l="l" t="t" r="r" b="b"/>
            <a:pathLst>
              <a:path w="1409703" h="1409703">
                <a:moveTo>
                  <a:pt x="0" y="0"/>
                </a:moveTo>
                <a:lnTo>
                  <a:pt x="1409703" y="0"/>
                </a:lnTo>
                <a:lnTo>
                  <a:pt x="1409703" y="1409703"/>
                </a:lnTo>
                <a:lnTo>
                  <a:pt x="0" y="1409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28" name="Picture 8" descr="문서 - 무료 상호 작용개 아이콘">
            <a:extLst>
              <a:ext uri="{FF2B5EF4-FFF2-40B4-BE49-F238E27FC236}">
                <a16:creationId xmlns:a16="http://schemas.microsoft.com/office/drawing/2014/main" id="{7B1A68B9-C99E-CAAF-0F1B-65B405B99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843" y="3505002"/>
            <a:ext cx="1662095" cy="176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E6F05A9-744B-8F1B-2F7C-843DE206D610}"/>
              </a:ext>
            </a:extLst>
          </p:cNvPr>
          <p:cNvSpPr txBox="1"/>
          <p:nvPr/>
        </p:nvSpPr>
        <p:spPr>
          <a:xfrm>
            <a:off x="14367919" y="8736450"/>
            <a:ext cx="2140722" cy="92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벡터 스토어</a:t>
            </a:r>
            <a:endParaRPr lang="en-US" altLang="ko-KR" sz="2400" dirty="0"/>
          </a:p>
          <a:p>
            <a:pPr algn="ctr"/>
            <a:r>
              <a:rPr lang="en-US" altLang="ko-KR" sz="2400" dirty="0"/>
              <a:t>(FAISS)</a:t>
            </a:r>
            <a:r>
              <a:rPr lang="ko-KR" altLang="en-US" sz="2400" dirty="0"/>
              <a:t> </a:t>
            </a:r>
          </a:p>
        </p:txBody>
      </p:sp>
      <p:sp>
        <p:nvSpPr>
          <p:cNvPr id="31" name="Freeform 95" descr="블랙, 어둠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B3BCDCC4-8B23-91B4-1CC0-075A2398895C}"/>
              </a:ext>
            </a:extLst>
          </p:cNvPr>
          <p:cNvSpPr/>
          <p:nvPr/>
        </p:nvSpPr>
        <p:spPr>
          <a:xfrm>
            <a:off x="4676295" y="6885196"/>
            <a:ext cx="2249234" cy="2226629"/>
          </a:xfrm>
          <a:custGeom>
            <a:avLst/>
            <a:gdLst/>
            <a:ahLst/>
            <a:cxnLst/>
            <a:rect l="l" t="t" r="r" b="b"/>
            <a:pathLst>
              <a:path w="1409703" h="1409703">
                <a:moveTo>
                  <a:pt x="0" y="0"/>
                </a:moveTo>
                <a:lnTo>
                  <a:pt x="1409703" y="0"/>
                </a:lnTo>
                <a:lnTo>
                  <a:pt x="1409703" y="1409703"/>
                </a:lnTo>
                <a:lnTo>
                  <a:pt x="0" y="1409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22123-F70C-D6B0-9641-C3756B789C30}"/>
              </a:ext>
            </a:extLst>
          </p:cNvPr>
          <p:cNvSpPr txBox="1"/>
          <p:nvPr/>
        </p:nvSpPr>
        <p:spPr>
          <a:xfrm>
            <a:off x="5249569" y="9021950"/>
            <a:ext cx="1700486" cy="51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뉴스 </a:t>
            </a:r>
            <a:r>
              <a:rPr lang="en-US" altLang="ko-KR" sz="2400" dirty="0"/>
              <a:t>DB</a:t>
            </a:r>
            <a:endParaRPr lang="ko-KR" altLang="en-US" sz="2400" dirty="0"/>
          </a:p>
        </p:txBody>
      </p:sp>
      <p:sp>
        <p:nvSpPr>
          <p:cNvPr id="33" name="Freeform 68" descr="스크린샷, 그래픽, 원, 도표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CE57EBB9-E65D-E23B-8331-EFAD95E7F47B}"/>
              </a:ext>
            </a:extLst>
          </p:cNvPr>
          <p:cNvSpPr/>
          <p:nvPr/>
        </p:nvSpPr>
        <p:spPr>
          <a:xfrm>
            <a:off x="8804521" y="6820450"/>
            <a:ext cx="2164545" cy="2303867"/>
          </a:xfrm>
          <a:custGeom>
            <a:avLst/>
            <a:gdLst/>
            <a:ahLst/>
            <a:cxnLst/>
            <a:rect l="l" t="t" r="r" b="b"/>
            <a:pathLst>
              <a:path w="2061216" h="2061216">
                <a:moveTo>
                  <a:pt x="0" y="0"/>
                </a:moveTo>
                <a:lnTo>
                  <a:pt x="2061216" y="0"/>
                </a:lnTo>
                <a:lnTo>
                  <a:pt x="2061216" y="2061216"/>
                </a:lnTo>
                <a:lnTo>
                  <a:pt x="0" y="206121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56624B-DF77-AE11-7D2D-63F4C1C0AD15}"/>
              </a:ext>
            </a:extLst>
          </p:cNvPr>
          <p:cNvSpPr txBox="1"/>
          <p:nvPr/>
        </p:nvSpPr>
        <p:spPr>
          <a:xfrm>
            <a:off x="7889551" y="9046058"/>
            <a:ext cx="4149088" cy="92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Text-embedding-3-small </a:t>
            </a:r>
            <a:r>
              <a:rPr lang="ko-KR" altLang="en-US" sz="2400" dirty="0" err="1"/>
              <a:t>임베딩</a:t>
            </a:r>
            <a:r>
              <a:rPr lang="ko-KR" altLang="en-US" sz="2400" dirty="0"/>
              <a:t> 모델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89ED4-0042-F883-6882-B7FEF22BACB2}"/>
              </a:ext>
            </a:extLst>
          </p:cNvPr>
          <p:cNvSpPr txBox="1"/>
          <p:nvPr/>
        </p:nvSpPr>
        <p:spPr>
          <a:xfrm>
            <a:off x="7000304" y="5211935"/>
            <a:ext cx="1481597" cy="51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RSS</a:t>
            </a:r>
            <a:endParaRPr lang="ko-KR" altLang="en-US" sz="2400" dirty="0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3E8C2D4-62ED-0AEB-5674-005D254E1314}"/>
              </a:ext>
            </a:extLst>
          </p:cNvPr>
          <p:cNvCxnSpPr>
            <a:cxnSpLocks/>
          </p:cNvCxnSpPr>
          <p:nvPr/>
        </p:nvCxnSpPr>
        <p:spPr>
          <a:xfrm>
            <a:off x="8675904" y="4453429"/>
            <a:ext cx="2037729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A8231EB-3B13-C5A8-03A8-0730CEC95657}"/>
              </a:ext>
            </a:extLst>
          </p:cNvPr>
          <p:cNvCxnSpPr>
            <a:cxnSpLocks/>
          </p:cNvCxnSpPr>
          <p:nvPr/>
        </p:nvCxnSpPr>
        <p:spPr>
          <a:xfrm>
            <a:off x="2457018" y="8279105"/>
            <a:ext cx="2037729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26BB135-0837-0C42-54A0-FFD66C20A079}"/>
              </a:ext>
            </a:extLst>
          </p:cNvPr>
          <p:cNvCxnSpPr>
            <a:cxnSpLocks/>
          </p:cNvCxnSpPr>
          <p:nvPr/>
        </p:nvCxnSpPr>
        <p:spPr>
          <a:xfrm>
            <a:off x="6766792" y="8139224"/>
            <a:ext cx="2037729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BFCEBB8-407D-FC9C-5795-3A39FC19435B}"/>
              </a:ext>
            </a:extLst>
          </p:cNvPr>
          <p:cNvCxnSpPr>
            <a:cxnSpLocks/>
          </p:cNvCxnSpPr>
          <p:nvPr/>
        </p:nvCxnSpPr>
        <p:spPr>
          <a:xfrm>
            <a:off x="11671547" y="7929543"/>
            <a:ext cx="2337235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72DE070-38EA-AF0A-5096-F3BD2E8C4630}"/>
              </a:ext>
            </a:extLst>
          </p:cNvPr>
          <p:cNvSpPr txBox="1"/>
          <p:nvPr/>
        </p:nvSpPr>
        <p:spPr>
          <a:xfrm>
            <a:off x="4145853" y="3413364"/>
            <a:ext cx="2302981" cy="1135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RSS</a:t>
            </a:r>
            <a:r>
              <a:rPr lang="ko-KR" altLang="en-US" sz="2000" dirty="0"/>
              <a:t>를 활용하여 </a:t>
            </a:r>
            <a:br>
              <a:rPr lang="en-US" altLang="ko-KR" sz="2000" dirty="0"/>
            </a:br>
            <a:r>
              <a:rPr lang="ko-KR" altLang="en-US" sz="2000" dirty="0"/>
              <a:t>최신 뉴스기사를 불러옴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DA65BE-DA09-3997-6ECC-C7882B53D9DB}"/>
              </a:ext>
            </a:extLst>
          </p:cNvPr>
          <p:cNvSpPr txBox="1"/>
          <p:nvPr/>
        </p:nvSpPr>
        <p:spPr>
          <a:xfrm>
            <a:off x="2266362" y="7458198"/>
            <a:ext cx="2228385" cy="1135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기사의 제목</a:t>
            </a:r>
            <a:r>
              <a:rPr lang="en-US" altLang="ko-KR" sz="2000" dirty="0"/>
              <a:t>, </a:t>
            </a:r>
            <a:r>
              <a:rPr lang="ko-KR" altLang="en-US" sz="2000" dirty="0"/>
              <a:t>내용</a:t>
            </a:r>
            <a:r>
              <a:rPr lang="en-US" altLang="ko-KR" sz="2000" dirty="0"/>
              <a:t>, </a:t>
            </a:r>
            <a:r>
              <a:rPr lang="ko-KR" altLang="en-US" sz="2000" dirty="0"/>
              <a:t>링크를 </a:t>
            </a:r>
            <a:r>
              <a:rPr lang="en-US" altLang="ko-KR" sz="2000" dirty="0"/>
              <a:t>DB</a:t>
            </a:r>
            <a:r>
              <a:rPr lang="ko-KR" altLang="en-US" sz="2000" dirty="0"/>
              <a:t>에 저장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D63C68-2A8D-43AD-78D7-71C75A9DD0C0}"/>
              </a:ext>
            </a:extLst>
          </p:cNvPr>
          <p:cNvSpPr txBox="1"/>
          <p:nvPr/>
        </p:nvSpPr>
        <p:spPr>
          <a:xfrm>
            <a:off x="11358720" y="6842813"/>
            <a:ext cx="2827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DB</a:t>
            </a:r>
            <a:r>
              <a:rPr lang="ko-KR" altLang="en-US" sz="2000" dirty="0"/>
              <a:t>에 저장된 기사를 </a:t>
            </a:r>
            <a:r>
              <a:rPr lang="ko-KR" altLang="en-US" sz="2000" dirty="0" err="1"/>
              <a:t>임베딩하여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algn="ctr"/>
            <a:r>
              <a:rPr lang="ko-KR" altLang="en-US" sz="2000" dirty="0"/>
              <a:t>벡터 스토어에 저장</a:t>
            </a:r>
          </a:p>
        </p:txBody>
      </p:sp>
      <p:pic>
        <p:nvPicPr>
          <p:cNvPr id="43" name="Picture 2" descr="DeepL - 위키백과, 우리 모두의 백과사전">
            <a:extLst>
              <a:ext uri="{FF2B5EF4-FFF2-40B4-BE49-F238E27FC236}">
                <a16:creationId xmlns:a16="http://schemas.microsoft.com/office/drawing/2014/main" id="{72C47D0D-805F-24E6-277A-B8C1CE0F0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0078" y="4139497"/>
            <a:ext cx="1880468" cy="71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50E1079-05FB-F0F7-D168-12C7CD2356AA}"/>
              </a:ext>
            </a:extLst>
          </p:cNvPr>
          <p:cNvCxnSpPr>
            <a:cxnSpLocks/>
          </p:cNvCxnSpPr>
          <p:nvPr/>
        </p:nvCxnSpPr>
        <p:spPr>
          <a:xfrm>
            <a:off x="12798655" y="4496149"/>
            <a:ext cx="2037729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15523A6-1DD4-EEA1-3306-A6BE22D58EF1}"/>
              </a:ext>
            </a:extLst>
          </p:cNvPr>
          <p:cNvSpPr txBox="1"/>
          <p:nvPr/>
        </p:nvSpPr>
        <p:spPr>
          <a:xfrm>
            <a:off x="12391980" y="3955784"/>
            <a:ext cx="2880717" cy="41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기사 데이터를 번역</a:t>
            </a:r>
          </a:p>
        </p:txBody>
      </p:sp>
      <p:sp>
        <p:nvSpPr>
          <p:cNvPr id="47" name="Freeform 48">
            <a:extLst>
              <a:ext uri="{FF2B5EF4-FFF2-40B4-BE49-F238E27FC236}">
                <a16:creationId xmlns:a16="http://schemas.microsoft.com/office/drawing/2014/main" id="{0E8E0D9D-762F-7F83-C15A-6E9B037C2432}"/>
              </a:ext>
            </a:extLst>
          </p:cNvPr>
          <p:cNvSpPr>
            <a:spLocks noChangeAspect="1"/>
          </p:cNvSpPr>
          <p:nvPr/>
        </p:nvSpPr>
        <p:spPr>
          <a:xfrm>
            <a:off x="1878240" y="3233521"/>
            <a:ext cx="2196085" cy="911956"/>
          </a:xfrm>
          <a:custGeom>
            <a:avLst/>
            <a:gdLst/>
            <a:ahLst/>
            <a:cxnLst/>
            <a:rect l="l" t="t" r="r" b="b"/>
            <a:pathLst>
              <a:path w="2556000" h="998640">
                <a:moveTo>
                  <a:pt x="0" y="0"/>
                </a:moveTo>
                <a:lnTo>
                  <a:pt x="2556000" y="0"/>
                </a:lnTo>
                <a:lnTo>
                  <a:pt x="2556000" y="998640"/>
                </a:lnTo>
                <a:lnTo>
                  <a:pt x="0" y="99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7" b="-7"/>
            </a:stretch>
          </a:blip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48" name="Picture 2" descr="매일경제 마켓">
            <a:extLst>
              <a:ext uri="{FF2B5EF4-FFF2-40B4-BE49-F238E27FC236}">
                <a16:creationId xmlns:a16="http://schemas.microsoft.com/office/drawing/2014/main" id="{8D007B9A-5E48-5C84-5D7B-DBCBBAB319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4" t="18753" r="13236" b="54049"/>
          <a:stretch/>
        </p:blipFill>
        <p:spPr bwMode="auto">
          <a:xfrm>
            <a:off x="2130393" y="4296432"/>
            <a:ext cx="1645861" cy="63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매일경제 마켓">
            <a:extLst>
              <a:ext uri="{FF2B5EF4-FFF2-40B4-BE49-F238E27FC236}">
                <a16:creationId xmlns:a16="http://schemas.microsoft.com/office/drawing/2014/main" id="{A8E231F8-2758-964A-90E8-E8597A614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4" t="54153" r="13236" b="16397"/>
          <a:stretch/>
        </p:blipFill>
        <p:spPr bwMode="auto">
          <a:xfrm>
            <a:off x="2130392" y="5013795"/>
            <a:ext cx="1520007" cy="63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11475A4-645C-064B-15FF-ABF629954389}"/>
              </a:ext>
            </a:extLst>
          </p:cNvPr>
          <p:cNvCxnSpPr>
            <a:cxnSpLocks/>
          </p:cNvCxnSpPr>
          <p:nvPr/>
        </p:nvCxnSpPr>
        <p:spPr>
          <a:xfrm>
            <a:off x="4298845" y="4496149"/>
            <a:ext cx="2037729" cy="0"/>
          </a:xfrm>
          <a:prstGeom prst="straightConnector1">
            <a:avLst/>
          </a:prstGeom>
          <a:ln w="76200">
            <a:solidFill>
              <a:srgbClr val="92D050"/>
            </a:solidFill>
            <a:round/>
            <a:tailEnd type="triangle" w="med" len="med"/>
          </a:ln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F002BC9-6E0C-D69A-1A1A-A7E3C17141AF}"/>
              </a:ext>
            </a:extLst>
          </p:cNvPr>
          <p:cNvSpPr txBox="1"/>
          <p:nvPr/>
        </p:nvSpPr>
        <p:spPr>
          <a:xfrm>
            <a:off x="8804521" y="3667420"/>
            <a:ext cx="1662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뉴스 기사 텍스트화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71750A-8D4D-8D00-8A1B-0043C1575105}"/>
              </a:ext>
            </a:extLst>
          </p:cNvPr>
          <p:cNvSpPr txBox="1"/>
          <p:nvPr/>
        </p:nvSpPr>
        <p:spPr>
          <a:xfrm>
            <a:off x="11020841" y="5354801"/>
            <a:ext cx="1662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2178162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83E9-336B-42AB-06D6-BC402833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8BD5E27-5815-EF24-1F35-F5732D7EB877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F7BCFA4-5ED7-2132-F1E2-E01E5FF50AE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357BB36-67FD-7F38-5784-1E41E01A35BB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C93764FD-ADCD-7C14-F3FE-A5EA51228554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87A606F1-D655-37E3-B922-8BFE92C0255D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AB8DE4A5-D138-B4A4-86A2-CBFDBBDFF6B0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9F9C1623-3AB0-87E0-69CD-E12CE2F41DAE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38CAA683-E1A9-C77C-B91D-0D8F034B64A8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9DC91DDE-CCB5-96C4-D8E9-E35ECA82A283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329317B7-C3E4-DFF5-8F84-4BDE4808671C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32401176-CF0F-CD60-7D71-25D48ABF347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E96065-B455-2AA0-2B2F-A5C0913ACB68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사용자의 질문 번역 및 </a:t>
            </a:r>
            <a:r>
              <a:rPr lang="ko-KR" altLang="en-US" sz="3600" spc="-99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ED05B7-39A3-9693-83DF-4442A7D4BC6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65F8AC5-2161-1F0C-702E-A5521EFC3337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9EC06CB8-2E90-D8BF-3F97-189969664F28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678EE4AA-9102-1107-9883-C91B4B4DDB7B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A7FF0-B155-FC81-8A5A-A81579579BEA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73C354-4026-AB1A-2C25-4FE4F6FED01E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E85EF3-9B7C-2142-8D1F-CD38233CBDA6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FE15CD-3195-99A1-497D-0ECEEFBEFDE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710E25-F33C-2983-5467-ACEAE3AD89C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9925D-20EB-42F2-0324-00DA8746541E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A98FFDD-E39D-AC76-ECCD-89676983317B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918DDF-12B9-12C9-5DDC-ADE4DA1F1C5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D23A643-A66D-DB19-657D-BB580D43180E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3664035-6BBC-4665-17BE-4C08A3DB1B15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8775DB-70B0-53AB-E093-ECE0F7A3B684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6A73F3E-CB66-4019-CEC2-07AFB60DDF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301011"/>
            <a:ext cx="13411200" cy="77209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4338693-A2EE-225B-CD89-40DF3F56DF44}"/>
              </a:ext>
            </a:extLst>
          </p:cNvPr>
          <p:cNvSpPr/>
          <p:nvPr/>
        </p:nvSpPr>
        <p:spPr>
          <a:xfrm>
            <a:off x="2085108" y="4282452"/>
            <a:ext cx="9608820" cy="35179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8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C6F0-57A0-F425-7A87-BB7C52A81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0D6D2B82-47FD-C9DB-97C2-C0E93B53A8A1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9FCFB7EE-D8EB-8414-C423-4BDB8C7B83C2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578490C-986E-E05E-1C86-90A19B803336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53C12D26-0C35-6D78-E311-C06116C2894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87A03B21-8417-07C8-A0C1-36937C5E6E9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6305AC70-6D81-6F1E-3825-C65F85F73B84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C34652C4-C832-30B1-075F-58471E89BF60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570F87F-39E5-2859-3440-C8C93A76D2AF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2E401B18-6021-8D8D-3350-B12F08745B8F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17D17A7-D4A8-8DC6-19D7-8E57C9A80654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BEC34D6B-A157-1BCD-90B8-68A66A33820E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B39306-27F9-104C-7325-E6422F4FC871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사용자의 질문 번역 및 </a:t>
            </a:r>
            <a:r>
              <a:rPr lang="ko-KR" altLang="en-US" sz="3600" spc="-99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임베딩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EF598D-10C8-3D67-2AE0-66436B403578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C9B6355-85A5-6C03-A2AA-94D1D7919870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D22B2692-6093-3099-979D-8DBFEDA3B284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A3E85FB2-C294-198C-ACDB-56EE7D0D2B5B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EECEF3-2108-4E7F-763C-3CB8A55CF03E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AEC329-E9C3-5A02-EBDA-6AC3E5AB0E78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CFC7F1-80EA-543C-392B-D90FFA072BEB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338732-BB00-E120-FE89-84A13E45944D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093DE-18FF-96CE-C1AC-53DACC9348CE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6A0AE0-8C6F-5F90-2C6B-1E5119505397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307922-E8C7-AE6F-14AC-CBB136F9B627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F770C3-E332-C2E4-9004-5B3298DB1299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37222FA-578C-CF6B-2AAB-D1C95E408A2E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15C7A878-C8FF-489C-D70B-350BBA5BAE3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063BF-9358-B55A-18AC-FDD1717BA97B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441A526-0115-A538-68F0-21B67ECD1904}"/>
              </a:ext>
            </a:extLst>
          </p:cNvPr>
          <p:cNvGrpSpPr/>
          <p:nvPr/>
        </p:nvGrpSpPr>
        <p:grpSpPr>
          <a:xfrm>
            <a:off x="2590800" y="2546047"/>
            <a:ext cx="13964008" cy="6956268"/>
            <a:chOff x="3465932" y="3423869"/>
            <a:chExt cx="10720413" cy="5143428"/>
          </a:xfrm>
        </p:grpSpPr>
        <p:pic>
          <p:nvPicPr>
            <p:cNvPr id="2" name="Picture 4" descr="사용자가 채워진 사람 모양 - 무료 사람들개 아이콘">
              <a:extLst>
                <a:ext uri="{FF2B5EF4-FFF2-40B4-BE49-F238E27FC236}">
                  <a16:creationId xmlns:a16="http://schemas.microsoft.com/office/drawing/2014/main" id="{EE10E2C3-D0BA-BD92-DF56-155A1B8182DD}"/>
                </a:ext>
              </a:extLst>
            </p:cNvPr>
            <p:cNvPicPr/>
            <p:nvPr/>
          </p:nvPicPr>
          <p:blipFill>
            <a:blip r:embed="rId11"/>
            <a:stretch/>
          </p:blipFill>
          <p:spPr>
            <a:xfrm>
              <a:off x="3465932" y="3423869"/>
              <a:ext cx="1692360" cy="169236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95EE2B52-5998-D091-C098-582E61293471}"/>
                </a:ext>
              </a:extLst>
            </p:cNvPr>
            <p:cNvCxnSpPr>
              <a:cxnSpLocks/>
            </p:cNvCxnSpPr>
            <p:nvPr/>
          </p:nvCxnSpPr>
          <p:spPr>
            <a:xfrm>
              <a:off x="5264640" y="4414974"/>
              <a:ext cx="1940454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sp>
          <p:nvSpPr>
            <p:cNvPr id="4" name="TextBox 53">
              <a:extLst>
                <a:ext uri="{FF2B5EF4-FFF2-40B4-BE49-F238E27FC236}">
                  <a16:creationId xmlns:a16="http://schemas.microsoft.com/office/drawing/2014/main" id="{308224F8-396A-F138-4AD3-59F828A813A6}"/>
                </a:ext>
              </a:extLst>
            </p:cNvPr>
            <p:cNvSpPr/>
            <p:nvPr/>
          </p:nvSpPr>
          <p:spPr>
            <a:xfrm>
              <a:off x="5962323" y="4027748"/>
              <a:ext cx="638280" cy="29476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>
                <a:lnSpc>
                  <a:spcPct val="100000"/>
                </a:lnSpc>
              </a:pPr>
              <a:r>
                <a:rPr lang="ko-KR" sz="2000" b="0" strike="noStrike" spc="-1" dirty="0">
                  <a:solidFill>
                    <a:schemeClr val="dk1"/>
                  </a:solidFill>
                  <a:latin typeface="Calibri"/>
                </a:rPr>
                <a:t>질문</a:t>
              </a:r>
              <a:endParaRPr lang="en-US" sz="2000" b="0" strike="noStrike" spc="-1" dirty="0">
                <a:solidFill>
                  <a:srgbClr val="000000"/>
                </a:solidFill>
                <a:latin typeface="맑은 고딕"/>
              </a:endParaRPr>
            </a:p>
          </p:txBody>
        </p:sp>
        <p:pic>
          <p:nvPicPr>
            <p:cNvPr id="28" name="Picture 2" descr="DeepL - 위키백과, 우리 모두의 백과사전">
              <a:extLst>
                <a:ext uri="{FF2B5EF4-FFF2-40B4-BE49-F238E27FC236}">
                  <a16:creationId xmlns:a16="http://schemas.microsoft.com/office/drawing/2014/main" id="{7406865A-A5D6-D448-F2B9-0EDF4BC26A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1732" y="4120833"/>
              <a:ext cx="1790700" cy="638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9E52BFF1-2D23-E093-1CAF-1A17D0E507E2}"/>
                </a:ext>
              </a:extLst>
            </p:cNvPr>
            <p:cNvCxnSpPr>
              <a:cxnSpLocks/>
            </p:cNvCxnSpPr>
            <p:nvPr/>
          </p:nvCxnSpPr>
          <p:spPr>
            <a:xfrm>
              <a:off x="9669070" y="4377917"/>
              <a:ext cx="1940454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6EAACE5-A6E4-A107-C6C7-F085FC332EEC}"/>
                </a:ext>
              </a:extLst>
            </p:cNvPr>
            <p:cNvSpPr txBox="1"/>
            <p:nvPr/>
          </p:nvSpPr>
          <p:spPr>
            <a:xfrm>
              <a:off x="9556218" y="4002897"/>
              <a:ext cx="2743200" cy="295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/>
                <a:t>사용자의 질문을 번역</a:t>
              </a:r>
            </a:p>
          </p:txBody>
        </p:sp>
        <p:sp>
          <p:nvSpPr>
            <p:cNvPr id="31" name="Freeform 68" descr="스크린샷, 그래픽, 원, 도표이(가) 표시된 사진  AI가 생성한 콘텐츠는 부정확할 수 있습니다.">
              <a:extLst>
                <a:ext uri="{FF2B5EF4-FFF2-40B4-BE49-F238E27FC236}">
                  <a16:creationId xmlns:a16="http://schemas.microsoft.com/office/drawing/2014/main" id="{C5FE50A1-5E86-DEFF-BD6F-3564CC1E9056}"/>
                </a:ext>
              </a:extLst>
            </p:cNvPr>
            <p:cNvSpPr/>
            <p:nvPr/>
          </p:nvSpPr>
          <p:spPr>
            <a:xfrm>
              <a:off x="6413501" y="6013289"/>
              <a:ext cx="2061216" cy="2061216"/>
            </a:xfrm>
            <a:custGeom>
              <a:avLst/>
              <a:gdLst/>
              <a:ahLst/>
              <a:cxnLst/>
              <a:rect l="l" t="t" r="r" b="b"/>
              <a:pathLst>
                <a:path w="2061216" h="2061216">
                  <a:moveTo>
                    <a:pt x="0" y="0"/>
                  </a:moveTo>
                  <a:lnTo>
                    <a:pt x="2061216" y="0"/>
                  </a:lnTo>
                  <a:lnTo>
                    <a:pt x="2061216" y="2061216"/>
                  </a:lnTo>
                  <a:lnTo>
                    <a:pt x="0" y="2061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F54FB9B-A86B-65DF-D6BB-DB2D60A50921}"/>
                </a:ext>
              </a:extLst>
            </p:cNvPr>
            <p:cNvSpPr txBox="1"/>
            <p:nvPr/>
          </p:nvSpPr>
          <p:spPr>
            <a:xfrm>
              <a:off x="5131822" y="7922495"/>
              <a:ext cx="4592247" cy="391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Text-embedding-3-small </a:t>
              </a:r>
              <a:r>
                <a:rPr lang="ko-KR" altLang="en-US" sz="2400" dirty="0" err="1"/>
                <a:t>임베딩</a:t>
              </a:r>
              <a:r>
                <a:rPr lang="ko-KR" altLang="en-US" sz="2400" dirty="0"/>
                <a:t> 모델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4AB7CA-0A23-243F-EFD1-E5C3D8516171}"/>
                </a:ext>
              </a:extLst>
            </p:cNvPr>
            <p:cNvSpPr txBox="1"/>
            <p:nvPr/>
          </p:nvSpPr>
          <p:spPr>
            <a:xfrm>
              <a:off x="9110854" y="6663669"/>
              <a:ext cx="3085107" cy="295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/>
                <a:t>영어 질문을 </a:t>
              </a:r>
              <a:r>
                <a:rPr lang="ko-KR" altLang="en-US" sz="2000" dirty="0" err="1"/>
                <a:t>임베딩</a:t>
              </a:r>
              <a:r>
                <a:rPr lang="ko-KR" altLang="en-US" sz="2000" dirty="0"/>
                <a:t> 한다</a:t>
              </a:r>
              <a:r>
                <a:rPr lang="en-US" altLang="ko-KR" sz="2000" dirty="0"/>
                <a:t>.</a:t>
              </a:r>
              <a:endParaRPr lang="ko-KR" altLang="en-US" sz="2000" dirty="0"/>
            </a:p>
          </p:txBody>
        </p:sp>
        <p:pic>
          <p:nvPicPr>
            <p:cNvPr id="34" name="Picture 8" descr="문서 - 무료 상호 작용개 아이콘">
              <a:extLst>
                <a:ext uri="{FF2B5EF4-FFF2-40B4-BE49-F238E27FC236}">
                  <a16:creationId xmlns:a16="http://schemas.microsoft.com/office/drawing/2014/main" id="{972C4787-DA3C-B907-3ECE-7E6661FAC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13614" y="3706750"/>
              <a:ext cx="1342334" cy="1342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BB311DB-6B79-D930-6F84-89B3906F17C6}"/>
                </a:ext>
              </a:extLst>
            </p:cNvPr>
            <p:cNvSpPr txBox="1"/>
            <p:nvPr/>
          </p:nvSpPr>
          <p:spPr>
            <a:xfrm>
              <a:off x="11698889" y="5253440"/>
              <a:ext cx="2190486" cy="705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/>
                <a:t>사용자의 영어질문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68E61BA9-CCA3-3C27-FBEB-645CFD2BBF60}"/>
                </a:ext>
              </a:extLst>
            </p:cNvPr>
            <p:cNvCxnSpPr>
              <a:cxnSpLocks/>
            </p:cNvCxnSpPr>
            <p:nvPr/>
          </p:nvCxnSpPr>
          <p:spPr>
            <a:xfrm>
              <a:off x="4473047" y="7124756"/>
              <a:ext cx="1940454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B6DDFC62-69BE-FFD8-B422-28A7AF709EA7}"/>
                </a:ext>
              </a:extLst>
            </p:cNvPr>
            <p:cNvCxnSpPr>
              <a:cxnSpLocks/>
            </p:cNvCxnSpPr>
            <p:nvPr/>
          </p:nvCxnSpPr>
          <p:spPr>
            <a:xfrm>
              <a:off x="9333290" y="7018076"/>
              <a:ext cx="1940454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38" name="Picture 8" descr="문서 - 무료 상호 작용개 아이콘">
              <a:extLst>
                <a:ext uri="{FF2B5EF4-FFF2-40B4-BE49-F238E27FC236}">
                  <a16:creationId xmlns:a16="http://schemas.microsoft.com/office/drawing/2014/main" id="{A428228E-6F78-E21F-3AD5-7741D6528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32317" y="6380991"/>
              <a:ext cx="1323632" cy="132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4E0EE8C-B00E-D238-623E-265A818CBC31}"/>
                </a:ext>
              </a:extLst>
            </p:cNvPr>
            <p:cNvSpPr txBox="1"/>
            <p:nvPr/>
          </p:nvSpPr>
          <p:spPr>
            <a:xfrm>
              <a:off x="11485937" y="7861958"/>
              <a:ext cx="2700408" cy="705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/>
                <a:t>사용자</a:t>
              </a:r>
              <a:r>
                <a:rPr lang="en-US" altLang="ko-KR" sz="2400" dirty="0"/>
                <a:t> </a:t>
              </a:r>
              <a:r>
                <a:rPr lang="ko-KR" altLang="en-US" sz="2400" dirty="0"/>
                <a:t>질문 벡터 데이터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7286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BA60-1337-DB16-3280-F45D36DD5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507476B-FAC5-6B96-158E-81360FEA334E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15B0BD0D-8658-CD92-188A-97D64BAF13C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4D36637-8D4B-E4BC-7549-D5584B523C72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C61095A3-E57C-8376-BA96-88830B98D60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38FC96C6-4040-1429-3689-5CB62DB6140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07F83E30-3A14-FE60-A554-BA4F26D356CC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F96D80F-EC6B-37E3-E9FB-78EBAE2D8B8F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F2C44A5A-2545-CB8C-C891-36CDB03F9E4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52AA309B-79ED-2112-2E4C-4FF14401957F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49D5DE76-65A8-720F-B614-D79F59641F2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E346BF4C-0964-9F91-243F-B863068EB13A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407380-0A04-E277-BFA2-DF9DB743DBD8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유사도 분석 및 상위 문서 추출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297131C-85A8-636A-54E4-16812FC8F77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DEB4B-9054-17B1-365C-2585E2B79F67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45E70192-9B73-1C7A-7E89-ABE12832791E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FDE445DD-B839-29B2-EAE3-4DD867B8D2F2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A0B595-8A74-6275-09A8-7767207A339A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D5A56F-C835-9B91-E41D-4F42F9135977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492AF8-A888-D4B4-C5AC-609BD1E7C03A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B1A27-5527-07B5-0C70-C3EB7E042D46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43F708-3DBF-932E-5DE4-9147F1C427EB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A06740-F100-E2D7-1F01-6B91AFF2A685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F2F4C2-441E-DD25-D47A-6105982290D6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5A841E-6F99-72C7-F39C-6071B38EF17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5E811F8-D4CF-5705-4DD1-3046E91D1A6F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96246E2-5C73-C4DA-B63D-A01A31DAE76E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D46030-3570-0F9E-6E31-C2878D7E1532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831590E-5BEC-69B8-6F35-E1B3CA13B113}"/>
              </a:ext>
            </a:extLst>
          </p:cNvPr>
          <p:cNvGrpSpPr/>
          <p:nvPr/>
        </p:nvGrpSpPr>
        <p:grpSpPr>
          <a:xfrm>
            <a:off x="2140954" y="2076224"/>
            <a:ext cx="14376669" cy="7944076"/>
            <a:chOff x="2140955" y="2076224"/>
            <a:chExt cx="12236280" cy="701905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371B1CD0-39A2-4E5B-5C61-577A279FE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0955" y="2076224"/>
              <a:ext cx="12192000" cy="7019052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FF6C858-2605-2C0C-590A-5A4322FBE771}"/>
                </a:ext>
              </a:extLst>
            </p:cNvPr>
            <p:cNvSpPr/>
            <p:nvPr/>
          </p:nvSpPr>
          <p:spPr>
            <a:xfrm>
              <a:off x="9271834" y="4167825"/>
              <a:ext cx="5105401" cy="432646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9979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EF5F-C4BA-DCD8-60E2-B9210579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D1AA341A-51D1-88E4-0A15-F90D6D08E15E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60DF0F4C-A13E-E4F1-E8DD-217989FF33F5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256C4E6-D07D-8BE9-91C6-8317023A675E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5A2C3037-F69D-53F0-11CB-7436CFB7705A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8E90A927-F8C8-1AC9-DF0E-79D280EFE423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941F018C-C89D-6470-047F-E49E866B7DCE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9EC2C6B9-4B98-D15E-6A63-C2F7EA8BAF50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72A5629D-7881-880D-710D-84C38C52A2F2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C9E046BB-84EE-D539-9616-CD91C83E8640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99876757-D6BE-DBC5-40A8-300B339196E0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13F0E871-73A9-BE1C-30FD-3871E8B12361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D68083-15AE-6698-5568-FAF02EEA411C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질문과 데이터를 번역하는 이유</a:t>
            </a: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B34755E-2B79-56C9-543C-405C44FF639C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2F9709-5A9D-DE20-8409-AFAF78496051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D311E22-5B08-5565-ADB5-015858D163D4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7295F51A-F1EE-973A-9100-7AA21A6AA7D0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91E655-D2AF-C8F6-D766-96204DB73FF5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FED48F-D81A-46F9-8681-E40553415904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DDC62C-94D8-EA9B-64F4-6B55B93ABBEA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11D8F0-CE2A-E9EF-000F-07B6D91AB56F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F9E53C-E3AD-7EFA-98FE-CCC72567D9E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A2459B-0CA1-2E0E-9CB5-1EA18DCEC9C7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DF2F50-B28A-4F47-BB8F-5759DBBDDE36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3CE13E-8EE1-F742-1E89-4037CA02AA5D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2B60A0D-C640-8877-B038-E8DE678FEB3A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DE64DAC6-C22E-6341-0245-3E772CFE09FE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18DE9C-7596-57AB-EFBF-E32AB960B58D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CC3F6E1-B37F-CC37-15DF-FBE87A614A87}"/>
              </a:ext>
            </a:extLst>
          </p:cNvPr>
          <p:cNvGrpSpPr/>
          <p:nvPr/>
        </p:nvGrpSpPr>
        <p:grpSpPr>
          <a:xfrm>
            <a:off x="1998055" y="2288463"/>
            <a:ext cx="15681094" cy="7524311"/>
            <a:chOff x="2019875" y="2471509"/>
            <a:chExt cx="15277399" cy="6828163"/>
          </a:xfrm>
        </p:grpSpPr>
        <p:pic>
          <p:nvPicPr>
            <p:cNvPr id="2" name="Picture 8" descr="문서 - 무료 상호 작용개 아이콘">
              <a:extLst>
                <a:ext uri="{FF2B5EF4-FFF2-40B4-BE49-F238E27FC236}">
                  <a16:creationId xmlns:a16="http://schemas.microsoft.com/office/drawing/2014/main" id="{917C7922-7DBB-1377-5268-C47E55DB8F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390" y="2471509"/>
              <a:ext cx="1582752" cy="1582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Freeform 95" descr="블랙, 어둠이(가) 표시된 사진  AI가 생성한 콘텐츠는 부정확할 수 있습니다.">
              <a:extLst>
                <a:ext uri="{FF2B5EF4-FFF2-40B4-BE49-F238E27FC236}">
                  <a16:creationId xmlns:a16="http://schemas.microsoft.com/office/drawing/2014/main" id="{6797E907-FFAC-D8B3-C650-8E593A3A0844}"/>
                </a:ext>
              </a:extLst>
            </p:cNvPr>
            <p:cNvSpPr/>
            <p:nvPr/>
          </p:nvSpPr>
          <p:spPr>
            <a:xfrm>
              <a:off x="2019875" y="6593884"/>
              <a:ext cx="2141862" cy="1992113"/>
            </a:xfrm>
            <a:custGeom>
              <a:avLst/>
              <a:gdLst/>
              <a:ahLst/>
              <a:cxnLst/>
              <a:rect l="l" t="t" r="r" b="b"/>
              <a:pathLst>
                <a:path w="1409703" h="1409703">
                  <a:moveTo>
                    <a:pt x="0" y="0"/>
                  </a:moveTo>
                  <a:lnTo>
                    <a:pt x="1409703" y="0"/>
                  </a:lnTo>
                  <a:lnTo>
                    <a:pt x="1409703" y="1409703"/>
                  </a:lnTo>
                  <a:lnTo>
                    <a:pt x="0" y="140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4DF463-6C9D-AB6D-622F-9E816AFCEA99}"/>
                </a:ext>
              </a:extLst>
            </p:cNvPr>
            <p:cNvSpPr txBox="1"/>
            <p:nvPr/>
          </p:nvSpPr>
          <p:spPr>
            <a:xfrm>
              <a:off x="2071541" y="8530231"/>
              <a:ext cx="20385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벡터 스토어</a:t>
              </a:r>
              <a:endParaRPr lang="en-US" altLang="ko-KR" sz="2200" dirty="0"/>
            </a:p>
            <a:p>
              <a:pPr algn="ctr"/>
              <a:r>
                <a:rPr lang="en-US" altLang="ko-KR" sz="2200" dirty="0"/>
                <a:t>(FAISS)</a:t>
              </a:r>
              <a:r>
                <a:rPr lang="ko-KR" altLang="en-US" sz="2200" dirty="0"/>
                <a:t> </a:t>
              </a:r>
            </a:p>
          </p:txBody>
        </p:sp>
        <p:pic>
          <p:nvPicPr>
            <p:cNvPr id="28" name="Picture 6" descr="FAISS | Haystack">
              <a:extLst>
                <a:ext uri="{FF2B5EF4-FFF2-40B4-BE49-F238E27FC236}">
                  <a16:creationId xmlns:a16="http://schemas.microsoft.com/office/drawing/2014/main" id="{73F134CE-F551-4F35-8EE7-087FF1E1C7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3077" y="4926613"/>
              <a:ext cx="1547342" cy="1025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화살표: 왼쪽/오른쪽/위쪽 28">
              <a:extLst>
                <a:ext uri="{FF2B5EF4-FFF2-40B4-BE49-F238E27FC236}">
                  <a16:creationId xmlns:a16="http://schemas.microsoft.com/office/drawing/2014/main" id="{976A16EF-4D42-058B-7983-12E8376F4E50}"/>
                </a:ext>
              </a:extLst>
            </p:cNvPr>
            <p:cNvSpPr/>
            <p:nvPr/>
          </p:nvSpPr>
          <p:spPr>
            <a:xfrm rot="5400000">
              <a:off x="2496170" y="5182270"/>
              <a:ext cx="1712318" cy="996790"/>
            </a:xfrm>
            <a:prstGeom prst="leftRigh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75C23010-1A48-EF34-92C5-DC78A90E7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3112" y="4598198"/>
              <a:ext cx="1574734" cy="157473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CEB206-5DB0-B6F9-F0C7-B0E1B3D35EAE}"/>
                </a:ext>
              </a:extLst>
            </p:cNvPr>
            <p:cNvSpPr txBox="1"/>
            <p:nvPr/>
          </p:nvSpPr>
          <p:spPr>
            <a:xfrm>
              <a:off x="5053197" y="5981432"/>
              <a:ext cx="1574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FAISS</a:t>
              </a:r>
              <a:endParaRPr lang="ko-KR" altLang="en-US" dirty="0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D5417554-C7CA-7C9C-212A-F6AE59E63F9D}"/>
                </a:ext>
              </a:extLst>
            </p:cNvPr>
            <p:cNvCxnSpPr>
              <a:cxnSpLocks/>
            </p:cNvCxnSpPr>
            <p:nvPr/>
          </p:nvCxnSpPr>
          <p:spPr>
            <a:xfrm>
              <a:off x="6365324" y="5562215"/>
              <a:ext cx="1919666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575E179-44D2-0249-E49C-A6F324478320}"/>
                </a:ext>
              </a:extLst>
            </p:cNvPr>
            <p:cNvSpPr txBox="1"/>
            <p:nvPr/>
          </p:nvSpPr>
          <p:spPr>
            <a:xfrm>
              <a:off x="5976099" y="5109585"/>
              <a:ext cx="2613669" cy="363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/>
                <a:t>유사도 분석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F6875D8-24F3-BF7E-2928-394EB1B9E26E}"/>
                </a:ext>
              </a:extLst>
            </p:cNvPr>
            <p:cNvSpPr txBox="1"/>
            <p:nvPr/>
          </p:nvSpPr>
          <p:spPr>
            <a:xfrm>
              <a:off x="8004579" y="6316756"/>
              <a:ext cx="2971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유사도가 높은 상위 </a:t>
              </a:r>
              <a:r>
                <a:rPr lang="en-US" altLang="ko-KR" sz="2200" dirty="0"/>
                <a:t>7</a:t>
              </a:r>
              <a:r>
                <a:rPr lang="ko-KR" altLang="en-US" sz="2200" dirty="0"/>
                <a:t>개 기사 데이터 추출 </a:t>
              </a: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2C13EA0A-E2B7-8777-9788-7DC37DDF9708}"/>
                </a:ext>
              </a:extLst>
            </p:cNvPr>
            <p:cNvCxnSpPr>
              <a:cxnSpLocks/>
            </p:cNvCxnSpPr>
            <p:nvPr/>
          </p:nvCxnSpPr>
          <p:spPr>
            <a:xfrm>
              <a:off x="10504534" y="5463955"/>
              <a:ext cx="1371600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sp>
          <p:nvSpPr>
            <p:cNvPr id="36" name="Freeform 96" descr="프롬프트 - 사용자 인터페이스 및 제스처 아이콘">
              <a:extLst>
                <a:ext uri="{FF2B5EF4-FFF2-40B4-BE49-F238E27FC236}">
                  <a16:creationId xmlns:a16="http://schemas.microsoft.com/office/drawing/2014/main" id="{160E8CF2-4473-D5E4-5559-4E0C2B4D6638}"/>
                </a:ext>
              </a:extLst>
            </p:cNvPr>
            <p:cNvSpPr/>
            <p:nvPr/>
          </p:nvSpPr>
          <p:spPr>
            <a:xfrm>
              <a:off x="12049076" y="4630070"/>
              <a:ext cx="1597155" cy="1597155"/>
            </a:xfrm>
            <a:custGeom>
              <a:avLst/>
              <a:gdLst/>
              <a:ahLst/>
              <a:cxnLst/>
              <a:rect l="l" t="t" r="r" b="b"/>
              <a:pathLst>
                <a:path w="1597155" h="1597155">
                  <a:moveTo>
                    <a:pt x="0" y="0"/>
                  </a:moveTo>
                  <a:lnTo>
                    <a:pt x="1597155" y="0"/>
                  </a:lnTo>
                  <a:lnTo>
                    <a:pt x="1597155" y="1597155"/>
                  </a:lnTo>
                  <a:lnTo>
                    <a:pt x="0" y="159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17DF48B-5FF8-E773-7569-679F8EDE3060}"/>
                </a:ext>
              </a:extLst>
            </p:cNvPr>
            <p:cNvSpPr txBox="1"/>
            <p:nvPr/>
          </p:nvSpPr>
          <p:spPr>
            <a:xfrm>
              <a:off x="11656057" y="6109959"/>
              <a:ext cx="23733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추출된 데이터 중 중복자료 확인 </a:t>
              </a: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DDD0E352-C6D7-89A5-60D7-67AB39FF75E1}"/>
                </a:ext>
              </a:extLst>
            </p:cNvPr>
            <p:cNvCxnSpPr>
              <a:cxnSpLocks/>
            </p:cNvCxnSpPr>
            <p:nvPr/>
          </p:nvCxnSpPr>
          <p:spPr>
            <a:xfrm>
              <a:off x="13819294" y="5463955"/>
              <a:ext cx="1371600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39" name="그림 38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73B818C-F97B-79FD-71E5-8E7739335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07203" y="4519874"/>
              <a:ext cx="1574734" cy="157473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3FB2775-2FF9-EF47-29BA-809FDB1EBF1B}"/>
                </a:ext>
              </a:extLst>
            </p:cNvPr>
            <p:cNvSpPr txBox="1"/>
            <p:nvPr/>
          </p:nvSpPr>
          <p:spPr>
            <a:xfrm>
              <a:off x="14931205" y="6256831"/>
              <a:ext cx="236606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/>
                <a:t>최종 상위 </a:t>
              </a:r>
              <a:r>
                <a:rPr lang="en-US" altLang="ko-KR" sz="2200" dirty="0"/>
                <a:t>5</a:t>
              </a:r>
              <a:r>
                <a:rPr lang="ko-KR" altLang="en-US" sz="2200" dirty="0"/>
                <a:t>개 기사 데이터 추출</a:t>
              </a:r>
              <a:endParaRPr lang="en-US" altLang="ko-KR" sz="22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98C38F1-0B06-1B98-08EB-B76FA65D740C}"/>
              </a:ext>
            </a:extLst>
          </p:cNvPr>
          <p:cNvSpPr txBox="1"/>
          <p:nvPr/>
        </p:nvSpPr>
        <p:spPr>
          <a:xfrm>
            <a:off x="2170139" y="4091231"/>
            <a:ext cx="20923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/>
              <a:t>사용자 질문 벡터 데이터</a:t>
            </a:r>
          </a:p>
        </p:txBody>
      </p:sp>
    </p:spTree>
    <p:extLst>
      <p:ext uri="{BB962C8B-B14F-4D97-AF65-F5344CB8AC3E}">
        <p14:creationId xmlns:p14="http://schemas.microsoft.com/office/powerpoint/2010/main" val="1965351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B7E0-799B-4B62-1FFF-9F7DE190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E61B96-58DB-0BD8-F517-A7F9E9779A7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5A10CF3E-88D8-10F1-DF9A-61441FB91EE4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0E51A0C-070B-075A-B5E5-A36C89D134BB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D24F40E2-0160-6BD3-A90A-5302F389B687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6DDEC5B1-0C4A-52BD-F7BB-7B51217C081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C568727F-98C6-D7CA-5A5B-B96CF8538881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C42195D-5A1F-ED50-C08A-E0A0A0E0D8F9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B81F17E2-E938-B7FE-DB9A-213D47D88D94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DE4AD2BF-58DA-6BC3-4E4B-9F84D3FBC8A2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A2606ECD-EB34-7CC0-C49F-EE29B67C5AC8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47DBC28A-0EAC-E631-FAD3-EDD7645C5F67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5B48E5-B82D-E115-574F-13559A667637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프롬프트 생성 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048CFA-5AF0-5AEF-7A5F-75AD5CD96CF9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9D2F28E-5081-811E-4F09-C50AC33EBAC1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8B066CE4-6DAB-A7DE-85A1-32CE57FAD028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85463B1-2E72-7D6A-6494-320830AABDEB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364E68-BD1E-F600-50A9-3043BFB91B4D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3D1313-D96D-4B04-2568-B804176F52A6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AB83AB-E5D3-52CE-511D-18718F038EA2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B35678-F4F3-E83A-1B49-C01BCDF328C0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0439FA-4348-6E62-6262-CBAF7854B767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1A384C-604F-37D8-41C9-6778C8694FE9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1503F9-68A5-0D6C-DD93-B07C9BC4B789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138302-C86A-C77B-A5AA-E51D6F75E7BA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4B1E432-9198-2F9E-03C5-21EDFF9CCF5E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33C60410-7AFA-B039-FAA1-445B21BE0E7B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7EEB44-D6F0-2415-DE03-BA629011989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787D38A-05C3-6807-A44E-D4E01D7563C2}"/>
              </a:ext>
            </a:extLst>
          </p:cNvPr>
          <p:cNvGrpSpPr/>
          <p:nvPr/>
        </p:nvGrpSpPr>
        <p:grpSpPr>
          <a:xfrm>
            <a:off x="1881165" y="2082324"/>
            <a:ext cx="13587435" cy="8063528"/>
            <a:chOff x="2895601" y="2612466"/>
            <a:chExt cx="12344399" cy="7248834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E213E62-A427-CB47-7204-619ED5EF0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0" y="2842248"/>
              <a:ext cx="12192000" cy="7019052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FA693EF-B35A-8C84-CF9B-55AC8047C2A3}"/>
                </a:ext>
              </a:extLst>
            </p:cNvPr>
            <p:cNvSpPr/>
            <p:nvPr/>
          </p:nvSpPr>
          <p:spPr>
            <a:xfrm>
              <a:off x="2895601" y="2612466"/>
              <a:ext cx="8667930" cy="232894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8880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388B-F61E-0F79-FDF2-BA316670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82ABBD-55C8-B28B-BF37-4E4EA65638E9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FA25030-E598-BDE0-EE3E-46A4D8E7053A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523E2C4-DFF3-8659-D548-97C59B38F5E0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4B8C9D0B-A3E9-7302-A623-611F566EEC36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0CEB17CB-E0C6-15AB-19BE-3A98B01A0EA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B13E50C2-B58E-8A26-F20C-0DD39794F52C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F358212-6160-1F70-DD81-E9C2C2C21322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A6CEB75-2B49-5B9F-5FDC-D828BAFAE989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EC60DDD2-C712-E1F6-794D-2DA11E1F377B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20362F8-8A5C-A2C0-192A-6D0A37DA1305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B7AE6285-29BA-5263-A322-554738D3535E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9166B3-55E1-9478-4697-D842F5BDAE2C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프롬프트 생성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432605B-35BD-C703-701B-86EAA3254ED6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F45B10-B367-2453-CBEB-0B2E91BCABD7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D7A252D6-C4EB-66EB-FCF3-A845FC734C69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91141954-376A-D49B-3FE5-AF78CB330068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8A81C4-F1B3-C77A-B7BD-956B11A5B51D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6B740C-C8AD-12BA-74DF-EB17F151AC07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C2E852-8E09-3E15-908E-22A3558BC2C4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2D5041-9E8B-7BF0-23EF-2D8260622F2F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48B12C-ECC1-7F95-6108-5CDE804C6AB8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7CA47D-8BAE-824E-1C8C-444A2442E0A5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7D8D2B-E31F-E956-DB0E-213D9A4674B1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A779B-2DF2-E1D5-E505-44436353723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7144EFE-BD2A-473E-9B0A-FB88DDFA5EFC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A3C793B6-66C6-21EB-B4D2-78AC7CFEB77F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027B06-1455-2CC3-B942-24E9BCEAB65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27C2E93-9D52-1DD4-9735-AC602FD8EB0A}"/>
              </a:ext>
            </a:extLst>
          </p:cNvPr>
          <p:cNvGrpSpPr/>
          <p:nvPr/>
        </p:nvGrpSpPr>
        <p:grpSpPr>
          <a:xfrm>
            <a:off x="1951612" y="2290116"/>
            <a:ext cx="15725412" cy="7160064"/>
            <a:chOff x="1951612" y="2290116"/>
            <a:chExt cx="15667272" cy="661424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9D78841-5DE7-93BA-5E24-E7A2888CEB4A}"/>
                </a:ext>
              </a:extLst>
            </p:cNvPr>
            <p:cNvSpPr txBox="1"/>
            <p:nvPr/>
          </p:nvSpPr>
          <p:spPr>
            <a:xfrm>
              <a:off x="5968054" y="4965987"/>
              <a:ext cx="2494671" cy="2935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2400" b="1" dirty="0"/>
                <a:t>프롬프트 구성</a:t>
              </a:r>
              <a:endParaRPr lang="en-US" altLang="ko-KR" sz="2400" b="1" dirty="0"/>
            </a:p>
            <a:p>
              <a:pPr>
                <a:buNone/>
              </a:pPr>
              <a:r>
                <a:rPr lang="en-US" altLang="ko-KR" sz="2000" dirty="0"/>
                <a:t>1. </a:t>
              </a:r>
              <a:r>
                <a:rPr lang="ko-KR" altLang="en-US" sz="2000" dirty="0"/>
                <a:t>역할 지정</a:t>
              </a:r>
              <a:endParaRPr lang="en-US" altLang="ko-KR" sz="2000" dirty="0"/>
            </a:p>
            <a:p>
              <a:pPr>
                <a:lnSpc>
                  <a:spcPct val="150000"/>
                </a:lnSpc>
                <a:buNone/>
              </a:pPr>
              <a:r>
                <a:rPr lang="en-US" altLang="ko-KR" sz="2000" dirty="0"/>
                <a:t>2. </a:t>
              </a:r>
              <a:r>
                <a:rPr lang="ko-KR" altLang="en-US" sz="2000" dirty="0"/>
                <a:t>응답 기준 설정 </a:t>
              </a:r>
              <a:endParaRPr lang="en-US" altLang="ko-KR" sz="2000" dirty="0"/>
            </a:p>
            <a:p>
              <a:pPr>
                <a:lnSpc>
                  <a:spcPct val="150000"/>
                </a:lnSpc>
                <a:buNone/>
              </a:pPr>
              <a:r>
                <a:rPr lang="en-US" altLang="ko-KR" sz="2000" dirty="0"/>
                <a:t>3. </a:t>
              </a:r>
              <a:r>
                <a:rPr lang="ko-KR" altLang="en-US" sz="2000" dirty="0"/>
                <a:t>관련성 필터링 </a:t>
              </a:r>
              <a:endParaRPr lang="en-US" altLang="ko-KR" sz="2000" dirty="0"/>
            </a:p>
            <a:p>
              <a:pPr>
                <a:lnSpc>
                  <a:spcPct val="150000"/>
                </a:lnSpc>
                <a:buNone/>
              </a:pPr>
              <a:r>
                <a:rPr lang="en-US" altLang="ko-KR" sz="2000" dirty="0"/>
                <a:t>4. </a:t>
              </a:r>
              <a:r>
                <a:rPr lang="ko-KR" altLang="en-US" sz="2000" dirty="0"/>
                <a:t>답변 방향 안내</a:t>
              </a:r>
              <a:endParaRPr lang="en-US" altLang="ko-KR" sz="2000" dirty="0"/>
            </a:p>
            <a:p>
              <a:pPr>
                <a:lnSpc>
                  <a:spcPct val="150000"/>
                </a:lnSpc>
                <a:buNone/>
              </a:pPr>
              <a:r>
                <a:rPr lang="en-US" altLang="ko-KR" sz="2000" dirty="0"/>
                <a:t>5. </a:t>
              </a:r>
              <a:r>
                <a:rPr lang="ko-KR" altLang="en-US" sz="2000" dirty="0"/>
                <a:t>입력 요소 삽입 </a:t>
              </a: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DAB6C608-E47A-DCCB-3CB9-64A1EBE65992}"/>
                </a:ext>
              </a:extLst>
            </p:cNvPr>
            <p:cNvCxnSpPr>
              <a:cxnSpLocks/>
            </p:cNvCxnSpPr>
            <p:nvPr/>
          </p:nvCxnSpPr>
          <p:spPr>
            <a:xfrm>
              <a:off x="8738868" y="4642618"/>
              <a:ext cx="1727571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4" name="Picture 10" descr="프롬프트 - 사용자 인터페이스 및 제스처 아이콘">
              <a:extLst>
                <a:ext uri="{FF2B5EF4-FFF2-40B4-BE49-F238E27FC236}">
                  <a16:creationId xmlns:a16="http://schemas.microsoft.com/office/drawing/2014/main" id="{05DD46C2-8E71-1903-2909-DE72FB7BF5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9537" y="3355642"/>
              <a:ext cx="1192772" cy="1192772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림 27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469EB1F2-79D9-7A95-C859-23C3C4A29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91419" y="3989744"/>
              <a:ext cx="1142826" cy="114282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633ECE-F7E4-CC2B-F1C1-06D3D026919E}"/>
                </a:ext>
              </a:extLst>
            </p:cNvPr>
            <p:cNvSpPr txBox="1"/>
            <p:nvPr/>
          </p:nvSpPr>
          <p:spPr>
            <a:xfrm>
              <a:off x="8356055" y="4127997"/>
              <a:ext cx="259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LLM</a:t>
              </a:r>
              <a:r>
                <a:rPr lang="ko-KR" altLang="en-US" sz="2000" dirty="0"/>
                <a:t>에 프롬프트 전달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599708-2259-7748-55A4-4EE3256694D2}"/>
                </a:ext>
              </a:extLst>
            </p:cNvPr>
            <p:cNvSpPr txBox="1"/>
            <p:nvPr/>
          </p:nvSpPr>
          <p:spPr>
            <a:xfrm>
              <a:off x="9637486" y="5333939"/>
              <a:ext cx="505069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00" b="1" dirty="0"/>
                <a:t>LLM: (gpt-4o mini)</a:t>
              </a:r>
            </a:p>
            <a:p>
              <a:pPr algn="ctr"/>
              <a:r>
                <a:rPr lang="ko-KR" altLang="en-US" sz="2200" dirty="0"/>
                <a:t>프롬프트를 기반으로</a:t>
              </a:r>
              <a:r>
                <a:rPr lang="en-US" altLang="ko-KR" sz="2200" dirty="0"/>
                <a:t>, </a:t>
              </a:r>
              <a:r>
                <a:rPr lang="ko-KR" altLang="en-US" sz="2200" dirty="0"/>
                <a:t>최종 </a:t>
              </a:r>
              <a:r>
                <a:rPr lang="en-US" altLang="ko-KR" sz="2200" dirty="0"/>
                <a:t>5</a:t>
              </a:r>
              <a:r>
                <a:rPr lang="ko-KR" altLang="en-US" sz="2200" dirty="0"/>
                <a:t>개 문서를 활용해 정확도 높은 답변 생성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A1F4E6D9-ACAB-1C4D-31BD-C87020535136}"/>
                </a:ext>
              </a:extLst>
            </p:cNvPr>
            <p:cNvCxnSpPr>
              <a:cxnSpLocks/>
            </p:cNvCxnSpPr>
            <p:nvPr/>
          </p:nvCxnSpPr>
          <p:spPr>
            <a:xfrm>
              <a:off x="13623341" y="4651797"/>
              <a:ext cx="1482043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32" name="Picture 2" descr="말풍선 - 무료 개 아이콘">
              <a:extLst>
                <a:ext uri="{FF2B5EF4-FFF2-40B4-BE49-F238E27FC236}">
                  <a16:creationId xmlns:a16="http://schemas.microsoft.com/office/drawing/2014/main" id="{27BAD991-3663-D655-77D7-95B6743D6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1486" y="3952028"/>
              <a:ext cx="1364374" cy="1364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75F092-A0A5-490F-7AA2-FA0FBDF3DF0F}"/>
                </a:ext>
              </a:extLst>
            </p:cNvPr>
            <p:cNvSpPr txBox="1"/>
            <p:nvPr/>
          </p:nvSpPr>
          <p:spPr>
            <a:xfrm>
              <a:off x="15168461" y="5417353"/>
              <a:ext cx="245042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>
                  <a:latin typeface="+mn-ea"/>
                </a:rPr>
                <a:t>완성된 </a:t>
              </a:r>
              <a:r>
                <a:rPr lang="en-US" altLang="ko-KR" sz="2200" dirty="0">
                  <a:latin typeface="+mn-ea"/>
                </a:rPr>
                <a:t>RAG</a:t>
              </a:r>
              <a:r>
                <a:rPr lang="ko-KR" altLang="en-US" sz="2200" dirty="0">
                  <a:latin typeface="+mn-ea"/>
                </a:rPr>
                <a:t>답변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1827C1F-333A-A470-22BD-A68A7C66599C}"/>
                </a:ext>
              </a:extLst>
            </p:cNvPr>
            <p:cNvSpPr/>
            <p:nvPr/>
          </p:nvSpPr>
          <p:spPr>
            <a:xfrm>
              <a:off x="1951612" y="2290116"/>
              <a:ext cx="2013673" cy="66142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540B6C86-B64F-3107-5C03-F56CA7A51245}"/>
                </a:ext>
              </a:extLst>
            </p:cNvPr>
            <p:cNvCxnSpPr>
              <a:cxnSpLocks/>
            </p:cNvCxnSpPr>
            <p:nvPr/>
          </p:nvCxnSpPr>
          <p:spPr>
            <a:xfrm>
              <a:off x="4243068" y="4785959"/>
              <a:ext cx="1482043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36" name="Picture 2" descr="질문 - 무료 연락개 아이콘">
              <a:extLst>
                <a:ext uri="{FF2B5EF4-FFF2-40B4-BE49-F238E27FC236}">
                  <a16:creationId xmlns:a16="http://schemas.microsoft.com/office/drawing/2014/main" id="{4651154B-3D86-CDF3-0B5D-2B298E9B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8208" y="2427183"/>
              <a:ext cx="1112328" cy="1112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그림 36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1DF8F75F-05F2-B61B-77F4-B262AD982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2355" y="4564368"/>
              <a:ext cx="1287998" cy="1287998"/>
            </a:xfrm>
            <a:prstGeom prst="rect">
              <a:avLst/>
            </a:prstGeom>
          </p:spPr>
        </p:pic>
        <p:sp>
          <p:nvSpPr>
            <p:cNvPr id="38" name="더하기 기호 37">
              <a:extLst>
                <a:ext uri="{FF2B5EF4-FFF2-40B4-BE49-F238E27FC236}">
                  <a16:creationId xmlns:a16="http://schemas.microsoft.com/office/drawing/2014/main" id="{667EC32D-73A6-E4C3-956F-76D02DAC0503}"/>
                </a:ext>
              </a:extLst>
            </p:cNvPr>
            <p:cNvSpPr/>
            <p:nvPr/>
          </p:nvSpPr>
          <p:spPr>
            <a:xfrm>
              <a:off x="2654008" y="3988496"/>
              <a:ext cx="566392" cy="568090"/>
            </a:xfrm>
            <a:prstGeom prst="mathPlus">
              <a:avLst/>
            </a:prstGeom>
            <a:solidFill>
              <a:srgbClr val="747EA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77BBBF-4DAB-0887-F96A-ECE465758ED0}"/>
                </a:ext>
              </a:extLst>
            </p:cNvPr>
            <p:cNvSpPr txBox="1"/>
            <p:nvPr/>
          </p:nvSpPr>
          <p:spPr>
            <a:xfrm>
              <a:off x="2216398" y="3826801"/>
              <a:ext cx="1364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9AB6229-6F46-D1E3-C699-DF87A83501EE}"/>
                </a:ext>
              </a:extLst>
            </p:cNvPr>
            <p:cNvSpPr txBox="1"/>
            <p:nvPr/>
          </p:nvSpPr>
          <p:spPr>
            <a:xfrm>
              <a:off x="2173708" y="3609073"/>
              <a:ext cx="1682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사용자의 질문</a:t>
              </a:r>
            </a:p>
          </p:txBody>
        </p:sp>
        <p:sp>
          <p:nvSpPr>
            <p:cNvPr id="41" name="더하기 기호 40">
              <a:extLst>
                <a:ext uri="{FF2B5EF4-FFF2-40B4-BE49-F238E27FC236}">
                  <a16:creationId xmlns:a16="http://schemas.microsoft.com/office/drawing/2014/main" id="{8804BB5B-EBD1-ABF7-9772-0F5E74D18823}"/>
                </a:ext>
              </a:extLst>
            </p:cNvPr>
            <p:cNvSpPr/>
            <p:nvPr/>
          </p:nvSpPr>
          <p:spPr>
            <a:xfrm>
              <a:off x="2654008" y="6518330"/>
              <a:ext cx="566392" cy="568090"/>
            </a:xfrm>
            <a:prstGeom prst="mathPlus">
              <a:avLst/>
            </a:prstGeom>
            <a:solidFill>
              <a:srgbClr val="747EA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3C679FB-038D-FF93-A277-A1B81072A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1139" y="7102634"/>
              <a:ext cx="1192130" cy="119213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404EF7-F352-4146-825A-F51A710761CE}"/>
                </a:ext>
              </a:extLst>
            </p:cNvPr>
            <p:cNvSpPr txBox="1"/>
            <p:nvPr/>
          </p:nvSpPr>
          <p:spPr>
            <a:xfrm>
              <a:off x="2408665" y="8255869"/>
              <a:ext cx="117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현재 날짜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061E212-9966-DB61-4704-4AB1EA3FAF60}"/>
              </a:ext>
            </a:extLst>
          </p:cNvPr>
          <p:cNvSpPr txBox="1"/>
          <p:nvPr/>
        </p:nvSpPr>
        <p:spPr>
          <a:xfrm>
            <a:off x="2046045" y="6220917"/>
            <a:ext cx="1789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추출된 상위 </a:t>
            </a:r>
            <a:endParaRPr lang="en-US" altLang="ko-KR" dirty="0"/>
          </a:p>
          <a:p>
            <a:pPr algn="ctr"/>
            <a:r>
              <a:rPr lang="en-US" altLang="ko-KR" dirty="0"/>
              <a:t>5</a:t>
            </a:r>
            <a:r>
              <a:rPr lang="ko-KR" altLang="en-US" dirty="0"/>
              <a:t>개문서</a:t>
            </a:r>
          </a:p>
        </p:txBody>
      </p:sp>
    </p:spTree>
    <p:extLst>
      <p:ext uri="{BB962C8B-B14F-4D97-AF65-F5344CB8AC3E}">
        <p14:creationId xmlns:p14="http://schemas.microsoft.com/office/powerpoint/2010/main" val="3645542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A029-6D47-5B16-AEAD-7A9CE518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A3AA9DF-42E2-D806-C511-EE477B845B51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314145B9-BD9E-0C56-86BC-38795371D0DD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2C652C7-1EDF-8640-F411-CB317E5D0BBF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3DD967B3-20D9-91BB-7C92-FEEFFFE31E5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D22354B4-B6C4-31C6-5FF0-ED2A13EDA5DD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FF64D668-2240-1E5E-C749-C96AEDE9CCDB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BA829AE5-567A-195B-8177-FE0C7167E0E3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EFD4059E-3F3C-B779-0EC8-07762268728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45055C5B-8BDC-C1CC-E733-A3DDD0A5FB1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7FC5755F-9334-70B8-D8C5-D04DE37DA942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41CFCFBD-02C2-9C9D-6A20-51B51468C909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DB9311-7053-A5C0-000E-12FE7928FA9D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프롬프트 생성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EB67936-0037-F7B3-BE50-272BF765BDB5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B11DA01-D1C4-9B3F-2745-65B220A55CA1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13F2212-5D67-84CA-8B61-AA18D7216C61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67B8EDC1-1418-4FCA-ABF6-309845B1F11E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92D8A4-0C95-DF8B-98D2-547E92DE59F1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BE15E-7121-183D-A578-130ECB9E7ED1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EB001D-55E9-70BC-5DB5-7F08A2648F52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BC36F4-E0A2-CF38-8D52-322F653E6CA7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D7BEC8-3E2A-B7B5-7EE3-95238576ACB7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5E0B16-E97E-43B8-2F25-F39B94C60BA3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46B78A-6777-B52D-01E5-8B9561ABD7B3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6D59B5-0662-0295-AE6D-CC4291037510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B37C9CC-57ED-700E-ED38-F64ED5BF982F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E21D79A1-FC57-0D2B-E1DB-4C61DF9D057F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C54AE0-1289-2A62-5826-6ABCD4911CCB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FA9F5FF3-B6BB-0172-982C-7D9B7A7768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4556" y="2117224"/>
            <a:ext cx="16100070" cy="3108240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7E8BFD-BE42-E73A-4DC8-0C628F178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389005"/>
              </p:ext>
            </p:extLst>
          </p:nvPr>
        </p:nvGraphicFramePr>
        <p:xfrm>
          <a:off x="1804556" y="5360534"/>
          <a:ext cx="16133778" cy="441312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77303">
                  <a:extLst>
                    <a:ext uri="{9D8B030D-6E8A-4147-A177-3AD203B41FA5}">
                      <a16:colId xmlns:a16="http://schemas.microsoft.com/office/drawing/2014/main" val="305842373"/>
                    </a:ext>
                  </a:extLst>
                </a:gridCol>
                <a:gridCol w="2475391">
                  <a:extLst>
                    <a:ext uri="{9D8B030D-6E8A-4147-A177-3AD203B41FA5}">
                      <a16:colId xmlns:a16="http://schemas.microsoft.com/office/drawing/2014/main" val="1861518674"/>
                    </a:ext>
                  </a:extLst>
                </a:gridCol>
                <a:gridCol w="12681084">
                  <a:extLst>
                    <a:ext uri="{9D8B030D-6E8A-4147-A177-3AD203B41FA5}">
                      <a16:colId xmlns:a16="http://schemas.microsoft.com/office/drawing/2014/main" val="4002911676"/>
                    </a:ext>
                  </a:extLst>
                </a:gridCol>
              </a:tblGrid>
              <a:tr h="5922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프롬프트</a:t>
                      </a:r>
                      <a:r>
                        <a:rPr lang="en-US" altLang="ko-KR" sz="2400" dirty="0"/>
                        <a:t> </a:t>
                      </a:r>
                      <a:r>
                        <a:rPr lang="ko-KR" altLang="en-US" sz="2400" dirty="0"/>
                        <a:t>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프롬프트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977968"/>
                  </a:ext>
                </a:extLst>
              </a:tr>
              <a:tr h="592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역할 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“</a:t>
                      </a:r>
                      <a:r>
                        <a:rPr lang="ko-KR" altLang="en-US" sz="2400" dirty="0"/>
                        <a:t>당신은 주식 자문 시스템 입니다</a:t>
                      </a:r>
                      <a:r>
                        <a:rPr lang="en-US" altLang="ko-KR" sz="2400" dirty="0"/>
                        <a:t>.”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744356"/>
                  </a:ext>
                </a:extLst>
              </a:tr>
              <a:tr h="10221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응답 기준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/>
                        <a:t>“</a:t>
                      </a:r>
                      <a:r>
                        <a:rPr lang="ko-KR" altLang="en-US" sz="2400" dirty="0"/>
                        <a:t>주식 시장에 관한 답변을 제공할 때</a:t>
                      </a:r>
                      <a:r>
                        <a:rPr lang="en-US" altLang="ko-KR" sz="2400" dirty="0"/>
                        <a:t>, </a:t>
                      </a:r>
                      <a:r>
                        <a:rPr lang="ko-KR" altLang="en-US" sz="2400" dirty="0"/>
                        <a:t>최신 데이터를 우선적으로 사용하고</a:t>
                      </a:r>
                      <a:r>
                        <a:rPr lang="en-US" altLang="ko-KR" sz="2400" dirty="0"/>
                        <a:t>, </a:t>
                      </a:r>
                      <a:r>
                        <a:rPr lang="ko-KR" altLang="en-US" sz="2400" dirty="0"/>
                        <a:t>현재 날짜와 가장 근접한 데이터를 기반으로 답변을 제공합니다</a:t>
                      </a:r>
                      <a:r>
                        <a:rPr lang="en-US" altLang="ko-KR" sz="2400" dirty="0"/>
                        <a:t>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22448"/>
                  </a:ext>
                </a:extLst>
              </a:tr>
              <a:tr h="592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관련성 필터링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/>
                        <a:t>“</a:t>
                      </a:r>
                      <a:r>
                        <a:rPr lang="ko-KR" altLang="en-US" sz="2400" dirty="0"/>
                        <a:t>제공된 </a:t>
                      </a:r>
                      <a:r>
                        <a:rPr lang="en-US" altLang="ko-KR" sz="2400" dirty="0"/>
                        <a:t>5</a:t>
                      </a:r>
                      <a:r>
                        <a:rPr lang="ko-KR" altLang="en-US" sz="2400" dirty="0"/>
                        <a:t>개 데이터가 질문과 관련 없을 시</a:t>
                      </a:r>
                      <a:r>
                        <a:rPr lang="en-US" altLang="ko-KR" sz="2400" dirty="0"/>
                        <a:t>, </a:t>
                      </a:r>
                      <a:r>
                        <a:rPr lang="ko-KR" altLang="en-US" sz="2400" dirty="0"/>
                        <a:t>답변하지 말고 다른 질문을 요청하도록 합니다</a:t>
                      </a:r>
                      <a:r>
                        <a:rPr lang="en-US" altLang="ko-KR" sz="2400" dirty="0"/>
                        <a:t>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59527"/>
                  </a:ext>
                </a:extLst>
              </a:tr>
              <a:tr h="10221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답변 방향 안내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/>
                        <a:t>“ </a:t>
                      </a:r>
                      <a:r>
                        <a:rPr lang="ko-KR" altLang="en-US" sz="2400" dirty="0"/>
                        <a:t>최신 트렌드</a:t>
                      </a:r>
                      <a:r>
                        <a:rPr lang="en-US" altLang="ko-KR" sz="2400" dirty="0"/>
                        <a:t>, </a:t>
                      </a:r>
                      <a:r>
                        <a:rPr lang="ko-KR" altLang="en-US" sz="2400" dirty="0"/>
                        <a:t>뉴스</a:t>
                      </a:r>
                      <a:r>
                        <a:rPr lang="en-US" altLang="ko-KR" sz="2400" dirty="0"/>
                        <a:t>, </a:t>
                      </a:r>
                      <a:r>
                        <a:rPr lang="ko-KR" altLang="en-US" sz="2400" dirty="0"/>
                        <a:t>보고서 및 시장 데이터를 반영하여 고객에게 가장 신뢰할 수 있는 정보를 제공해야 합니다</a:t>
                      </a:r>
                      <a:r>
                        <a:rPr lang="en-US" altLang="ko-KR" sz="2400" dirty="0"/>
                        <a:t>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829340"/>
                  </a:ext>
                </a:extLst>
              </a:tr>
              <a:tr h="592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dirty="0"/>
                        <a:t>입력 요소 삽입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-{date} – </a:t>
                      </a:r>
                      <a:r>
                        <a:rPr lang="ko-KR" altLang="en-US" sz="2400" dirty="0"/>
                        <a:t>현재 날짜</a:t>
                      </a:r>
                      <a:r>
                        <a:rPr lang="en-US" altLang="ko-KR" sz="2400" dirty="0"/>
                        <a:t>,   {context} – </a:t>
                      </a:r>
                      <a:r>
                        <a:rPr lang="ko-KR" altLang="en-US" sz="2400" dirty="0"/>
                        <a:t>상위 </a:t>
                      </a:r>
                      <a:r>
                        <a:rPr lang="en-US" altLang="ko-KR" sz="2400" dirty="0"/>
                        <a:t>5</a:t>
                      </a:r>
                      <a:r>
                        <a:rPr lang="ko-KR" altLang="en-US" sz="2400" dirty="0"/>
                        <a:t>개의 문서</a:t>
                      </a:r>
                      <a:r>
                        <a:rPr lang="en-US" altLang="ko-KR" sz="2400" dirty="0"/>
                        <a:t>,      {question} – </a:t>
                      </a:r>
                      <a:r>
                        <a:rPr lang="ko-KR" altLang="en-US" sz="2400" dirty="0"/>
                        <a:t>사용자의 질문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306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892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F5C5-0B49-BADE-A000-9E4DDEA9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4EAD69-65BC-1B16-05DE-664F519D0559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99838DB3-4D66-C2C3-D1AD-3A0FFF09985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7B50B4B-9999-F048-E226-8AC3ECA2DEFA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E5656340-CF72-9AA0-E025-FC3527FEB93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3913FCB6-DC07-F679-3097-C884AC6F15A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CD0C8788-82C3-5C2E-F648-12F3EFD23571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F8EB3A7C-C8F3-8E66-8642-E305C001915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6C1B7596-60B1-BF73-9628-2D4693DB0BEA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DB4BC1F-E049-8FD5-E618-F5234A0166D9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 동작 과정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A0340B0E-37E2-A80C-81CB-8AC5B656CDA1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B3482C1-28CE-9146-F174-ACEC76442121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14A8D-6A3F-8A84-1FD0-DC85EFCAF21F}"/>
              </a:ext>
            </a:extLst>
          </p:cNvPr>
          <p:cNvSpPr txBox="1"/>
          <p:nvPr/>
        </p:nvSpPr>
        <p:spPr>
          <a:xfrm>
            <a:off x="9753600" y="1335119"/>
            <a:ext cx="6764024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</a:t>
            </a:r>
            <a:r>
              <a:rPr lang="ko-KR" altLang="en-US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답변 전달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C014077-BB01-FF79-94D4-4C01053CE199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E46B771-32D2-B53D-4CB7-AA71DE096BD1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398A6D31-633C-063B-9DF1-1407C2703951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DF7D911E-45A5-21C4-D98F-3EAF31A3B83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A982A7-CBCC-067D-B97C-FEEF4A6B24E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625364-344D-EFD4-9EB5-07A6926FFA93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5B824E-63F4-37E7-42F4-974F8B87DAB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8F631A-56CA-C4A3-BB80-8B8D846E2724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FDA44B-B1D1-D0A5-268E-6D08EB24863D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2E1219-0839-5CB2-324A-2F55CF9575E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1BF120-6ED1-5951-DF6B-4BDB01458C1C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955F2D-2E09-E86A-F103-8A8636E477DE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277859-6CAE-225C-CFEC-09BAEFC33CAE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F59AC83F-3B00-22AB-F68F-6995CC1C83F0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17320E-3A70-65F8-0C28-27F03AD95F5F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F32D9C9-7048-0AF4-48E4-AF23516540F8}"/>
              </a:ext>
            </a:extLst>
          </p:cNvPr>
          <p:cNvGrpSpPr/>
          <p:nvPr/>
        </p:nvGrpSpPr>
        <p:grpSpPr>
          <a:xfrm>
            <a:off x="1600595" y="2708881"/>
            <a:ext cx="16451846" cy="6607646"/>
            <a:chOff x="1680588" y="2708882"/>
            <a:chExt cx="14016406" cy="5375305"/>
          </a:xfrm>
        </p:grpSpPr>
        <p:pic>
          <p:nvPicPr>
            <p:cNvPr id="2" name="Picture 2" descr="말풍선 - 무료 개 아이콘">
              <a:extLst>
                <a:ext uri="{FF2B5EF4-FFF2-40B4-BE49-F238E27FC236}">
                  <a16:creationId xmlns:a16="http://schemas.microsoft.com/office/drawing/2014/main" id="{165690B1-6470-F45C-D980-568D5064A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2616" y="2708882"/>
              <a:ext cx="1364374" cy="1364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말풍선 - 무료 개 아이콘">
              <a:extLst>
                <a:ext uri="{FF2B5EF4-FFF2-40B4-BE49-F238E27FC236}">
                  <a16:creationId xmlns:a16="http://schemas.microsoft.com/office/drawing/2014/main" id="{9D3D6283-CE1E-6679-0AC2-6DD0C0FAF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2616" y="5421621"/>
              <a:ext cx="1364374" cy="1364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8C7592-6F8B-3DE1-F3F5-E85B360C37E7}"/>
                </a:ext>
              </a:extLst>
            </p:cNvPr>
            <p:cNvSpPr txBox="1"/>
            <p:nvPr/>
          </p:nvSpPr>
          <p:spPr>
            <a:xfrm>
              <a:off x="4202465" y="4162031"/>
              <a:ext cx="2175313" cy="375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RAG</a:t>
              </a:r>
              <a:r>
                <a:rPr lang="ko-KR" altLang="en-US" sz="2400" dirty="0"/>
                <a:t>답변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CB022D-D1BD-36A7-56C4-A03D465878AB}"/>
                </a:ext>
              </a:extLst>
            </p:cNvPr>
            <p:cNvSpPr txBox="1"/>
            <p:nvPr/>
          </p:nvSpPr>
          <p:spPr>
            <a:xfrm>
              <a:off x="4217146" y="6821875"/>
              <a:ext cx="2303243" cy="375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LLM </a:t>
              </a:r>
              <a:r>
                <a:rPr lang="ko-KR" altLang="en-US" sz="2400" dirty="0"/>
                <a:t>답변</a:t>
              </a: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DE024BD-CDD9-6E78-F8F7-32FE0B2D55F9}"/>
                </a:ext>
              </a:extLst>
            </p:cNvPr>
            <p:cNvCxnSpPr>
              <a:cxnSpLocks/>
            </p:cNvCxnSpPr>
            <p:nvPr/>
          </p:nvCxnSpPr>
          <p:spPr>
            <a:xfrm>
              <a:off x="6610656" y="3372161"/>
              <a:ext cx="2585378" cy="486286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81F7B1C-1CA7-7166-EC37-114251764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0656" y="5636447"/>
              <a:ext cx="2585378" cy="424073"/>
            </a:xfrm>
            <a:prstGeom prst="straightConnector1">
              <a:avLst/>
            </a:prstGeom>
            <a:ln w="76200">
              <a:solidFill>
                <a:srgbClr val="92D050"/>
              </a:solidFill>
              <a:round/>
              <a:tailEnd type="triangle" w="med" len="med"/>
            </a:ln>
          </p:spPr>
        </p:cxnSp>
        <p:pic>
          <p:nvPicPr>
            <p:cNvPr id="31" name="Picture 8" descr="스마트 폰 - 무료 과학 기술개 아이콘">
              <a:extLst>
                <a:ext uri="{FF2B5EF4-FFF2-40B4-BE49-F238E27FC236}">
                  <a16:creationId xmlns:a16="http://schemas.microsoft.com/office/drawing/2014/main" id="{CC23A9E8-6AD5-8A34-F49E-A1997EBA1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3355" y="3423957"/>
              <a:ext cx="2098798" cy="2098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14EF19-CBA4-B9F6-E01C-6846E2206F12}"/>
                </a:ext>
              </a:extLst>
            </p:cNvPr>
            <p:cNvSpPr txBox="1"/>
            <p:nvPr/>
          </p:nvSpPr>
          <p:spPr>
            <a:xfrm>
              <a:off x="9668507" y="5652908"/>
              <a:ext cx="2588493" cy="676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/>
                <a:t>사용자에게 </a:t>
              </a:r>
              <a:r>
                <a:rPr lang="en-US" altLang="ko-KR" sz="2400" dirty="0"/>
                <a:t>2</a:t>
              </a:r>
              <a:r>
                <a:rPr lang="ko-KR" altLang="en-US" sz="2400" dirty="0"/>
                <a:t>개의 답변을 제공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45A560-336E-5472-3082-1796CB80B913}"/>
                </a:ext>
              </a:extLst>
            </p:cNvPr>
            <p:cNvSpPr txBox="1"/>
            <p:nvPr/>
          </p:nvSpPr>
          <p:spPr>
            <a:xfrm>
              <a:off x="1680588" y="7608474"/>
              <a:ext cx="14016406" cy="475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highlight>
                    <a:srgbClr val="C3D69B"/>
                  </a:highlight>
                  <a:latin typeface="+mn-ea"/>
                </a:rPr>
                <a:t>RAG</a:t>
              </a:r>
              <a:r>
                <a:rPr lang="ko-KR" altLang="en-US" sz="3200" b="1" dirty="0">
                  <a:highlight>
                    <a:srgbClr val="C3D69B"/>
                  </a:highlight>
                  <a:latin typeface="+mn-ea"/>
                </a:rPr>
                <a:t>를 거친 답변과 일반 </a:t>
              </a:r>
              <a:r>
                <a:rPr lang="en-US" altLang="ko-KR" sz="3200" b="1" dirty="0">
                  <a:highlight>
                    <a:srgbClr val="C3D69B"/>
                  </a:highlight>
                  <a:latin typeface="+mn-ea"/>
                </a:rPr>
                <a:t>LLM</a:t>
              </a:r>
              <a:r>
                <a:rPr lang="ko-KR" altLang="en-US" sz="3200" b="1" dirty="0">
                  <a:highlight>
                    <a:srgbClr val="C3D69B"/>
                  </a:highlight>
                  <a:latin typeface="+mn-ea"/>
                </a:rPr>
                <a:t>의 답변 차이를 보기위해 </a:t>
              </a:r>
              <a:r>
                <a:rPr lang="en-US" altLang="ko-KR" sz="3200" b="1" dirty="0">
                  <a:highlight>
                    <a:srgbClr val="C3D69B"/>
                  </a:highlight>
                  <a:latin typeface="+mn-ea"/>
                </a:rPr>
                <a:t>2</a:t>
              </a:r>
              <a:r>
                <a:rPr lang="ko-KR" altLang="en-US" sz="3200" b="1" dirty="0">
                  <a:highlight>
                    <a:srgbClr val="C3D69B"/>
                  </a:highlight>
                  <a:latin typeface="+mn-ea"/>
                </a:rPr>
                <a:t>가지 답변을 사용자에게 제공함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127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738E-A7AE-8112-F5E9-F4248D0E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D3D668E-DA1E-E8E5-60EB-2EDF3620B22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0FFEFF5C-B518-2F16-2E66-2847E85D9D5B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60E68E6-562D-6784-2DDE-4E46BB051873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AC867487-960F-1023-81A1-10DE67C898F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A3335C10-112A-689A-52F9-85B7CB2C44D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6FE4012E-C45D-1D3A-218D-4641ADFB5A4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DD74FC9-F5F7-0D28-E887-B6E5A5409628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46B3B1B0-B4F5-02C9-98B9-7A694EFFC00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460A2A0-7477-4C33-54C7-D3B3ED7BAA23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시스템 동작 과정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160B73D-8D33-6532-62AC-005FC3ADC873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345931CA-8E6A-4E5E-67C1-F9774E895D5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AAD88-5FF8-D290-25E2-844478021ADC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</a:t>
            </a:r>
            <a:r>
              <a:rPr lang="ko-KR" altLang="en-US" sz="3600" dirty="0">
                <a:solidFill>
                  <a:srgbClr val="747EA7"/>
                </a:solidFill>
              </a:rPr>
              <a:t>프로젝트 인터페이스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D8A93B-2B88-3C49-7E11-72DEC13DBD2F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46022C3-712A-74A6-9A92-A5CBD8CDAD53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B4FD4E3-9DA0-8BCA-B469-7712AF77605C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15302D2-8B87-7EA3-1B39-018BFD430A01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74A02-FF3D-D10F-4123-7C805C823534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C30E37-481E-DA98-BB8F-5B69F85D5452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6246D9-B49B-405A-770A-A947AE88D459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03A1D5-2391-6F7B-5D14-3C607239A2F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97E344-41CE-658A-34AA-A6412BB8CFE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4B5F65-D6B0-57AF-D4F8-543424059D6F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60E9EE-DFE3-E376-47A8-300D46DD485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98A587-3981-28DE-06A8-6BBBBD02BDF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D2A699D-B0B1-3D70-834F-1C59C42074C3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5D4D52A8-B673-2EC7-832D-76ED2754A85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B9030A-7EE7-7626-39AD-996E42F91D8F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41AFDA8E-B3A1-4E39-8234-4986FFB45155}"/>
              </a:ext>
            </a:extLst>
          </p:cNvPr>
          <p:cNvSpPr/>
          <p:nvPr/>
        </p:nvSpPr>
        <p:spPr>
          <a:xfrm>
            <a:off x="2630748" y="4660296"/>
            <a:ext cx="3413207" cy="895342"/>
          </a:xfrm>
          <a:custGeom>
            <a:avLst/>
            <a:gdLst/>
            <a:ahLst/>
            <a:cxnLst/>
            <a:rect l="l" t="t" r="r" b="b"/>
            <a:pathLst>
              <a:path w="17179555" h="9405806">
                <a:moveTo>
                  <a:pt x="0" y="0"/>
                </a:moveTo>
                <a:lnTo>
                  <a:pt x="17179555" y="0"/>
                </a:lnTo>
                <a:lnTo>
                  <a:pt x="17179555" y="9405806"/>
                </a:lnTo>
                <a:lnTo>
                  <a:pt x="0" y="9405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5092" t="-485851" r="-295784" b="-72400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834A19A-7425-1953-8BF2-857C416DBF9A}"/>
              </a:ext>
            </a:extLst>
          </p:cNvPr>
          <p:cNvGrpSpPr/>
          <p:nvPr/>
        </p:nvGrpSpPr>
        <p:grpSpPr>
          <a:xfrm>
            <a:off x="8202087" y="2101194"/>
            <a:ext cx="9833912" cy="7842906"/>
            <a:chOff x="9296400" y="4289078"/>
            <a:chExt cx="7974209" cy="5973216"/>
          </a:xfrm>
        </p:grpSpPr>
        <p:sp>
          <p:nvSpPr>
            <p:cNvPr id="28" name="Freeform 2">
              <a:extLst>
                <a:ext uri="{FF2B5EF4-FFF2-40B4-BE49-F238E27FC236}">
                  <a16:creationId xmlns:a16="http://schemas.microsoft.com/office/drawing/2014/main" id="{D99B141D-4E1B-98C6-FFC5-5FCF1A24E9E4}"/>
                </a:ext>
              </a:extLst>
            </p:cNvPr>
            <p:cNvSpPr/>
            <p:nvPr/>
          </p:nvSpPr>
          <p:spPr>
            <a:xfrm>
              <a:off x="9296400" y="4289078"/>
              <a:ext cx="7974209" cy="5973216"/>
            </a:xfrm>
            <a:custGeom>
              <a:avLst/>
              <a:gdLst/>
              <a:ahLst/>
              <a:cxnLst/>
              <a:rect l="l" t="t" r="r" b="b"/>
              <a:pathLst>
                <a:path w="17179555" h="9405806">
                  <a:moveTo>
                    <a:pt x="0" y="0"/>
                  </a:moveTo>
                  <a:lnTo>
                    <a:pt x="17179555" y="0"/>
                  </a:lnTo>
                  <a:lnTo>
                    <a:pt x="17179555" y="9405806"/>
                  </a:lnTo>
                  <a:lnTo>
                    <a:pt x="0" y="940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9496" t="-89775" r="-127698" b="-6563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934080B-8472-A17D-4028-F81055BD5FF4}"/>
                </a:ext>
              </a:extLst>
            </p:cNvPr>
            <p:cNvSpPr/>
            <p:nvPr/>
          </p:nvSpPr>
          <p:spPr>
            <a:xfrm>
              <a:off x="9753600" y="4469201"/>
              <a:ext cx="685800" cy="304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761A72-444E-BBD7-440F-739B50D9BC39}"/>
              </a:ext>
            </a:extLst>
          </p:cNvPr>
          <p:cNvGrpSpPr/>
          <p:nvPr/>
        </p:nvGrpSpPr>
        <p:grpSpPr>
          <a:xfrm>
            <a:off x="2630748" y="2050249"/>
            <a:ext cx="5503967" cy="2552743"/>
            <a:chOff x="5784933" y="2095500"/>
            <a:chExt cx="4458816" cy="2067906"/>
          </a:xfrm>
        </p:grpSpPr>
        <p:sp>
          <p:nvSpPr>
            <p:cNvPr id="34" name="Freeform 2">
              <a:extLst>
                <a:ext uri="{FF2B5EF4-FFF2-40B4-BE49-F238E27FC236}">
                  <a16:creationId xmlns:a16="http://schemas.microsoft.com/office/drawing/2014/main" id="{9DB5AD0D-6C3F-25F6-9D2C-E834C271FF9E}"/>
                </a:ext>
              </a:extLst>
            </p:cNvPr>
            <p:cNvSpPr/>
            <p:nvPr/>
          </p:nvSpPr>
          <p:spPr>
            <a:xfrm>
              <a:off x="5784933" y="2095500"/>
              <a:ext cx="4458816" cy="2067906"/>
            </a:xfrm>
            <a:custGeom>
              <a:avLst/>
              <a:gdLst/>
              <a:ahLst/>
              <a:cxnLst/>
              <a:rect l="l" t="t" r="r" b="b"/>
              <a:pathLst>
                <a:path w="17179555" h="9405806">
                  <a:moveTo>
                    <a:pt x="0" y="0"/>
                  </a:moveTo>
                  <a:lnTo>
                    <a:pt x="17179555" y="0"/>
                  </a:lnTo>
                  <a:lnTo>
                    <a:pt x="17179555" y="9405806"/>
                  </a:lnTo>
                  <a:lnTo>
                    <a:pt x="0" y="940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7000" t="-159398" r="-302970" b="-307732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A709DE9-42AB-299C-E810-018F7F9BBA3F}"/>
                </a:ext>
              </a:extLst>
            </p:cNvPr>
            <p:cNvSpPr/>
            <p:nvPr/>
          </p:nvSpPr>
          <p:spPr>
            <a:xfrm>
              <a:off x="6019800" y="3315346"/>
              <a:ext cx="457200" cy="304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2125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9523-8876-3112-2434-7D2E8FD1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C50D7C4-F1BC-E2B0-4344-E836C08FA1D4}"/>
              </a:ext>
            </a:extLst>
          </p:cNvPr>
          <p:cNvGrpSpPr/>
          <p:nvPr/>
        </p:nvGrpSpPr>
        <p:grpSpPr>
          <a:xfrm>
            <a:off x="149357" y="102554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B1836EB-E782-18F3-8B2B-3036CD4A4C25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5FE6516-6E72-406B-8BD3-9BF70B12D0EB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64078A1E-1057-9CB7-1519-1919CD6D61EC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DE540E70-608E-D989-1CBB-5CBCBE4E1B4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B33CD2B8-7B8C-7779-8C2F-95494DB0C7A5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8AB6907-6F91-7C5A-A676-0293F896781B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1DE9788-1C6D-698E-02C4-592AA601CAA5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F63D593A-216B-6974-6997-398760D393F5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시스템 동작 과정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6DF54B8E-FB20-3A72-48BA-9DA8C115ECA1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B7BB1537-91BE-7648-E090-090C8D8CB98B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2D20B3-AD2B-3065-47A5-55D68A21615B}"/>
              </a:ext>
            </a:extLst>
          </p:cNvPr>
          <p:cNvSpPr txBox="1"/>
          <p:nvPr/>
        </p:nvSpPr>
        <p:spPr>
          <a:xfrm>
            <a:off x="11825705" y="1300298"/>
            <a:ext cx="476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747EA7"/>
                </a:solidFill>
              </a:rPr>
              <a:t>| </a:t>
            </a:r>
            <a:r>
              <a:rPr lang="ko-KR" altLang="en-US" sz="3600" dirty="0">
                <a:solidFill>
                  <a:srgbClr val="747EA7"/>
                </a:solidFill>
              </a:rPr>
              <a:t>프로젝트 인터페이스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0322C2A-524D-0AFF-C2D8-571982204BE9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0257504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6011CAC-AEBD-65E2-B464-E0DB6A765C6C}"/>
                </a:ext>
              </a:extLst>
            </p:cNvPr>
            <p:cNvGrpSpPr/>
            <p:nvPr/>
          </p:nvGrpSpPr>
          <p:grpSpPr>
            <a:xfrm>
              <a:off x="10363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186F242C-D121-163F-C6D7-435BD9999D96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9F2AE1F6-38E4-FACE-052E-508D90118AAE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E52CC5-311A-006C-17E6-C632A56A1BA5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E071A4-43BF-CB7A-B1FF-8D1D82F19109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949E9D-3B30-A80C-4A38-3F70E5F5D0DB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D3674A-0895-222E-1432-914D669ED0A5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79251F-21AD-E75C-1FD4-C2D44E2B49F1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7055B1-446C-6F9B-43DF-9E31733213C5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D717CA-FBB0-ABF9-D4E2-A19702408FC0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EE037A-F06F-9029-5D72-D24A9740576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BF4680C-D0B9-FFC7-861D-BA10689160BD}"/>
                </a:ext>
              </a:extLst>
            </p:cNvPr>
            <p:cNvGrpSpPr/>
            <p:nvPr/>
          </p:nvGrpSpPr>
          <p:grpSpPr>
            <a:xfrm>
              <a:off x="10257504" y="453881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8D13AC34-DE26-5959-482D-A90A6979C691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146AA3-E9D0-F950-5CDB-0AFF5EDA72A0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5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64FBD78-FE22-1498-F4FC-78B4E8A40D5A}"/>
              </a:ext>
            </a:extLst>
          </p:cNvPr>
          <p:cNvGrpSpPr/>
          <p:nvPr/>
        </p:nvGrpSpPr>
        <p:grpSpPr>
          <a:xfrm>
            <a:off x="2436890" y="2301556"/>
            <a:ext cx="5945109" cy="3756343"/>
            <a:chOff x="1766794" y="2169506"/>
            <a:chExt cx="5504400" cy="3281394"/>
          </a:xfrm>
        </p:grpSpPr>
        <p:sp>
          <p:nvSpPr>
            <p:cNvPr id="4" name="Freeform 2">
              <a:extLst>
                <a:ext uri="{FF2B5EF4-FFF2-40B4-BE49-F238E27FC236}">
                  <a16:creationId xmlns:a16="http://schemas.microsoft.com/office/drawing/2014/main" id="{416C3B52-29E4-258F-0629-3AB2544E0832}"/>
                </a:ext>
              </a:extLst>
            </p:cNvPr>
            <p:cNvSpPr/>
            <p:nvPr/>
          </p:nvSpPr>
          <p:spPr>
            <a:xfrm>
              <a:off x="1766794" y="2169506"/>
              <a:ext cx="5504400" cy="3198809"/>
            </a:xfrm>
            <a:custGeom>
              <a:avLst/>
              <a:gdLst/>
              <a:ahLst/>
              <a:cxnLst/>
              <a:rect l="l" t="t" r="r" b="b"/>
              <a:pathLst>
                <a:path w="17179555" h="9405806">
                  <a:moveTo>
                    <a:pt x="0" y="0"/>
                  </a:moveTo>
                  <a:lnTo>
                    <a:pt x="17179555" y="0"/>
                  </a:lnTo>
                  <a:lnTo>
                    <a:pt x="17179555" y="9405806"/>
                  </a:lnTo>
                  <a:lnTo>
                    <a:pt x="0" y="940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55489" t="-107028" r="-104623" b="-191293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액자 27">
              <a:extLst>
                <a:ext uri="{FF2B5EF4-FFF2-40B4-BE49-F238E27FC236}">
                  <a16:creationId xmlns:a16="http://schemas.microsoft.com/office/drawing/2014/main" id="{696727AE-2CB6-A421-1C42-004FDAE3792F}"/>
                </a:ext>
              </a:extLst>
            </p:cNvPr>
            <p:cNvSpPr/>
            <p:nvPr/>
          </p:nvSpPr>
          <p:spPr>
            <a:xfrm>
              <a:off x="1805340" y="2171700"/>
              <a:ext cx="5465853" cy="3279200"/>
            </a:xfrm>
            <a:prstGeom prst="frame">
              <a:avLst>
                <a:gd name="adj1" fmla="val 2326"/>
              </a:avLst>
            </a:prstGeom>
            <a:solidFill>
              <a:srgbClr val="00B0F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CEEF7C2-FEBA-1B50-4341-B92B61152995}"/>
              </a:ext>
            </a:extLst>
          </p:cNvPr>
          <p:cNvGrpSpPr/>
          <p:nvPr/>
        </p:nvGrpSpPr>
        <p:grpSpPr>
          <a:xfrm>
            <a:off x="14641214" y="5760423"/>
            <a:ext cx="3438591" cy="1123363"/>
            <a:chOff x="14430861" y="6310201"/>
            <a:chExt cx="2811795" cy="107267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279FDBE-CA2C-D813-28CF-71753CEA42F5}"/>
                </a:ext>
              </a:extLst>
            </p:cNvPr>
            <p:cNvSpPr/>
            <p:nvPr/>
          </p:nvSpPr>
          <p:spPr>
            <a:xfrm>
              <a:off x="14448180" y="6310201"/>
              <a:ext cx="2777159" cy="1066800"/>
            </a:xfrm>
            <a:prstGeom prst="roundRect">
              <a:avLst>
                <a:gd name="adj" fmla="val 584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</a:rPr>
                <a:t>RAG</a:t>
              </a:r>
              <a:r>
                <a:rPr lang="ko-KR" altLang="en-US" sz="2400" dirty="0">
                  <a:solidFill>
                    <a:schemeClr val="tx1"/>
                  </a:solidFill>
                </a:rPr>
                <a:t>를 거치지 않은 답변</a:t>
              </a:r>
            </a:p>
          </p:txBody>
        </p:sp>
        <p:sp>
          <p:nvSpPr>
            <p:cNvPr id="34" name="액자 33">
              <a:extLst>
                <a:ext uri="{FF2B5EF4-FFF2-40B4-BE49-F238E27FC236}">
                  <a16:creationId xmlns:a16="http://schemas.microsoft.com/office/drawing/2014/main" id="{902F34DB-E897-E1C9-86E5-EFDA60538A5D}"/>
                </a:ext>
              </a:extLst>
            </p:cNvPr>
            <p:cNvSpPr/>
            <p:nvPr/>
          </p:nvSpPr>
          <p:spPr>
            <a:xfrm>
              <a:off x="14430861" y="6310201"/>
              <a:ext cx="2811795" cy="1072679"/>
            </a:xfrm>
            <a:prstGeom prst="frame">
              <a:avLst>
                <a:gd name="adj1" fmla="val 6185"/>
              </a:avLst>
            </a:prstGeom>
            <a:solidFill>
              <a:srgbClr val="FFFF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8A4CEB0-52EB-5138-C91B-686A963EA5C2}"/>
              </a:ext>
            </a:extLst>
          </p:cNvPr>
          <p:cNvGrpSpPr/>
          <p:nvPr/>
        </p:nvGrpSpPr>
        <p:grpSpPr>
          <a:xfrm>
            <a:off x="14638006" y="2297122"/>
            <a:ext cx="3421394" cy="1474778"/>
            <a:chOff x="9957728" y="5787050"/>
            <a:chExt cx="2811794" cy="1066800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B9D78CEF-EA94-3C12-99D8-8D5F5E439607}"/>
                </a:ext>
              </a:extLst>
            </p:cNvPr>
            <p:cNvSpPr/>
            <p:nvPr/>
          </p:nvSpPr>
          <p:spPr>
            <a:xfrm>
              <a:off x="9957850" y="5787050"/>
              <a:ext cx="2777159" cy="106680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</a:rPr>
                <a:t>RAG</a:t>
              </a:r>
              <a:r>
                <a:rPr lang="ko-KR" altLang="en-US" sz="2400" dirty="0">
                  <a:solidFill>
                    <a:schemeClr val="tx1"/>
                  </a:solidFill>
                </a:rPr>
                <a:t>를 거친 프롬프트에</a:t>
              </a:r>
              <a:endParaRPr lang="en-US" altLang="ko-KR" sz="2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400" dirty="0">
                  <a:solidFill>
                    <a:schemeClr val="tx1"/>
                  </a:solidFill>
                </a:rPr>
                <a:t>대한 답변</a:t>
              </a:r>
            </a:p>
          </p:txBody>
        </p:sp>
        <p:sp>
          <p:nvSpPr>
            <p:cNvPr id="35" name="액자 34">
              <a:extLst>
                <a:ext uri="{FF2B5EF4-FFF2-40B4-BE49-F238E27FC236}">
                  <a16:creationId xmlns:a16="http://schemas.microsoft.com/office/drawing/2014/main" id="{475145F3-562D-E8AA-FBCB-841B4B36FD35}"/>
                </a:ext>
              </a:extLst>
            </p:cNvPr>
            <p:cNvSpPr/>
            <p:nvPr/>
          </p:nvSpPr>
          <p:spPr>
            <a:xfrm>
              <a:off x="9957728" y="5788685"/>
              <a:ext cx="2811794" cy="1061339"/>
            </a:xfrm>
            <a:prstGeom prst="frame">
              <a:avLst>
                <a:gd name="adj1" fmla="val 4381"/>
              </a:avLst>
            </a:prstGeom>
            <a:solidFill>
              <a:srgbClr val="92D05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E9AF0D-5FFF-F3AF-0442-962C9817B21E}"/>
              </a:ext>
            </a:extLst>
          </p:cNvPr>
          <p:cNvGrpSpPr/>
          <p:nvPr/>
        </p:nvGrpSpPr>
        <p:grpSpPr>
          <a:xfrm>
            <a:off x="2478522" y="6201729"/>
            <a:ext cx="3107014" cy="1245279"/>
            <a:chOff x="13258797" y="2971562"/>
            <a:chExt cx="3107013" cy="124527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4CC242C-E6F4-83FA-2A2F-6F8E88CBD5A3}"/>
                </a:ext>
              </a:extLst>
            </p:cNvPr>
            <p:cNvSpPr/>
            <p:nvPr/>
          </p:nvSpPr>
          <p:spPr>
            <a:xfrm>
              <a:off x="13258799" y="3026821"/>
              <a:ext cx="3107011" cy="1124530"/>
            </a:xfrm>
            <a:prstGeom prst="roundRect">
              <a:avLst>
                <a:gd name="adj" fmla="val 0"/>
              </a:avLst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</a:rPr>
                <a:t>생성형 </a:t>
              </a:r>
              <a:r>
                <a:rPr lang="en-US" altLang="ko-KR" sz="2400" dirty="0">
                  <a:solidFill>
                    <a:schemeClr val="tx1"/>
                  </a:solidFill>
                </a:rPr>
                <a:t>AI (LLM)</a:t>
              </a:r>
              <a:r>
                <a:rPr lang="ko-KR" altLang="en-US" sz="2400" dirty="0">
                  <a:solidFill>
                    <a:schemeClr val="tx1"/>
                  </a:solidFill>
                </a:rPr>
                <a:t>에</a:t>
              </a:r>
              <a:endParaRPr lang="en-US" altLang="ko-KR" sz="24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2400" dirty="0">
                  <a:solidFill>
                    <a:schemeClr val="tx1"/>
                  </a:solidFill>
                </a:rPr>
                <a:t>보낼 전체 프롬프트</a:t>
              </a:r>
            </a:p>
          </p:txBody>
        </p:sp>
        <p:sp>
          <p:nvSpPr>
            <p:cNvPr id="36" name="액자 35">
              <a:extLst>
                <a:ext uri="{FF2B5EF4-FFF2-40B4-BE49-F238E27FC236}">
                  <a16:creationId xmlns:a16="http://schemas.microsoft.com/office/drawing/2014/main" id="{700B28F4-FB12-E9F2-C5D8-9A846A146BB1}"/>
                </a:ext>
              </a:extLst>
            </p:cNvPr>
            <p:cNvSpPr/>
            <p:nvPr/>
          </p:nvSpPr>
          <p:spPr>
            <a:xfrm>
              <a:off x="13258797" y="2971562"/>
              <a:ext cx="3107012" cy="1245279"/>
            </a:xfrm>
            <a:prstGeom prst="frame">
              <a:avLst>
                <a:gd name="adj1" fmla="val 4381"/>
              </a:avLst>
            </a:prstGeom>
            <a:solidFill>
              <a:srgbClr val="00B0F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97C9812-6764-ECED-0E6F-2F5598BA9C26}"/>
              </a:ext>
            </a:extLst>
          </p:cNvPr>
          <p:cNvGrpSpPr/>
          <p:nvPr/>
        </p:nvGrpSpPr>
        <p:grpSpPr>
          <a:xfrm>
            <a:off x="8886938" y="2269604"/>
            <a:ext cx="5594251" cy="3137102"/>
            <a:chOff x="8435395" y="2301558"/>
            <a:chExt cx="5594251" cy="3137102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id="{1B9135D6-CF31-8BCB-A2D4-2DFC0067AEF7}"/>
                </a:ext>
              </a:extLst>
            </p:cNvPr>
            <p:cNvSpPr/>
            <p:nvPr/>
          </p:nvSpPr>
          <p:spPr>
            <a:xfrm>
              <a:off x="8435395" y="2455275"/>
              <a:ext cx="5504400" cy="2857437"/>
            </a:xfrm>
            <a:custGeom>
              <a:avLst/>
              <a:gdLst/>
              <a:ahLst/>
              <a:cxnLst/>
              <a:rect l="l" t="t" r="r" b="b"/>
              <a:pathLst>
                <a:path w="17179555" h="9405806">
                  <a:moveTo>
                    <a:pt x="0" y="0"/>
                  </a:moveTo>
                  <a:lnTo>
                    <a:pt x="17179555" y="0"/>
                  </a:lnTo>
                  <a:lnTo>
                    <a:pt x="17179555" y="9405806"/>
                  </a:lnTo>
                  <a:lnTo>
                    <a:pt x="0" y="940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55489" t="-313075" r="-104623" b="-190056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9" name="액자 28">
              <a:extLst>
                <a:ext uri="{FF2B5EF4-FFF2-40B4-BE49-F238E27FC236}">
                  <a16:creationId xmlns:a16="http://schemas.microsoft.com/office/drawing/2014/main" id="{D110036C-3166-074A-C777-B06141C23005}"/>
                </a:ext>
              </a:extLst>
            </p:cNvPr>
            <p:cNvSpPr/>
            <p:nvPr/>
          </p:nvSpPr>
          <p:spPr>
            <a:xfrm>
              <a:off x="8435395" y="2301558"/>
              <a:ext cx="5594251" cy="3137102"/>
            </a:xfrm>
            <a:prstGeom prst="frame">
              <a:avLst>
                <a:gd name="adj1" fmla="val 2540"/>
              </a:avLst>
            </a:prstGeom>
            <a:solidFill>
              <a:srgbClr val="92D05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B26E239-3C57-265E-0D3A-53F81D12C7C1}"/>
              </a:ext>
            </a:extLst>
          </p:cNvPr>
          <p:cNvGrpSpPr/>
          <p:nvPr/>
        </p:nvGrpSpPr>
        <p:grpSpPr>
          <a:xfrm>
            <a:off x="8886938" y="5760423"/>
            <a:ext cx="5615430" cy="3525437"/>
            <a:chOff x="8865758" y="5976857"/>
            <a:chExt cx="5615430" cy="3525437"/>
          </a:xfrm>
        </p:grpSpPr>
        <p:sp>
          <p:nvSpPr>
            <p:cNvPr id="40" name="Freeform 2">
              <a:extLst>
                <a:ext uri="{FF2B5EF4-FFF2-40B4-BE49-F238E27FC236}">
                  <a16:creationId xmlns:a16="http://schemas.microsoft.com/office/drawing/2014/main" id="{8E558A33-A868-2185-8790-9D4EABF83767}"/>
                </a:ext>
              </a:extLst>
            </p:cNvPr>
            <p:cNvSpPr/>
            <p:nvPr/>
          </p:nvSpPr>
          <p:spPr>
            <a:xfrm>
              <a:off x="8865758" y="6002227"/>
              <a:ext cx="5594251" cy="3500067"/>
            </a:xfrm>
            <a:custGeom>
              <a:avLst/>
              <a:gdLst/>
              <a:ahLst/>
              <a:cxnLst/>
              <a:rect l="l" t="t" r="r" b="b"/>
              <a:pathLst>
                <a:path w="17179555" h="9405806">
                  <a:moveTo>
                    <a:pt x="0" y="0"/>
                  </a:moveTo>
                  <a:lnTo>
                    <a:pt x="17179555" y="0"/>
                  </a:lnTo>
                  <a:lnTo>
                    <a:pt x="17179555" y="9405806"/>
                  </a:lnTo>
                  <a:lnTo>
                    <a:pt x="0" y="940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55489" t="-244036" r="-104623" b="-12412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5" name="액자 44">
              <a:extLst>
                <a:ext uri="{FF2B5EF4-FFF2-40B4-BE49-F238E27FC236}">
                  <a16:creationId xmlns:a16="http://schemas.microsoft.com/office/drawing/2014/main" id="{F162E204-AC46-3451-C4DE-F72EA7952F4B}"/>
                </a:ext>
              </a:extLst>
            </p:cNvPr>
            <p:cNvSpPr/>
            <p:nvPr/>
          </p:nvSpPr>
          <p:spPr>
            <a:xfrm>
              <a:off x="8886935" y="5976857"/>
              <a:ext cx="5594253" cy="2444712"/>
            </a:xfrm>
            <a:prstGeom prst="frame">
              <a:avLst>
                <a:gd name="adj1" fmla="val 3199"/>
              </a:avLst>
            </a:prstGeom>
            <a:solidFill>
              <a:srgbClr val="FFFF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1671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89C2-F899-2CE6-5E4F-B4CF5081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ADA29C-5A65-EEB2-82FB-3E751C2AC438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DE529B-5A8B-6067-52A7-4236F0C06D51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14132AC-83C8-95EE-0FE3-93E5EBC00E49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9AEEAC4-FCE6-F3AC-4937-5AC7ACF1FAB4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5116B91-05E6-1FC1-2745-5B5F7BB68606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773496-D4DB-39A3-E6D5-9A58F9915B9D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E80D1CB-890A-35EF-61A9-721A36E967CC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B29AA-AA66-1B90-17B3-370A62AA1E11}"/>
              </a:ext>
            </a:extLst>
          </p:cNvPr>
          <p:cNvSpPr txBox="1"/>
          <p:nvPr/>
        </p:nvSpPr>
        <p:spPr>
          <a:xfrm>
            <a:off x="5467350" y="4420225"/>
            <a:ext cx="7353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프로젝트 관리</a:t>
            </a:r>
          </a:p>
        </p:txBody>
      </p:sp>
    </p:spTree>
    <p:extLst>
      <p:ext uri="{BB962C8B-B14F-4D97-AF65-F5344CB8AC3E}">
        <p14:creationId xmlns:p14="http://schemas.microsoft.com/office/powerpoint/2010/main" val="339217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AEE7-4633-B3ED-90BB-C70434B7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FE89FF63-0A1B-514E-A1E7-FF66EE06ED69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FEDD7A66-8C02-3B94-C1ED-15A14BFC6E68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86C0FAA-CA78-70C2-536A-81249C88B4E6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91F9626D-1CC7-41C0-0A0E-C79562A7BC2B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726002D5-0B2F-1F18-57E6-C1861BFBBCE4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86258BE1-BA7E-FA6D-63B3-CBF5BEB2D57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FE668C7-F965-AFF8-4EA6-26F7ECF0F304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90B136D7-56FB-CEDD-728D-DA8FF1597C0C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AAD62EB7-EF58-126F-5C5F-24CC353BE2B4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75D48C17-4567-00B0-AEFA-B18869EF479B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B054BBB0-7A7F-DF32-5770-000ECEDA6C89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7383A1-9FBB-EC62-8D66-B25E62772BFD}"/>
              </a:ext>
            </a:extLst>
          </p:cNvPr>
          <p:cNvSpPr txBox="1"/>
          <p:nvPr/>
        </p:nvSpPr>
        <p:spPr>
          <a:xfrm>
            <a:off x="11825705" y="1300298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진척관리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21382C8-09ED-1F7E-8F99-1320C7E590D2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A19E952-B489-3C6D-A3A0-39A90720E2B8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E75CC89-A361-AFB1-2A5F-02B9E7692B11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F76B741F-EA48-FDA7-4E87-5FF99A373071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2CB9ED-4EB1-2E46-632B-B7510A1174D2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4EDFF5-5B01-DCE7-EC64-42EF42FEE0C5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DC2FF3-5484-42C8-BE93-01631D133EC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933C88-F062-A1A6-44D9-8E4936B51225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6DD6A2-17A4-A070-18EE-74B316E464C4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5A5626-1E57-E528-8325-F3A06A0B06CD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3EA07E-037B-1AE6-EE89-DCB32C8AFE55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E67E7A-82D6-98DD-5BDC-70A08DA1097B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F499E7D-B3F8-45F5-2A15-D6A5F53D0BDD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488DB4D6-F084-D7A3-0AAD-0EEDA1390E5C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3DEABF-4E19-8937-3EA6-9773297623C1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62">
            <a:extLst>
              <a:ext uri="{FF2B5EF4-FFF2-40B4-BE49-F238E27FC236}">
                <a16:creationId xmlns:a16="http://schemas.microsoft.com/office/drawing/2014/main" id="{38D01233-06ED-6ED2-B609-037DC88457B1}"/>
              </a:ext>
            </a:extLst>
          </p:cNvPr>
          <p:cNvSpPr/>
          <p:nvPr/>
        </p:nvSpPr>
        <p:spPr>
          <a:xfrm>
            <a:off x="1916640" y="2278634"/>
            <a:ext cx="16021694" cy="7563188"/>
          </a:xfrm>
          <a:custGeom>
            <a:avLst/>
            <a:gdLst/>
            <a:ahLst/>
            <a:cxnLst/>
            <a:rect l="l" t="t" r="r" b="b"/>
            <a:pathLst>
              <a:path w="14454720" h="6089400">
                <a:moveTo>
                  <a:pt x="0" y="0"/>
                </a:moveTo>
                <a:lnTo>
                  <a:pt x="14454720" y="0"/>
                </a:lnTo>
                <a:lnTo>
                  <a:pt x="14454720" y="6089400"/>
                </a:lnTo>
                <a:lnTo>
                  <a:pt x="0" y="6089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" b="-1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262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5E1C-0C6A-9CA0-5D4B-E6C89A94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E4DBE4F-1770-8DEF-170E-8F714B67C2A2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A7617878-4BDE-2EC6-A3FA-190B1F0A288F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1A4EE22-BD64-EC96-1C48-A67644CD0825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BCD809C7-9B54-5F9D-9F17-F969198F7941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CB652ED8-E12E-40DC-F393-BA19E3532F3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4835E4EB-1931-F60D-4C58-BC16C82EC727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E8B4A63-B631-8091-23AD-A95F5AC41647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A8DA433C-7827-7E08-0A34-2C8329152D90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600A1CC-EF68-4F75-FF73-3557D0DFEDF6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CA954F83-B8C8-4811-49EE-7BB9F21339DA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427B5F71-775E-CD4C-9D5E-FD1CEF58526C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33E90-393A-F4DF-78BD-A76B73943DB3}"/>
              </a:ext>
            </a:extLst>
          </p:cNvPr>
          <p:cNvSpPr txBox="1"/>
          <p:nvPr/>
        </p:nvSpPr>
        <p:spPr>
          <a:xfrm>
            <a:off x="9068762" y="1479907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회의록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707F1D8-A112-8DF3-C269-7A1821F38E80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C329C82-BE5C-4CF0-3F63-E415EDB91D77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8006487D-7A66-4C52-8CE7-78C185A92F5C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8AA5D10C-BCB1-A3C2-B002-A9CBD6E1A4EB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C1A567-C756-0E7D-AC70-2C3357701CBA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D6B56F-911A-E3A6-30A4-8293BD87D4EC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489672-9264-5873-3BCE-104F87A3E952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FE4816-FE11-1D2F-7E12-36D3B7E1CAB4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61E657-4AD9-0E19-0794-6A68212707A1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B18B27-FA44-2C20-C5A4-4FBCD3FF8A9A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21DF3B-DD4C-C2F3-B594-D2F55A74468E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FFBB15-E3FB-A2CD-91F1-26C17898F8F2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EA4DE3E-293B-48F2-DB27-C4150E3B1011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756ADF46-9D63-21F5-88D9-7241C77FB093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722076-8413-C669-15B1-45824710BFF0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A20F0822-8BEF-31D2-C99A-FF2C1F2FAF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7151" y="2231887"/>
            <a:ext cx="9802329" cy="57345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91CBD7D-162C-5B42-7BB5-97743EF8BE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8315" y="2239223"/>
            <a:ext cx="9149342" cy="624164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569BE8B-1FE9-A490-0AB1-146099A216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14958" y="962731"/>
            <a:ext cx="5686011" cy="89535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4E329A-A9BE-6C08-9CB8-8133BAD30F5F}"/>
              </a:ext>
            </a:extLst>
          </p:cNvPr>
          <p:cNvSpPr txBox="1"/>
          <p:nvPr/>
        </p:nvSpPr>
        <p:spPr>
          <a:xfrm>
            <a:off x="2033865" y="8775073"/>
            <a:ext cx="998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회의는 매주 진행하였으며 모든 회의는 회의록을 작성하였음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296648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FBE7-3517-1B40-010D-A1DDAC69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C6E37FBE-0355-AD44-1582-189B9188356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33F1A303-E591-F2B4-2404-CACABCD71BDC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C4A56CA-3C82-D3F6-66DD-310BE25794A3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32547479-F44C-6AA1-7B86-CB2FA1354F8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CB3639AD-3B24-7C2C-95F5-3666EDB3A1BE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4D7984C8-DEE9-F6F0-8C74-9EDA0102DC1E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4D912F4-74F0-3277-8F28-A35DCA3C75B4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7385B4D1-C9FC-167F-120F-608FE8F013B4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2F64A2D1-89A0-A52B-5EBC-0446D32151D2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E1D0F559-3C9F-B4B9-76AA-DB7888E099B7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12608608-AB33-6864-C6EB-607AEF9CA60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13A893-3902-00D7-1C2A-CF872770DE34}"/>
              </a:ext>
            </a:extLst>
          </p:cNvPr>
          <p:cNvSpPr txBox="1"/>
          <p:nvPr/>
        </p:nvSpPr>
        <p:spPr>
          <a:xfrm>
            <a:off x="10901408" y="1381440"/>
            <a:ext cx="6186552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형상관리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8FA861A-6031-4AD0-D395-A8DA203ABE4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BAEE3CD-D6F9-5C51-E179-02885F090089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193E217-3832-1D99-F022-9EC1EBF1F9EA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46671C73-EABD-912D-D520-0B0937533C74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D05870-6190-61C7-4267-7DB0A4EEAD8E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0C814D-A281-A17B-AC77-DB84AD6DFD57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9A3E2D-BBC9-53A2-298B-57659CFFAA51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D9AA12-BFE5-5FC5-EBE0-BCF3C69AD37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732B8C-6EEC-BCEC-A2E6-5BF9C74B4463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8F40BD-42BF-872A-00B9-F93E59B350C8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938EE5-00D8-F0C8-42D5-649210B1715A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1DFA26-924D-E671-4384-48E895A04305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25173F-BDEC-CB69-A76C-94F7464FBDD9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AD8D0B02-4BF4-2B2F-6102-C86C4CCE8E97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5F18E9-7A14-C81F-DD79-488E4D9B881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Freeform 19">
            <a:extLst>
              <a:ext uri="{FF2B5EF4-FFF2-40B4-BE49-F238E27FC236}">
                <a16:creationId xmlns:a16="http://schemas.microsoft.com/office/drawing/2014/main" id="{13EAB01D-DAE7-AF5F-926E-67E6FA9C6B61}"/>
              </a:ext>
            </a:extLst>
          </p:cNvPr>
          <p:cNvSpPr/>
          <p:nvPr/>
        </p:nvSpPr>
        <p:spPr>
          <a:xfrm>
            <a:off x="2237089" y="2222782"/>
            <a:ext cx="12135660" cy="6246394"/>
          </a:xfrm>
          <a:custGeom>
            <a:avLst/>
            <a:gdLst/>
            <a:ahLst/>
            <a:cxnLst/>
            <a:rect l="l" t="t" r="r" b="b"/>
            <a:pathLst>
              <a:path w="11391480" h="6313320">
                <a:moveTo>
                  <a:pt x="0" y="0"/>
                </a:moveTo>
                <a:lnTo>
                  <a:pt x="11391480" y="0"/>
                </a:lnTo>
                <a:lnTo>
                  <a:pt x="11391480" y="6313320"/>
                </a:lnTo>
                <a:lnTo>
                  <a:pt x="0" y="63133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" b="-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2314D-1334-AF05-0CB7-A6C4464E796E}"/>
              </a:ext>
            </a:extLst>
          </p:cNvPr>
          <p:cNvSpPr txBox="1"/>
          <p:nvPr/>
        </p:nvSpPr>
        <p:spPr>
          <a:xfrm>
            <a:off x="2292152" y="8905560"/>
            <a:ext cx="12833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프로젝트 형상 관리는 </a:t>
            </a:r>
            <a:r>
              <a:rPr lang="en-US" altLang="ko-KR" sz="2800" dirty="0"/>
              <a:t>GitHub</a:t>
            </a:r>
            <a:r>
              <a:rPr lang="ko-KR" altLang="en-US" sz="2800" dirty="0"/>
              <a:t>로 진행하였으며 개발 생명주기에 맞춰 디렉토리를  분류하여 관리하였음</a:t>
            </a:r>
          </a:p>
        </p:txBody>
      </p:sp>
    </p:spTree>
    <p:extLst>
      <p:ext uri="{BB962C8B-B14F-4D97-AF65-F5344CB8AC3E}">
        <p14:creationId xmlns:p14="http://schemas.microsoft.com/office/powerpoint/2010/main" val="26306250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E2D7-E3FA-764D-7DF3-340840AD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9A55FD4-D45D-99C4-93EE-F841377049E3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AAFBC8F5-8842-8028-9E0F-2BA1BF25F4D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C2C6716-449F-2D3F-44EB-9181D06084E3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207B7FF1-8534-3AD6-612B-D1AB3F7B92A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1862E187-2DD6-9680-3C12-C56CD5305743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5D6C71F1-37C1-D240-A2F0-A5740D7C92C9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F58992F-2B7C-6DF4-7C85-CD73F294D58A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F14B2AFF-504B-1733-E799-00C2896F45CF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056717C-470A-59B3-5850-87A0E2160938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9755DA07-9F31-C76B-F3C3-7C076C1F10E4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1BC3E0E4-798A-251E-F271-62C6B28408A4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8D7BDE-020D-430A-45AA-B3C78D2F5567}"/>
              </a:ext>
            </a:extLst>
          </p:cNvPr>
          <p:cNvSpPr txBox="1"/>
          <p:nvPr/>
        </p:nvSpPr>
        <p:spPr>
          <a:xfrm>
            <a:off x="9837044" y="1492570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진척관리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9101C94-1777-96CE-1B36-78BB8DF541A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9BDDB45-E894-01AC-400E-82DFAF023F7E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3E9A7DCE-E453-45DA-E219-0D1419BD8901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CA7CE3B8-3923-D089-3A2C-4575A13D2366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02EDD4-6EDB-4F83-EDF1-591879E1D5EC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F453C3-3C14-F2E6-C378-556ABC9D0AA4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572937-4767-DC56-6645-33011CBC2793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ECBA20-982D-46D9-58F0-431B56D4D26A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2343D2-37DE-945B-E8A2-F4B89A5D6996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B674C7-397E-DBE5-EC4D-21351DE63B6C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B4C3A9-2815-47D7-BF2D-3E1D8D38DE0C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C02D4F-033F-1ED1-7A6D-04C65F22616F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51159F4-A500-E9E6-FA73-DE166D0F38D4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DBE65E7A-F605-4D8F-98F2-07902EEC47E7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339B87-87F4-4252-5EAD-BB6A36A1A5B2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52A201-161B-8D5A-F91F-2EBFA197FA90}"/>
              </a:ext>
            </a:extLst>
          </p:cNvPr>
          <p:cNvSpPr txBox="1"/>
          <p:nvPr/>
        </p:nvSpPr>
        <p:spPr>
          <a:xfrm>
            <a:off x="1993183" y="9266020"/>
            <a:ext cx="1196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기획 단계에서 작성한 프로젝트 관련 자료조사와 프로젝트 수행 계획서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9CFAB1-0A2D-6E44-B8E3-CD5A6CC01B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9512" y="2222782"/>
            <a:ext cx="5435632" cy="68365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05C9D0E-802E-660F-2D2B-CB47034AF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1650" y="1952853"/>
            <a:ext cx="5022782" cy="710649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813BFC3-D83F-316E-A958-FBF86DC854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93157" y="1950167"/>
            <a:ext cx="5243558" cy="71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11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09C2-C636-C4AA-36E9-0FE314A6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213DA12-FC7D-7EA8-2DB2-B86D82C964C2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ABA2FA3-7394-EAC2-4534-7945E441E415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8B1A896-E5EB-7AFB-5B00-9933DB90EDA5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6A163814-AAC5-AB95-6E55-5DEEA501B9D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7B056DF9-8B5F-DEDA-68AA-FD3DB7930DD5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A040EA71-3347-8398-5645-E384EC3DEC6A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938F1428-E77D-A51B-1333-999B5BBD2110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C2A0B018-C275-7F6C-7C87-06B4D9D43E1D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D0629661-D0E8-18A4-7521-BEC403D27664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5918C0F9-94C6-8CC8-F896-EA5F72DFD22E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8D88DF20-DD0F-D474-B7CA-506A78CC4442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0667A-D570-5F17-9E09-BBBF9D41BA44}"/>
              </a:ext>
            </a:extLst>
          </p:cNvPr>
          <p:cNvSpPr txBox="1"/>
          <p:nvPr/>
        </p:nvSpPr>
        <p:spPr>
          <a:xfrm>
            <a:off x="11825705" y="1300298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요구</a:t>
            </a: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분석</a:t>
            </a: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ko-KR" altLang="en-US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및 설계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13369DA-007D-9F9A-B312-8B0DA82AC0DD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0BA1F28-21DC-ACB1-7225-893FFFF507F0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5462BA60-F01D-E699-95CF-B5037C3B66FA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6E878B12-0ECD-D881-1BA9-0A7BB377C5B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A06FB6-ED7A-C7A4-E147-A3E27F2F4CD7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A729F9-A0A6-5A5D-8AB5-9E64DB7CB332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2CDB1C-4EDC-1681-C39A-A6BA78103BEF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C7162A-97E3-355E-8565-2F15049E8CCE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1872CE-387F-AF2C-AD6F-A90A039E5B39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6809C48-5E68-126C-1E81-989121468CC2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7E71D0-BDD9-2275-6049-8EB02B4F38FC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8D2A8D-AEBE-376D-EA59-6EEC72041087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0AB2832-F583-DA68-6C4E-299E59A1070E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6B3B9E9A-A1C4-373F-069E-65944498A8DD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1447E1-2221-AB2E-1F4A-6D29631D521C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9">
            <a:extLst>
              <a:ext uri="{FF2B5EF4-FFF2-40B4-BE49-F238E27FC236}">
                <a16:creationId xmlns:a16="http://schemas.microsoft.com/office/drawing/2014/main" id="{07994530-7FB3-88FB-80C6-24EEE2F190C9}"/>
              </a:ext>
            </a:extLst>
          </p:cNvPr>
          <p:cNvSpPr/>
          <p:nvPr/>
        </p:nvSpPr>
        <p:spPr>
          <a:xfrm>
            <a:off x="2173612" y="2219612"/>
            <a:ext cx="8418188" cy="6831367"/>
          </a:xfrm>
          <a:custGeom>
            <a:avLst/>
            <a:gdLst/>
            <a:ahLst/>
            <a:cxnLst/>
            <a:rect l="l" t="t" r="r" b="b"/>
            <a:pathLst>
              <a:path w="7551009" h="6213357">
                <a:moveTo>
                  <a:pt x="0" y="0"/>
                </a:moveTo>
                <a:lnTo>
                  <a:pt x="7551009" y="0"/>
                </a:lnTo>
                <a:lnTo>
                  <a:pt x="7551009" y="6213357"/>
                </a:lnTo>
                <a:lnTo>
                  <a:pt x="0" y="62133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1" r="-60020" b="-16900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D98E0AEF-1739-6196-8034-C9A829532FB0}"/>
              </a:ext>
            </a:extLst>
          </p:cNvPr>
          <p:cNvSpPr/>
          <p:nvPr/>
        </p:nvSpPr>
        <p:spPr>
          <a:xfrm>
            <a:off x="7716801" y="2159523"/>
            <a:ext cx="8877023" cy="6891456"/>
          </a:xfrm>
          <a:custGeom>
            <a:avLst/>
            <a:gdLst/>
            <a:ahLst/>
            <a:cxnLst/>
            <a:rect l="l" t="t" r="r" b="b"/>
            <a:pathLst>
              <a:path w="8771133" h="6002939">
                <a:moveTo>
                  <a:pt x="0" y="0"/>
                </a:moveTo>
                <a:lnTo>
                  <a:pt x="8771133" y="0"/>
                </a:lnTo>
                <a:lnTo>
                  <a:pt x="8771133" y="6002939"/>
                </a:lnTo>
                <a:lnTo>
                  <a:pt x="0" y="6002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" r="-87964" b="-14030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F634B-6DFA-41AD-69C6-F3BC10DA745B}"/>
              </a:ext>
            </a:extLst>
          </p:cNvPr>
          <p:cNvSpPr txBox="1"/>
          <p:nvPr/>
        </p:nvSpPr>
        <p:spPr>
          <a:xfrm>
            <a:off x="2015665" y="9149647"/>
            <a:ext cx="10969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요구 분석 및 설계 단계에서 작성한 각종 요구사항 문서와 설계서 </a:t>
            </a:r>
          </a:p>
        </p:txBody>
      </p:sp>
    </p:spTree>
    <p:extLst>
      <p:ext uri="{BB962C8B-B14F-4D97-AF65-F5344CB8AC3E}">
        <p14:creationId xmlns:p14="http://schemas.microsoft.com/office/powerpoint/2010/main" val="1216720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A44D-481F-7011-273A-C51303F9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82CC5C8-EAE6-1B7A-BDBD-034F44CD903F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5EA96E5D-2B59-D1D0-E1B5-457B1C84A789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9FD5EFC-67A9-5E3E-4D99-7D43E3D2207C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D359C2F8-E56A-4BC8-01E0-D5F076F02C41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FD8B25DD-9F1E-0EF8-DFC2-1D7A10F96F4D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ACD8857E-CE57-295B-76C1-CF7A21EF01DB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12EA6BF-CFA1-5604-5AB5-3530BE6F55F5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8C00C22F-254E-75B8-F5B1-D30EBD38CD70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5CF6D495-8256-BD47-7895-45A29E71FF60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C7D1D0A0-2C5A-17B5-6D49-FEA850C8AD62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14CD502C-C1AA-C303-2395-2C0D542BF548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8C03E-0BE6-C7DF-EDD2-586862EA8E98}"/>
              </a:ext>
            </a:extLst>
          </p:cNvPr>
          <p:cNvSpPr txBox="1"/>
          <p:nvPr/>
        </p:nvSpPr>
        <p:spPr>
          <a:xfrm>
            <a:off x="11825705" y="1300298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요구</a:t>
            </a: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600" spc="-99" dirty="0" err="1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분석</a:t>
            </a: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ko-KR" altLang="en-US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및 설계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C02270-5253-249C-7DCD-EFA51BBF7B25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CF9F22A-04CE-F4AA-CE20-A8C645535D06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D65E95DF-C27A-D2C6-4196-6A6AA0F84E97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207D5E96-A237-3E10-DDBD-AF07B5106331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7EF009-0189-1A63-8536-0E681ADFD9BE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49FAA5-8192-A28E-1EA8-1477117C5125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30FD20-AD28-36DC-0B86-EEFFA58F0ABB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699279-76C8-87CD-085B-617CFD93D829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BC09DB-21A8-2784-3DF0-6830E3712D2E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C4A711-49EA-C49F-6C30-48A625637544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5FBECA-953F-EB73-0DE2-4AAEF703C789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3FAB24-8A54-409F-0C99-4A8119978D24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5BF6C8D-6E08-422D-6224-62C79FAE541D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C09E45C0-A6B8-1229-99CA-BAEF690B58A6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25FC06-C063-3029-9B5C-9D2848D5508B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5212795-F06C-1358-AB07-AF613227A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1165" y="2762006"/>
            <a:ext cx="11070296" cy="51854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E695E25-D2BF-813B-C8CB-20D05A7B44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2166" y="2037408"/>
            <a:ext cx="7454168" cy="796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08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87D1-5FA6-CF81-6363-E2C7D6BD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BCCE0FB5-FE48-6F3A-6328-FCC53FCD40C2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D885CF4C-BE78-3A54-78A5-8E96129FCB5E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3E2FB6F-E459-EF62-7625-C5435C955171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A3382FBA-AE4F-977B-6472-5D5B6F4C4C90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012DBBF2-B104-CA39-D968-9F765D683F49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79220726-FD33-1FA6-6301-B1C735C31EA0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EB09B5F-4262-2E56-1293-3F29E0D92E9F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97AF4A1F-89A4-C186-7AF0-22C734F31047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1547F07D-67CC-C1AB-E400-73AB2B9554A7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06D3AA4E-AA9A-6B6C-7311-537D83BE1AE8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79CFCDAD-1E18-A2E4-B94C-2388AEB6E7B7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3EA26-9017-EAAB-4FEF-92CC9D6A0C94}"/>
              </a:ext>
            </a:extLst>
          </p:cNvPr>
          <p:cNvSpPr txBox="1"/>
          <p:nvPr/>
        </p:nvSpPr>
        <p:spPr>
          <a:xfrm>
            <a:off x="11825705" y="1300298"/>
            <a:ext cx="4768119" cy="49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| </a:t>
            </a:r>
            <a:r>
              <a:rPr lang="en-US" altLang="ko-KR" sz="3600" spc="-99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개발</a:t>
            </a:r>
            <a:endParaRPr lang="en-US" altLang="ko-KR" sz="3600" spc="-99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81AA6C9-8332-427A-EFC5-5A51D953A5A4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C0B7B9F-50EF-D6B4-A4B3-19E4718B036B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A1EFCFFF-7F2E-DE4B-5048-DF41FC8EDC39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228401D1-E98F-0D03-D096-A45CC846E485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ECC1C6-F4A7-8D21-71C3-4B3A68BC099A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2E3210-3F03-963C-35AD-AB6910DE2505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8A3BA0-E307-A446-BDC7-EA7B45A6582A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7AF442-2A40-E845-8A82-7FB87DF90A11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723A87-67CE-8749-8296-FA9D34E3D5E4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485D1E-D473-8AFA-2E4C-3F8EAE58138F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854BC-6F6C-FFB4-ACB2-C1F89A3D8E29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96B00D-E11C-A2AF-4027-0593020BE7AC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BA57CAA-080F-DAD8-A333-BB7414214107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20E2AD8E-A424-028B-8F3C-17BED8CDA1EA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C0F15C-4C3F-282D-AA0A-4F97B35DD21D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9" descr="텍스트, 스크린샷, 소프트웨어, 폰트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23270659-4DF8-C520-7ECC-E94EF8814A94}"/>
              </a:ext>
            </a:extLst>
          </p:cNvPr>
          <p:cNvSpPr/>
          <p:nvPr/>
        </p:nvSpPr>
        <p:spPr>
          <a:xfrm>
            <a:off x="2259495" y="2295949"/>
            <a:ext cx="12613894" cy="6189507"/>
          </a:xfrm>
          <a:custGeom>
            <a:avLst/>
            <a:gdLst/>
            <a:ahLst/>
            <a:cxnLst/>
            <a:rect l="l" t="t" r="r" b="b"/>
            <a:pathLst>
              <a:path w="10027694" h="4476839">
                <a:moveTo>
                  <a:pt x="0" y="0"/>
                </a:moveTo>
                <a:lnTo>
                  <a:pt x="10027694" y="0"/>
                </a:lnTo>
                <a:lnTo>
                  <a:pt x="10027694" y="4476839"/>
                </a:lnTo>
                <a:lnTo>
                  <a:pt x="0" y="44768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C201906F-5D45-1E4B-904B-0DDF9C0997AB}"/>
              </a:ext>
            </a:extLst>
          </p:cNvPr>
          <p:cNvSpPr/>
          <p:nvPr/>
        </p:nvSpPr>
        <p:spPr>
          <a:xfrm>
            <a:off x="6684203" y="2322309"/>
            <a:ext cx="9093926" cy="6304358"/>
          </a:xfrm>
          <a:custGeom>
            <a:avLst/>
            <a:gdLst/>
            <a:ahLst/>
            <a:cxnLst/>
            <a:rect l="l" t="t" r="r" b="b"/>
            <a:pathLst>
              <a:path w="10502525" h="4400219">
                <a:moveTo>
                  <a:pt x="0" y="0"/>
                </a:moveTo>
                <a:lnTo>
                  <a:pt x="10502525" y="0"/>
                </a:lnTo>
                <a:lnTo>
                  <a:pt x="10502525" y="4400219"/>
                </a:lnTo>
                <a:lnTo>
                  <a:pt x="0" y="4400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1" r="-70812" b="-3002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BF38F-1451-938C-611C-71BE83490AE9}"/>
              </a:ext>
            </a:extLst>
          </p:cNvPr>
          <p:cNvSpPr txBox="1"/>
          <p:nvPr/>
        </p:nvSpPr>
        <p:spPr>
          <a:xfrm>
            <a:off x="1905000" y="9075371"/>
            <a:ext cx="13518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개발한 모든 코드 산출물들을 버전 관리하였음</a:t>
            </a:r>
          </a:p>
        </p:txBody>
      </p:sp>
    </p:spTree>
    <p:extLst>
      <p:ext uri="{BB962C8B-B14F-4D97-AF65-F5344CB8AC3E}">
        <p14:creationId xmlns:p14="http://schemas.microsoft.com/office/powerpoint/2010/main" val="36113477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5D16-7DD1-2B88-AEC8-5BF9CF09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776B82-BD4F-6CD9-0BCA-B3F2D56EA5A3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A19983EC-8AE4-A85B-4EC2-52225EE9B569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D3368AD-5B51-6D3D-E596-F3B2440F7BE9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188247B5-A66C-ACCA-9A4A-E933733B8718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73D9AFC2-BBA1-7E9C-DCA9-859B878A35F4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8FB10F3F-7936-F5C8-AD48-9B4F20231FC4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3F10555A-775E-B0E2-DBDD-6FE3925240C0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97D38881-BA62-82DB-5458-62686AAF1BC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20D3DC0F-BAE6-2C16-9293-ECEA96CF731E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1216E88C-651D-4804-79B1-761C1DA0689C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67612585-3BFF-96D5-3D13-94420A85BCA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9A08F3-A667-7429-052C-1DC7E21E1780}"/>
              </a:ext>
            </a:extLst>
          </p:cNvPr>
          <p:cNvSpPr txBox="1"/>
          <p:nvPr/>
        </p:nvSpPr>
        <p:spPr>
          <a:xfrm>
            <a:off x="11825705" y="1300298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품질 관리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6238F34-7C9D-22A7-B9CE-44D403D53CD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50919EF-3BCA-037D-B1F1-4DC2E4B026DF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71BEC6A-A1AD-89E0-5F23-E231DAE7A6CA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10F00428-BDCC-93CD-CDC7-3ED803828E13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1A299C-AEB4-2D0D-3B19-A107B09C58B2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F0ECD2-70EB-C92E-BF59-B28B8505DF3D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744262-A111-2B2B-9E20-91A63BE1075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9FA8AD-0A34-69C4-FCA4-CBF9EEE17CC3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E6C12A-3149-093A-B50F-897BDD01F56A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89568D-5A1A-52D9-EDC4-6810BCD89579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1498C5-061F-6AE3-BBFE-8C5DF5E3E52F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05E77C-1B88-D41C-5290-894703422D73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74230DC-67D6-9421-5708-B2261EC7430E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55B0DB9A-CC68-47F2-3A40-1F32C21929BF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3C0317-0A8C-067C-3089-302E7CBD7C66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Freeform 19">
            <a:extLst>
              <a:ext uri="{FF2B5EF4-FFF2-40B4-BE49-F238E27FC236}">
                <a16:creationId xmlns:a16="http://schemas.microsoft.com/office/drawing/2014/main" id="{626A8FA7-6116-F241-C193-A6B4D9DBEB54}"/>
              </a:ext>
            </a:extLst>
          </p:cNvPr>
          <p:cNvSpPr/>
          <p:nvPr/>
        </p:nvSpPr>
        <p:spPr>
          <a:xfrm>
            <a:off x="2247036" y="2199481"/>
            <a:ext cx="10097363" cy="6170501"/>
          </a:xfrm>
          <a:custGeom>
            <a:avLst/>
            <a:gdLst/>
            <a:ahLst/>
            <a:cxnLst/>
            <a:rect l="l" t="t" r="r" b="b"/>
            <a:pathLst>
              <a:path w="8900960" h="4609247">
                <a:moveTo>
                  <a:pt x="0" y="0"/>
                </a:moveTo>
                <a:lnTo>
                  <a:pt x="8900960" y="0"/>
                </a:lnTo>
                <a:lnTo>
                  <a:pt x="8900960" y="4609247"/>
                </a:lnTo>
                <a:lnTo>
                  <a:pt x="0" y="46092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817" r="-3817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076592AB-C05F-E71E-7D9C-610A296D2A1B}"/>
              </a:ext>
            </a:extLst>
          </p:cNvPr>
          <p:cNvSpPr/>
          <p:nvPr/>
        </p:nvSpPr>
        <p:spPr>
          <a:xfrm>
            <a:off x="6391913" y="2199481"/>
            <a:ext cx="6217738" cy="6417539"/>
          </a:xfrm>
          <a:custGeom>
            <a:avLst/>
            <a:gdLst/>
            <a:ahLst/>
            <a:cxnLst/>
            <a:rect l="l" t="t" r="r" b="b"/>
            <a:pathLst>
              <a:path w="7535327" h="4001058">
                <a:moveTo>
                  <a:pt x="0" y="0"/>
                </a:moveTo>
                <a:lnTo>
                  <a:pt x="7535327" y="0"/>
                </a:lnTo>
                <a:lnTo>
                  <a:pt x="7535327" y="4001058"/>
                </a:lnTo>
                <a:lnTo>
                  <a:pt x="0" y="4001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119882" b="1402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EBC99619-15F3-F809-1F35-D2AD07EB4DC0}"/>
              </a:ext>
            </a:extLst>
          </p:cNvPr>
          <p:cNvSpPr/>
          <p:nvPr/>
        </p:nvSpPr>
        <p:spPr>
          <a:xfrm>
            <a:off x="11917859" y="2097538"/>
            <a:ext cx="6217739" cy="7335478"/>
          </a:xfrm>
          <a:custGeom>
            <a:avLst/>
            <a:gdLst/>
            <a:ahLst/>
            <a:cxnLst/>
            <a:rect l="l" t="t" r="r" b="b"/>
            <a:pathLst>
              <a:path w="7490561" h="7382723">
                <a:moveTo>
                  <a:pt x="0" y="0"/>
                </a:moveTo>
                <a:lnTo>
                  <a:pt x="7490561" y="0"/>
                </a:lnTo>
                <a:lnTo>
                  <a:pt x="7490561" y="7382723"/>
                </a:lnTo>
                <a:lnTo>
                  <a:pt x="0" y="73827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r="-73788" b="-26864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A4680-E3E7-E27F-8A9C-AF62BDA64C6B}"/>
              </a:ext>
            </a:extLst>
          </p:cNvPr>
          <p:cNvSpPr txBox="1"/>
          <p:nvPr/>
        </p:nvSpPr>
        <p:spPr>
          <a:xfrm>
            <a:off x="1870130" y="8847130"/>
            <a:ext cx="1073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단위 테스트와 전체 테스트를 </a:t>
            </a:r>
            <a:r>
              <a:rPr lang="ko-KR" altLang="en-US" sz="2800" dirty="0" err="1"/>
              <a:t>진행함으로서</a:t>
            </a:r>
            <a:r>
              <a:rPr lang="ko-KR" altLang="en-US" sz="2800" dirty="0"/>
              <a:t> 품질관리를 하였음</a:t>
            </a:r>
          </a:p>
        </p:txBody>
      </p:sp>
    </p:spTree>
    <p:extLst>
      <p:ext uri="{BB962C8B-B14F-4D97-AF65-F5344CB8AC3E}">
        <p14:creationId xmlns:p14="http://schemas.microsoft.com/office/powerpoint/2010/main" val="4068066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030D-A8D6-9C08-522F-C93E6254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0880FB-5705-C248-2A75-C0F041695AF0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AA26527A-D0FB-BBFA-8C25-D4F66B5A0FAA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D079477-62C0-1BBA-B336-A27BE6C72D51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DA83E511-560D-6543-39E7-1BD086D4AFB7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07E03735-50D4-8D76-4D01-F9570C258A00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6DBC9D33-3AB1-CCC2-F70E-5CD393455FC3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E560A6B4-E91D-36C8-F8E1-41512005B399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60B2DB39-9275-357A-1878-6E0247ED8473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B3F93371-6A26-D221-C1E3-44A86C4B920A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프로젝트</a:t>
            </a:r>
            <a:r>
              <a:rPr lang="en-US" altLang="ko-KR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sz="5400" spc="-301" dirty="0" err="1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699F4B05-2FC5-9DCF-D447-40376373D01C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9AB0B110-D338-6A0C-E055-A4FBACD2B99F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90C87-1894-3201-9325-96EEE37E3059}"/>
              </a:ext>
            </a:extLst>
          </p:cNvPr>
          <p:cNvSpPr txBox="1"/>
          <p:nvPr/>
        </p:nvSpPr>
        <p:spPr>
          <a:xfrm>
            <a:off x="11825705" y="1300298"/>
            <a:ext cx="4768119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altLang="ko-KR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| </a:t>
            </a:r>
            <a:r>
              <a:rPr lang="ko-KR" altLang="en-US" sz="3600" spc="-99" dirty="0">
                <a:solidFill>
                  <a:srgbClr val="747EA7"/>
                </a:solidFill>
                <a:latin typeface="Arimo"/>
                <a:ea typeface="Arimo"/>
                <a:cs typeface="Arimo"/>
                <a:sym typeface="Arimo"/>
              </a:rPr>
              <a:t>품질 관리</a:t>
            </a:r>
            <a:endParaRPr lang="en-US" altLang="ko-KR" sz="3600" spc="-99" dirty="0">
              <a:solidFill>
                <a:srgbClr val="747EA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5287FD0-E344-E216-5007-1D8F572EF1B0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1614356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933C8BC-E6CB-0C41-B1FC-7B1578E58565}"/>
                </a:ext>
              </a:extLst>
            </p:cNvPr>
            <p:cNvGrpSpPr/>
            <p:nvPr/>
          </p:nvGrpSpPr>
          <p:grpSpPr>
            <a:xfrm>
              <a:off x="117348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D867769D-A4B9-D245-EE95-03FB1E3E8371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26A927B9-10DF-6394-DDD6-691BD33FCBDA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2B91A5-CAE9-9837-8986-BF0E04FD60A8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C1426E-740E-B8E7-A0C7-D66A8C13922B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2DD452-0952-FAFC-A9B3-D6F0DB5F606E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BB027C-EC0F-8187-9061-B27A7A25FD81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2E0580-ED28-AAC5-5B63-0D5DC11DB93D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F2DB89-1325-725C-A995-C1479CE6C526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F35C5C-8E86-712C-A42A-9BA4B82C24C2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BD3F0F-BB01-20C4-3756-8F23859E8610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43625C8-5B31-5D9B-DF49-791D2BD1895D}"/>
                </a:ext>
              </a:extLst>
            </p:cNvPr>
            <p:cNvGrpSpPr/>
            <p:nvPr/>
          </p:nvGrpSpPr>
          <p:grpSpPr>
            <a:xfrm>
              <a:off x="11614356" y="5431092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8FCA4F8D-D3A7-D761-2D0F-89EBA3B960F7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FF85AF-6070-8424-5F6A-268EB862960E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6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9" name="그림 28" descr="텍스트, 번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4E1B9D-1E48-1B06-D65D-80CA3D01EC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051" y="2169507"/>
            <a:ext cx="13951993" cy="770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61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A53F-C3CA-F5BD-A188-F3CD2A2C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31AD68-0E0C-4A6D-6182-740DF1E3BA58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F4C8C3-AEE1-969F-32E7-CE4A13EA0D82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A80E5B6-B66C-9126-1D12-618280087E0E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1B85738-EF73-0EC0-72C8-6C9A663CFBA8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1FA7F13-A964-79FB-7F48-7CA9E8E551F0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BC92BA-3547-7D49-11D3-BBC9A15446A0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B60A892-B2DC-F63F-F110-5101EB029E0A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C242B-F6B5-58AE-8272-05354BF69AC0}"/>
              </a:ext>
            </a:extLst>
          </p:cNvPr>
          <p:cNvSpPr txBox="1"/>
          <p:nvPr/>
        </p:nvSpPr>
        <p:spPr>
          <a:xfrm>
            <a:off x="5467350" y="4420225"/>
            <a:ext cx="7353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시연 영상</a:t>
            </a:r>
          </a:p>
        </p:txBody>
      </p:sp>
    </p:spTree>
    <p:extLst>
      <p:ext uri="{BB962C8B-B14F-4D97-AF65-F5344CB8AC3E}">
        <p14:creationId xmlns:p14="http://schemas.microsoft.com/office/powerpoint/2010/main" val="9233314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2305-01FB-7FC2-3647-71DCB206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1E2BC629-A1B0-C913-9F8D-0BE37EE08157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7B38A02-8E54-E4DD-9A40-D3866FA89C64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AC89658-F368-044B-C6F5-5E47ECD0F3EA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A7CBBADF-BF21-F286-4AF3-D72CDFA856A7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6295D0FD-AFFD-2856-9B4A-6EB6DEC39A3F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C4647732-85F3-9D76-D65F-52DB24FCAA3E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5619668-7CC8-5EB5-AF26-51C24CA58DAD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1091108A-0F78-0E6E-450F-08D0259A916E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78B38EE6-9C60-D24D-9D5A-547D2AAB4D08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lnSpc>
                <a:spcPts val="784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시연영상</a:t>
            </a:r>
            <a:endParaRPr lang="en-US" altLang="ko-KR" sz="54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9192F079-98EB-D793-98B9-BDE4DF8981DB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007FD81D-021C-7CF8-EF5D-C3E0942F5B75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251727-3720-C3BC-80E6-73A09D345EA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3086732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864A8FE-5E69-24C1-A379-A54B75AC4087}"/>
                </a:ext>
              </a:extLst>
            </p:cNvPr>
            <p:cNvGrpSpPr/>
            <p:nvPr/>
          </p:nvGrpSpPr>
          <p:grpSpPr>
            <a:xfrm>
              <a:off x="13200575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ECFDC04B-B924-44C0-61A6-423343637682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D0DD2A3A-37F4-B536-91C6-5554D9851DFA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50F5C-1F85-C94D-ACE3-7DEA086F3C1B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9EE4BD-87B8-6774-98FD-55A5C27C222E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BE5EAA-740C-0B60-30DB-F580C782DD08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F3A284-7DDA-C88D-8103-C5107EC97EEB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789-ECF8-1B0E-602B-412D7213469D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ED8CA3-C994-F64E-D41B-4FBD17BF1912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9BC7CE-EA43-C012-533A-601D8CA3C21B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C525BA-9826-2E41-1B38-1AA5C5336F4A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E0DB6CB-0847-EAD6-0DC9-312B981F0A73}"/>
                </a:ext>
              </a:extLst>
            </p:cNvPr>
            <p:cNvGrpSpPr/>
            <p:nvPr/>
          </p:nvGrpSpPr>
          <p:grpSpPr>
            <a:xfrm>
              <a:off x="13086732" y="6333204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AA101382-79E2-ECAB-BC6D-44D83BCA9E8E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A513CC-BE54-DB16-597A-1D2CE06BD804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7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55435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22FE-86A3-5A06-6D6B-C5E04E29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CC825F-0B83-5578-A9BA-74EDCC9EFC54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2752D9D-4466-222D-1890-FFFBDEB287C8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DD715E-8CF7-31F9-3955-1A6944C11D2C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C7FE810-5ACD-5168-D1AD-81815DDCD46E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EB3A3-21A8-3B3D-570C-47998C500C0B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51FA285-C15E-D582-E483-F35DDB7BFFCC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2058B33-4184-71D4-9D73-0C919F5F4AB8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F4547-0F3B-AD2C-17BB-CA28E8F5D241}"/>
              </a:ext>
            </a:extLst>
          </p:cNvPr>
          <p:cNvSpPr txBox="1"/>
          <p:nvPr/>
        </p:nvSpPr>
        <p:spPr>
          <a:xfrm>
            <a:off x="5467350" y="3743117"/>
            <a:ext cx="73533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결론 및 향후 연구방향</a:t>
            </a:r>
          </a:p>
        </p:txBody>
      </p:sp>
    </p:spTree>
    <p:extLst>
      <p:ext uri="{BB962C8B-B14F-4D97-AF65-F5344CB8AC3E}">
        <p14:creationId xmlns:p14="http://schemas.microsoft.com/office/powerpoint/2010/main" val="24448442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B2D0-FC3A-DB7C-E951-F527E43D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517F1D8C-56F0-9AF4-1721-506AE3E8AE38}"/>
              </a:ext>
            </a:extLst>
          </p:cNvPr>
          <p:cNvGrpSpPr/>
          <p:nvPr/>
        </p:nvGrpSpPr>
        <p:grpSpPr>
          <a:xfrm>
            <a:off x="152401" y="128908"/>
            <a:ext cx="17989286" cy="10081892"/>
            <a:chOff x="293770" y="182665"/>
            <a:chExt cx="17847895" cy="990535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ACBB39BF-A2B3-AD60-B9B7-9DD890A1FB7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 rot="5400000">
              <a:off x="8398494" y="-7720304"/>
              <a:ext cx="1638447" cy="17444386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E5DE146-3F73-C2D7-EFAE-7EDE33B7AA2E}"/>
                </a:ext>
              </a:extLst>
            </p:cNvPr>
            <p:cNvGrpSpPr/>
            <p:nvPr/>
          </p:nvGrpSpPr>
          <p:grpSpPr>
            <a:xfrm>
              <a:off x="293770" y="463429"/>
              <a:ext cx="17847895" cy="9624593"/>
              <a:chOff x="220042" y="882901"/>
              <a:chExt cx="17847914" cy="8750794"/>
            </a:xfrm>
          </p:grpSpPr>
          <p:pic>
            <p:nvPicPr>
              <p:cNvPr id="24" name="Picture 3">
                <a:extLst>
                  <a:ext uri="{FF2B5EF4-FFF2-40B4-BE49-F238E27FC236}">
                    <a16:creationId xmlns:a16="http://schemas.microsoft.com/office/drawing/2014/main" id="{9AADF85C-9911-8471-9F6D-5B8B81DC9F83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9" y="-4764695"/>
                <a:ext cx="6552720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6" name="Picture 4">
                <a:extLst>
                  <a:ext uri="{FF2B5EF4-FFF2-40B4-BE49-F238E27FC236}">
                    <a16:creationId xmlns:a16="http://schemas.microsoft.com/office/drawing/2014/main" id="{5E60E5D7-6F42-56B7-189B-4A6FED81EFB2}"/>
                  </a:ext>
                </a:extLst>
              </p:cNvPr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5867638" y="-4676557"/>
                <a:ext cx="6552721" cy="17847911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" name="Picture 5">
                <a:extLst>
                  <a:ext uri="{FF2B5EF4-FFF2-40B4-BE49-F238E27FC236}">
                    <a16:creationId xmlns:a16="http://schemas.microsoft.com/office/drawing/2014/main" id="{1FF16FA9-DBB6-D31E-7CF6-DEA72C214E2F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 rot="5400000">
                <a:off x="4861411" y="-3572849"/>
                <a:ext cx="8565175" cy="17847914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03B74D26-1682-DD5A-51B8-0F46B484751F}"/>
                </a:ext>
              </a:extLst>
            </p:cNvPr>
            <p:cNvSpPr/>
            <p:nvPr/>
          </p:nvSpPr>
          <p:spPr>
            <a:xfrm>
              <a:off x="664285" y="260748"/>
              <a:ext cx="177480" cy="202680"/>
            </a:xfrm>
            <a:custGeom>
              <a:avLst/>
              <a:gdLst/>
              <a:ahLst/>
              <a:cxnLst/>
              <a:rect l="l" t="t" r="r" b="b"/>
              <a:pathLst>
                <a:path w="177480" h="202680">
                  <a:moveTo>
                    <a:pt x="0" y="0"/>
                  </a:moveTo>
                  <a:lnTo>
                    <a:pt x="177480" y="0"/>
                  </a:lnTo>
                  <a:lnTo>
                    <a:pt x="177480" y="202680"/>
                  </a:lnTo>
                  <a:lnTo>
                    <a:pt x="0" y="202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8" r="-19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39" name="Picture 16">
            <a:extLst>
              <a:ext uri="{FF2B5EF4-FFF2-40B4-BE49-F238E27FC236}">
                <a16:creationId xmlns:a16="http://schemas.microsoft.com/office/drawing/2014/main" id="{B15B4410-D09F-69A1-B730-38785B7B996E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2292152" y="2003549"/>
            <a:ext cx="14668200" cy="1224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7">
            <a:extLst>
              <a:ext uri="{FF2B5EF4-FFF2-40B4-BE49-F238E27FC236}">
                <a16:creationId xmlns:a16="http://schemas.microsoft.com/office/drawing/2014/main" id="{9692487F-DACB-A79C-314A-486C06D87627}"/>
              </a:ext>
            </a:extLst>
          </p:cNvPr>
          <p:cNvSpPr/>
          <p:nvPr/>
        </p:nvSpPr>
        <p:spPr>
          <a:xfrm>
            <a:off x="2162726" y="988707"/>
            <a:ext cx="8115120" cy="11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결론</a:t>
            </a:r>
            <a:r>
              <a:rPr lang="en-US" altLang="ko-KR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5400" spc="-301" dirty="0">
                <a:solidFill>
                  <a:srgbClr val="747EA7"/>
                </a:solidFill>
                <a:latin typeface="맑은 고딕" panose="020B0503020000020004" pitchFamily="50" charset="-127"/>
              </a:rPr>
              <a:t>및 향후 연구 방향</a:t>
            </a:r>
            <a:endParaRPr lang="en-US" sz="5400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2" name="Group 19">
            <a:extLst>
              <a:ext uri="{FF2B5EF4-FFF2-40B4-BE49-F238E27FC236}">
                <a16:creationId xmlns:a16="http://schemas.microsoft.com/office/drawing/2014/main" id="{6848A5F7-95A2-7504-0919-5F78D6FFD3A3}"/>
              </a:ext>
            </a:extLst>
          </p:cNvPr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43" name="TextBox 21">
            <a:extLst>
              <a:ext uri="{FF2B5EF4-FFF2-40B4-BE49-F238E27FC236}">
                <a16:creationId xmlns:a16="http://schemas.microsoft.com/office/drawing/2014/main" id="{572ABA63-A058-756A-8153-6337178F3263}"/>
              </a:ext>
            </a:extLst>
          </p:cNvPr>
          <p:cNvSpPr/>
          <p:nvPr/>
        </p:nvSpPr>
        <p:spPr>
          <a:xfrm>
            <a:off x="15125760" y="1523880"/>
            <a:ext cx="71100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45">
              <a:lnSpc>
                <a:spcPct val="99000"/>
              </a:lnSpc>
            </a:pPr>
            <a:r>
              <a:rPr lang="ko-KR" altLang="en-US" spc="-100" dirty="0">
                <a:solidFill>
                  <a:srgbClr val="FCFCFC">
                    <a:alpha val="99000"/>
                  </a:srgbClr>
                </a:solidFill>
                <a:latin typeface="Calibri"/>
                <a:ea typeface="Pretendard Medium"/>
              </a:rPr>
              <a:t>난이</a:t>
            </a:r>
            <a:endParaRPr lang="en-US" spc="-2" dirty="0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5CDFD0E-6A2F-FB25-5278-7AA13FF0550A}"/>
              </a:ext>
            </a:extLst>
          </p:cNvPr>
          <p:cNvGrpSpPr/>
          <p:nvPr/>
        </p:nvGrpSpPr>
        <p:grpSpPr>
          <a:xfrm>
            <a:off x="252001" y="990000"/>
            <a:ext cx="1379534" cy="8888622"/>
            <a:chOff x="14841792" y="342900"/>
            <a:chExt cx="1333500" cy="81153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C308B6F-0CB0-C7E0-E4C2-9507A8375A5C}"/>
                </a:ext>
              </a:extLst>
            </p:cNvPr>
            <p:cNvGrpSpPr/>
            <p:nvPr/>
          </p:nvGrpSpPr>
          <p:grpSpPr>
            <a:xfrm>
              <a:off x="14935200" y="342900"/>
              <a:ext cx="1092200" cy="8115300"/>
              <a:chOff x="3581400" y="405174"/>
              <a:chExt cx="1092200" cy="8115300"/>
            </a:xfrm>
          </p:grpSpPr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0903502A-63C1-F78E-B855-277C3BC4E004}"/>
                  </a:ext>
                </a:extLst>
              </p:cNvPr>
              <p:cNvSpPr/>
              <p:nvPr/>
            </p:nvSpPr>
            <p:spPr>
              <a:xfrm>
                <a:off x="3581400" y="405174"/>
                <a:ext cx="1092200" cy="81153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" h="8115300">
                    <a:moveTo>
                      <a:pt x="0" y="0"/>
                    </a:moveTo>
                    <a:lnTo>
                      <a:pt x="1092200" y="0"/>
                    </a:lnTo>
                    <a:lnTo>
                      <a:pt x="1092200" y="8115300"/>
                    </a:lnTo>
                    <a:lnTo>
                      <a:pt x="0" y="8115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581" r="-581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58">
                <a:extLst>
                  <a:ext uri="{FF2B5EF4-FFF2-40B4-BE49-F238E27FC236}">
                    <a16:creationId xmlns:a16="http://schemas.microsoft.com/office/drawing/2014/main" id="{E57A0AFF-A3D2-FB9B-146D-EBE76FD58ED4}"/>
                  </a:ext>
                </a:extLst>
              </p:cNvPr>
              <p:cNvSpPr/>
              <p:nvPr/>
            </p:nvSpPr>
            <p:spPr>
              <a:xfrm>
                <a:off x="3981450" y="609601"/>
                <a:ext cx="2921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30200">
                    <a:moveTo>
                      <a:pt x="0" y="0"/>
                    </a:moveTo>
                    <a:lnTo>
                      <a:pt x="292100" y="0"/>
                    </a:lnTo>
                    <a:lnTo>
                      <a:pt x="292100" y="330200"/>
                    </a:lnTo>
                    <a:lnTo>
                      <a:pt x="0" y="330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2" r="-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A4EB62-5BE8-51DB-BB8E-C3416BF03B36}"/>
                  </a:ext>
                </a:extLst>
              </p:cNvPr>
              <p:cNvSpPr txBox="1"/>
              <p:nvPr/>
            </p:nvSpPr>
            <p:spPr>
              <a:xfrm>
                <a:off x="3822700" y="125627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1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EE60D7-F0EE-3257-69B8-E8CBF48EEB39}"/>
                  </a:ext>
                </a:extLst>
              </p:cNvPr>
              <p:cNvSpPr txBox="1"/>
              <p:nvPr/>
            </p:nvSpPr>
            <p:spPr>
              <a:xfrm>
                <a:off x="3822700" y="216291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2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483E11-730A-25E5-330C-B35905BF483C}"/>
                  </a:ext>
                </a:extLst>
              </p:cNvPr>
              <p:cNvSpPr txBox="1"/>
              <p:nvPr/>
            </p:nvSpPr>
            <p:spPr>
              <a:xfrm>
                <a:off x="3822700" y="3029579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3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251689-BD35-133B-AD04-EE4E57B8F1A5}"/>
                  </a:ext>
                </a:extLst>
              </p:cNvPr>
              <p:cNvSpPr txBox="1"/>
              <p:nvPr/>
            </p:nvSpPr>
            <p:spPr>
              <a:xfrm>
                <a:off x="3822700" y="3936221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4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F8F050-4C62-B513-18DF-16E74184E750}"/>
                  </a:ext>
                </a:extLst>
              </p:cNvPr>
              <p:cNvSpPr txBox="1"/>
              <p:nvPr/>
            </p:nvSpPr>
            <p:spPr>
              <a:xfrm>
                <a:off x="3822700" y="4842862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5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230BDD-4795-DAB0-2F18-0C3DBF80234C}"/>
                  </a:ext>
                </a:extLst>
              </p:cNvPr>
              <p:cNvSpPr txBox="1"/>
              <p:nvPr/>
            </p:nvSpPr>
            <p:spPr>
              <a:xfrm>
                <a:off x="3822700" y="5749504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6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2D7EAB-8A0E-8A08-194C-10CE33AE9C9F}"/>
                  </a:ext>
                </a:extLst>
              </p:cNvPr>
              <p:cNvSpPr txBox="1"/>
              <p:nvPr/>
            </p:nvSpPr>
            <p:spPr>
              <a:xfrm>
                <a:off x="3822700" y="6656148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7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CA2DDF-8C18-F0DE-1FB2-17292B46FD4B}"/>
                  </a:ext>
                </a:extLst>
              </p:cNvPr>
              <p:cNvSpPr txBox="1"/>
              <p:nvPr/>
            </p:nvSpPr>
            <p:spPr>
              <a:xfrm>
                <a:off x="3822700" y="7562790"/>
                <a:ext cx="609600" cy="3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</a:rPr>
                  <a:t>8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D64F12D-9190-2B9D-8F23-D5135F846B32}"/>
                </a:ext>
              </a:extLst>
            </p:cNvPr>
            <p:cNvGrpSpPr/>
            <p:nvPr/>
          </p:nvGrpSpPr>
          <p:grpSpPr>
            <a:xfrm>
              <a:off x="14841792" y="7272180"/>
              <a:ext cx="1333500" cy="863600"/>
              <a:chOff x="8227344" y="2113347"/>
              <a:chExt cx="1333500" cy="863600"/>
            </a:xfrm>
          </p:grpSpPr>
          <p:sp>
            <p:nvSpPr>
              <p:cNvPr id="8" name="Freeform 39">
                <a:extLst>
                  <a:ext uri="{FF2B5EF4-FFF2-40B4-BE49-F238E27FC236}">
                    <a16:creationId xmlns:a16="http://schemas.microsoft.com/office/drawing/2014/main" id="{DC54EDCA-AA3D-9DC8-9B58-361A1D12F180}"/>
                  </a:ext>
                </a:extLst>
              </p:cNvPr>
              <p:cNvSpPr/>
              <p:nvPr/>
            </p:nvSpPr>
            <p:spPr>
              <a:xfrm>
                <a:off x="8227344" y="2113347"/>
                <a:ext cx="13335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863600">
                    <a:moveTo>
                      <a:pt x="0" y="0"/>
                    </a:moveTo>
                    <a:lnTo>
                      <a:pt x="1333500" y="0"/>
                    </a:lnTo>
                    <a:lnTo>
                      <a:pt x="1333500" y="863600"/>
                    </a:lnTo>
                    <a:lnTo>
                      <a:pt x="0" y="86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735" b="-735"/>
                </a:stretch>
              </a:blipFill>
            </p:spPr>
            <p:txBody>
              <a:bodyPr/>
              <a:lstStyle/>
              <a:p>
                <a:pPr algn="ctr"/>
                <a:endParaRPr lang="ko-KR" alt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5B87A9-168D-A764-9438-10BA27D1B734}"/>
                  </a:ext>
                </a:extLst>
              </p:cNvPr>
              <p:cNvSpPr txBox="1"/>
              <p:nvPr/>
            </p:nvSpPr>
            <p:spPr>
              <a:xfrm>
                <a:off x="8551194" y="2283537"/>
                <a:ext cx="685800" cy="47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1" dirty="0">
                    <a:solidFill>
                      <a:schemeClr val="bg1"/>
                    </a:solidFill>
                  </a:rPr>
                  <a:t>8</a:t>
                </a:r>
                <a:endParaRPr lang="ko-KR" altLang="en-US" sz="280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TextBox 64">
            <a:extLst>
              <a:ext uri="{FF2B5EF4-FFF2-40B4-BE49-F238E27FC236}">
                <a16:creationId xmlns:a16="http://schemas.microsoft.com/office/drawing/2014/main" id="{94C18360-04B3-1D4C-325C-26D2530F8C09}"/>
              </a:ext>
            </a:extLst>
          </p:cNvPr>
          <p:cNvSpPr txBox="1"/>
          <p:nvPr/>
        </p:nvSpPr>
        <p:spPr>
          <a:xfrm>
            <a:off x="2162726" y="2438179"/>
            <a:ext cx="15538243" cy="65818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039"/>
              </a:lnSpc>
            </a:pPr>
            <a:r>
              <a:rPr lang="en-US" sz="3600" b="1" spc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600" b="1" spc="0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결론</a:t>
            </a:r>
            <a:endParaRPr lang="en-US" sz="3600" b="1" spc="0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289560" lvl="1" indent="-144780">
              <a:lnSpc>
                <a:spcPts val="5759"/>
              </a:lnSpc>
              <a:buFont typeface="Arial"/>
              <a:buChar char="•"/>
            </a:pPr>
            <a:r>
              <a:rPr lang="en-US" altLang="ko-KR" sz="2800" b="1" dirty="0"/>
              <a:t>RAG </a:t>
            </a:r>
            <a:r>
              <a:rPr lang="ko-KR" altLang="en-US" sz="2800" b="1" dirty="0"/>
              <a:t>시스템</a:t>
            </a:r>
            <a:r>
              <a:rPr lang="ko-KR" altLang="en-US" sz="2800" dirty="0"/>
              <a:t>을</a:t>
            </a:r>
            <a:r>
              <a:rPr lang="ko-KR" altLang="en-US" sz="2800" b="1" dirty="0"/>
              <a:t> </a:t>
            </a:r>
            <a:r>
              <a:rPr lang="ko-KR" altLang="en-US" sz="2800" dirty="0"/>
              <a:t>개발함으로써</a:t>
            </a:r>
            <a:r>
              <a:rPr lang="en-US" altLang="ko-KR" sz="2800" dirty="0"/>
              <a:t>, LLM </a:t>
            </a:r>
            <a:r>
              <a:rPr lang="ko-KR" altLang="en-US" sz="2800" dirty="0"/>
              <a:t>응답보다 </a:t>
            </a:r>
            <a:r>
              <a:rPr lang="ko-KR" altLang="en-US" sz="2800" b="1" dirty="0"/>
              <a:t>더 정확하고 </a:t>
            </a:r>
            <a:r>
              <a:rPr lang="ko-KR" altLang="en-US" sz="2800" b="1" dirty="0" err="1"/>
              <a:t>최신화된</a:t>
            </a:r>
            <a:r>
              <a:rPr lang="ko-KR" altLang="en-US" sz="2800" b="1" dirty="0"/>
              <a:t> 정보</a:t>
            </a:r>
            <a:r>
              <a:rPr lang="ko-KR" altLang="en-US" sz="2800" dirty="0"/>
              <a:t>를 얻을 수 있음을 </a:t>
            </a:r>
            <a:r>
              <a:rPr lang="ko-KR" altLang="en-US" sz="2800" b="1" dirty="0"/>
              <a:t>입증</a:t>
            </a:r>
            <a:endParaRPr lang="en-US" altLang="ko-KR" sz="2800" spc="-1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>
              <a:lnSpc>
                <a:spcPts val="5759"/>
              </a:lnSpc>
              <a:buFont typeface="Arial"/>
              <a:buChar char="•"/>
            </a:pPr>
            <a:r>
              <a:rPr lang="en-US" altLang="ko-KR" sz="2800" b="1" dirty="0"/>
              <a:t>RAG </a:t>
            </a:r>
            <a:r>
              <a:rPr lang="ko-KR" altLang="en-US" sz="2800" b="1" dirty="0"/>
              <a:t>시스템</a:t>
            </a:r>
            <a:r>
              <a:rPr lang="ko-KR" altLang="en-US" sz="2800" dirty="0"/>
              <a:t>을 통해</a:t>
            </a:r>
            <a:r>
              <a:rPr lang="ko-KR" altLang="en-US" sz="2800" b="1" dirty="0"/>
              <a:t> 초보 투자자들</a:t>
            </a:r>
            <a:r>
              <a:rPr lang="ko-KR" altLang="en-US" sz="2800" dirty="0"/>
              <a:t>도</a:t>
            </a:r>
            <a:r>
              <a:rPr lang="ko-KR" altLang="en-US" sz="2800" b="1" dirty="0"/>
              <a:t> </a:t>
            </a:r>
            <a:r>
              <a:rPr lang="ko-KR" altLang="en-US" sz="2800" dirty="0"/>
              <a:t>쉽고 정확하게 금융 정보를 얻을 수 있어 </a:t>
            </a:r>
            <a:r>
              <a:rPr lang="ko-KR" altLang="en-US" sz="2800" b="1" dirty="0"/>
              <a:t>진입장벽을 효과적으로 낮춤</a:t>
            </a:r>
            <a:endParaRPr lang="en-US" altLang="ko-KR" sz="2800" b="1" dirty="0"/>
          </a:p>
          <a:p>
            <a:pPr marL="289560" lvl="1" indent="-144780">
              <a:lnSpc>
                <a:spcPts val="5759"/>
              </a:lnSpc>
              <a:buFont typeface="Arial"/>
              <a:buChar char="•"/>
            </a:pPr>
            <a:r>
              <a:rPr lang="ko-KR" altLang="en-US" sz="2800" b="1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개발한 </a:t>
            </a:r>
            <a:r>
              <a:rPr lang="en-US" altLang="ko-KR" sz="2800" b="1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RAG </a:t>
            </a:r>
            <a:r>
              <a:rPr lang="ko-KR" altLang="en-US" sz="2800" b="1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시스템</a:t>
            </a:r>
            <a:r>
              <a:rPr lang="ko-KR" alt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을 활용하여 금융 뿐만 아니라 </a:t>
            </a:r>
            <a:r>
              <a:rPr lang="ko-KR" altLang="en-US" sz="2800" b="1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다른 분야에도 적용 </a:t>
            </a:r>
            <a:r>
              <a:rPr lang="ko-KR" alt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가능</a:t>
            </a:r>
            <a:endParaRPr lang="en-US" altLang="ko-KR" sz="2800" spc="-1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>
              <a:lnSpc>
                <a:spcPts val="5759"/>
              </a:lnSpc>
              <a:buFont typeface="Arial"/>
              <a:buChar char="•"/>
            </a:pPr>
            <a:endParaRPr lang="en-US" sz="2799" b="1" spc="0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337820" lvl="1" indent="-168910" algn="l">
              <a:lnSpc>
                <a:spcPts val="5039"/>
              </a:lnSpc>
            </a:pPr>
            <a:r>
              <a:rPr lang="en-US" sz="3600" b="1" spc="0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향후</a:t>
            </a:r>
            <a:r>
              <a:rPr lang="en-US" sz="3600" b="1" spc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600" b="1" spc="0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연구</a:t>
            </a:r>
            <a:r>
              <a:rPr lang="en-US" sz="3600" b="1" spc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600" b="1" spc="0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방향</a:t>
            </a:r>
            <a:endParaRPr lang="en-US" sz="3600" b="1" spc="0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289560" lvl="1" indent="-144780" algn="l">
              <a:lnSpc>
                <a:spcPts val="5759"/>
              </a:lnSpc>
              <a:buFont typeface="Arial"/>
              <a:buChar char="•"/>
            </a:pP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이외에도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다른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LLM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모델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사용하여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RAG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구현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시도</a:t>
            </a:r>
            <a:endParaRPr lang="en-US" sz="2800" spc="-1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 algn="l">
              <a:lnSpc>
                <a:spcPts val="5759"/>
              </a:lnSpc>
              <a:buFont typeface="Arial"/>
              <a:buChar char="•"/>
            </a:pP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한국어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데이터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전처리와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임베딩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및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유사도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비교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정확도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향상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방안을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모색</a:t>
            </a:r>
            <a:endParaRPr lang="en-US" sz="2800" spc="-1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 algn="l">
              <a:lnSpc>
                <a:spcPts val="5759"/>
              </a:lnSpc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RAG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성능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향상을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위해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높은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차원의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임베딩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과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비용</a:t>
            </a:r>
            <a:r>
              <a:rPr lang="en-US" sz="2800" b="1" spc="-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spc="-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절감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간의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균형을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조절하는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최적화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방안을</a:t>
            </a:r>
            <a:r>
              <a:rPr lang="en-US" sz="28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모색</a:t>
            </a:r>
            <a:endParaRPr lang="en-US" sz="2800" spc="-1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" name="AutoShape 65">
            <a:extLst>
              <a:ext uri="{FF2B5EF4-FFF2-40B4-BE49-F238E27FC236}">
                <a16:creationId xmlns:a16="http://schemas.microsoft.com/office/drawing/2014/main" id="{741ACA06-4F99-2CCC-4F6D-99C7965D3BC2}"/>
              </a:ext>
            </a:extLst>
          </p:cNvPr>
          <p:cNvSpPr/>
          <p:nvPr/>
        </p:nvSpPr>
        <p:spPr>
          <a:xfrm rot="4445">
            <a:off x="2292146" y="6281764"/>
            <a:ext cx="1441451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78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FC99-C0F5-14A4-14A8-0C04C15C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DCDB1F-1A97-F135-417B-6BE7DAC9BE80}"/>
              </a:ext>
            </a:extLst>
          </p:cNvPr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5894B7E-3161-E1FB-AF30-A630224FD140}"/>
              </a:ext>
            </a:extLst>
          </p:cNvPr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BEE3279-C8BF-B694-491C-210349B53EE4}"/>
              </a:ext>
            </a:extLst>
          </p:cNvPr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3867CEE-C55D-049E-0C34-F121E4B4D025}"/>
              </a:ext>
            </a:extLst>
          </p:cNvPr>
          <p:cNvSpPr/>
          <p:nvPr/>
        </p:nvSpPr>
        <p:spPr>
          <a:xfrm rot="5400000">
            <a:off x="5016960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5EDFFA1-D717-047B-08DA-988E192E8EF0}"/>
              </a:ext>
            </a:extLst>
          </p:cNvPr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E88636E-89C0-513C-EC3F-D906776ADCCF}"/>
              </a:ext>
            </a:extLst>
          </p:cNvPr>
          <p:cNvSpPr/>
          <p:nvPr/>
        </p:nvSpPr>
        <p:spPr>
          <a:xfrm>
            <a:off x="3084510" y="3512210"/>
            <a:ext cx="12118980" cy="326258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AFC2944-7FC7-5C28-C912-F227F83B4A3A}"/>
              </a:ext>
            </a:extLst>
          </p:cNvPr>
          <p:cNvSpPr/>
          <p:nvPr/>
        </p:nvSpPr>
        <p:spPr>
          <a:xfrm>
            <a:off x="7213680" y="4826160"/>
            <a:ext cx="3847680" cy="1536480"/>
          </a:xfrm>
          <a:custGeom>
            <a:avLst/>
            <a:gdLst/>
            <a:ahLst/>
            <a:cxnLst/>
            <a:rect l="l" t="t" r="r" b="b"/>
            <a:pathLst>
              <a:path w="5130240" h="2048640">
                <a:moveTo>
                  <a:pt x="0" y="0"/>
                </a:moveTo>
                <a:lnTo>
                  <a:pt x="5130240" y="0"/>
                </a:lnTo>
                <a:lnTo>
                  <a:pt x="5130240" y="2048640"/>
                </a:lnTo>
                <a:lnTo>
                  <a:pt x="0" y="20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CD483-DEC8-387A-25BE-A21290D55924}"/>
              </a:ext>
            </a:extLst>
          </p:cNvPr>
          <p:cNvSpPr txBox="1"/>
          <p:nvPr/>
        </p:nvSpPr>
        <p:spPr>
          <a:xfrm>
            <a:off x="3232185" y="4420225"/>
            <a:ext cx="118236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</a:rPr>
              <a:t>완성하고자 하는 의지</a:t>
            </a:r>
          </a:p>
        </p:txBody>
      </p:sp>
    </p:spTree>
    <p:extLst>
      <p:ext uri="{BB962C8B-B14F-4D97-AF65-F5344CB8AC3E}">
        <p14:creationId xmlns:p14="http://schemas.microsoft.com/office/powerpoint/2010/main" val="3152005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7FAB-3109-3CEE-1749-22385927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0A173B-003D-7726-30E9-2FFF3A1AD20E}"/>
              </a:ext>
            </a:extLst>
          </p:cNvPr>
          <p:cNvSpPr/>
          <p:nvPr/>
        </p:nvSpPr>
        <p:spPr>
          <a:xfrm rot="5400000">
            <a:off x="8293320" y="-7111800"/>
            <a:ext cx="1701360" cy="16776360"/>
          </a:xfrm>
          <a:custGeom>
            <a:avLst/>
            <a:gdLst/>
            <a:ahLst/>
            <a:cxnLst/>
            <a:rect l="l" t="t" r="r" b="b"/>
            <a:pathLst>
              <a:path w="1701360" h="16776360">
                <a:moveTo>
                  <a:pt x="0" y="0"/>
                </a:moveTo>
                <a:lnTo>
                  <a:pt x="1701360" y="0"/>
                </a:lnTo>
                <a:lnTo>
                  <a:pt x="1701360" y="16776360"/>
                </a:lnTo>
                <a:lnTo>
                  <a:pt x="0" y="1677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" r="-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6853981-D1FE-6ABD-FCCF-423CBA3C06A2}"/>
              </a:ext>
            </a:extLst>
          </p:cNvPr>
          <p:cNvSpPr/>
          <p:nvPr/>
        </p:nvSpPr>
        <p:spPr>
          <a:xfrm rot="5400000">
            <a:off x="5867640" y="-4457520"/>
            <a:ext cx="6552720" cy="17233560"/>
          </a:xfrm>
          <a:custGeom>
            <a:avLst/>
            <a:gdLst/>
            <a:ahLst/>
            <a:cxnLst/>
            <a:rect l="l" t="t" r="r" b="b"/>
            <a:pathLst>
              <a:path w="6552720" h="17233560">
                <a:moveTo>
                  <a:pt x="0" y="0"/>
                </a:moveTo>
                <a:lnTo>
                  <a:pt x="6552720" y="0"/>
                </a:lnTo>
                <a:lnTo>
                  <a:pt x="6552720" y="17233560"/>
                </a:lnTo>
                <a:lnTo>
                  <a:pt x="0" y="1723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" r="-5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42795E1-427C-01A3-38EA-8D0F574944DB}"/>
              </a:ext>
            </a:extLst>
          </p:cNvPr>
          <p:cNvSpPr/>
          <p:nvPr/>
        </p:nvSpPr>
        <p:spPr>
          <a:xfrm rot="5400000">
            <a:off x="5867640" y="-4343400"/>
            <a:ext cx="6552720" cy="17233560"/>
          </a:xfrm>
          <a:custGeom>
            <a:avLst/>
            <a:gdLst/>
            <a:ahLst/>
            <a:cxnLst/>
            <a:rect l="l" t="t" r="r" b="b"/>
            <a:pathLst>
              <a:path w="6552720" h="17233560">
                <a:moveTo>
                  <a:pt x="0" y="0"/>
                </a:moveTo>
                <a:lnTo>
                  <a:pt x="6552720" y="0"/>
                </a:lnTo>
                <a:lnTo>
                  <a:pt x="6552720" y="17233560"/>
                </a:lnTo>
                <a:lnTo>
                  <a:pt x="0" y="1723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" r="-5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31796E9-E76E-FC21-F44B-A4F787093CC8}"/>
              </a:ext>
            </a:extLst>
          </p:cNvPr>
          <p:cNvSpPr/>
          <p:nvPr/>
        </p:nvSpPr>
        <p:spPr>
          <a:xfrm rot="5400000">
            <a:off x="4775400" y="-3232260"/>
            <a:ext cx="8737200" cy="17233560"/>
          </a:xfrm>
          <a:custGeom>
            <a:avLst/>
            <a:gdLst/>
            <a:ahLst/>
            <a:cxnLst/>
            <a:rect l="l" t="t" r="r" b="b"/>
            <a:pathLst>
              <a:path w="8737200" h="17233560">
                <a:moveTo>
                  <a:pt x="0" y="0"/>
                </a:moveTo>
                <a:lnTo>
                  <a:pt x="8737200" y="0"/>
                </a:lnTo>
                <a:lnTo>
                  <a:pt x="8737200" y="17233560"/>
                </a:lnTo>
                <a:lnTo>
                  <a:pt x="0" y="17233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" r="-19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3F1FAA6-7C0F-D1DD-87EF-598CC36F5EF3}"/>
              </a:ext>
            </a:extLst>
          </p:cNvPr>
          <p:cNvSpPr/>
          <p:nvPr/>
        </p:nvSpPr>
        <p:spPr>
          <a:xfrm>
            <a:off x="2514600" y="2819520"/>
            <a:ext cx="14668200" cy="12240"/>
          </a:xfrm>
          <a:custGeom>
            <a:avLst/>
            <a:gdLst/>
            <a:ahLst/>
            <a:cxnLst/>
            <a:rect l="l" t="t" r="r" b="b"/>
            <a:pathLst>
              <a:path w="14668200" h="12240">
                <a:moveTo>
                  <a:pt x="0" y="0"/>
                </a:moveTo>
                <a:lnTo>
                  <a:pt x="14668200" y="0"/>
                </a:lnTo>
                <a:lnTo>
                  <a:pt x="14668200" y="12240"/>
                </a:lnTo>
                <a:lnTo>
                  <a:pt x="0" y="122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766" b="-27766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26A1644-E4A0-C2B5-3925-57E6ABBFA954}"/>
              </a:ext>
            </a:extLst>
          </p:cNvPr>
          <p:cNvGrpSpPr/>
          <p:nvPr/>
        </p:nvGrpSpPr>
        <p:grpSpPr>
          <a:xfrm>
            <a:off x="15125760" y="1523880"/>
            <a:ext cx="711000" cy="317160"/>
            <a:chOff x="0" y="0"/>
            <a:chExt cx="948000" cy="42288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538E92-98B3-A6EA-68A6-857A1A7843FA}"/>
                </a:ext>
              </a:extLst>
            </p:cNvPr>
            <p:cNvSpPr/>
            <p:nvPr/>
          </p:nvSpPr>
          <p:spPr>
            <a:xfrm>
              <a:off x="0" y="0"/>
              <a:ext cx="948000" cy="422880"/>
            </a:xfrm>
            <a:custGeom>
              <a:avLst/>
              <a:gdLst/>
              <a:ahLst/>
              <a:cxnLst/>
              <a:rect l="l" t="t" r="r" b="b"/>
              <a:pathLst>
                <a:path w="948000" h="422880">
                  <a:moveTo>
                    <a:pt x="0" y="0"/>
                  </a:moveTo>
                  <a:lnTo>
                    <a:pt x="948000" y="0"/>
                  </a:lnTo>
                  <a:lnTo>
                    <a:pt x="94800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B3169C9-C471-5F54-5057-FC0F2ADC8B9F}"/>
                </a:ext>
              </a:extLst>
            </p:cNvPr>
            <p:cNvSpPr txBox="1"/>
            <p:nvPr/>
          </p:nvSpPr>
          <p:spPr>
            <a:xfrm>
              <a:off x="0" y="-19050"/>
              <a:ext cx="94800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난이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2D50C47-777B-67F9-2EB9-C2C0DD9EB569}"/>
              </a:ext>
            </a:extLst>
          </p:cNvPr>
          <p:cNvSpPr/>
          <p:nvPr/>
        </p:nvSpPr>
        <p:spPr>
          <a:xfrm>
            <a:off x="9029880" y="6959520"/>
            <a:ext cx="1142640" cy="1142640"/>
          </a:xfrm>
          <a:custGeom>
            <a:avLst/>
            <a:gdLst/>
            <a:ahLst/>
            <a:cxnLst/>
            <a:rect l="l" t="t" r="r" b="b"/>
            <a:pathLst>
              <a:path w="1142640" h="1142640">
                <a:moveTo>
                  <a:pt x="0" y="0"/>
                </a:moveTo>
                <a:lnTo>
                  <a:pt x="1142640" y="0"/>
                </a:lnTo>
                <a:lnTo>
                  <a:pt x="1142640" y="1142640"/>
                </a:lnTo>
                <a:lnTo>
                  <a:pt x="0" y="114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07DF0A2-D9A9-484D-2163-3B04021A6BAE}"/>
              </a:ext>
            </a:extLst>
          </p:cNvPr>
          <p:cNvSpPr/>
          <p:nvPr/>
        </p:nvSpPr>
        <p:spPr>
          <a:xfrm>
            <a:off x="12318840" y="7010280"/>
            <a:ext cx="964800" cy="964800"/>
          </a:xfrm>
          <a:custGeom>
            <a:avLst/>
            <a:gdLst/>
            <a:ahLst/>
            <a:cxnLst/>
            <a:rect l="l" t="t" r="r" b="b"/>
            <a:pathLst>
              <a:path w="964800" h="964800">
                <a:moveTo>
                  <a:pt x="0" y="0"/>
                </a:moveTo>
                <a:lnTo>
                  <a:pt x="964800" y="0"/>
                </a:lnTo>
                <a:lnTo>
                  <a:pt x="964800" y="964800"/>
                </a:lnTo>
                <a:lnTo>
                  <a:pt x="0" y="96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A8BF48D-711B-BCD6-6EA0-D494FE214DAE}"/>
              </a:ext>
            </a:extLst>
          </p:cNvPr>
          <p:cNvSpPr txBox="1"/>
          <p:nvPr/>
        </p:nvSpPr>
        <p:spPr>
          <a:xfrm>
            <a:off x="2451240" y="1475167"/>
            <a:ext cx="8115120" cy="128081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840"/>
              </a:lnSpc>
            </a:pPr>
            <a:r>
              <a:rPr lang="ko-KR" altLang="en-US" sz="6600" spc="-301" dirty="0">
                <a:solidFill>
                  <a:srgbClr val="747EA7"/>
                </a:solidFill>
                <a:latin typeface="Calibri (MS)"/>
                <a:ea typeface="Calibri (MS)"/>
                <a:cs typeface="Calibri (MS)"/>
                <a:sym typeface="Calibri (MS)"/>
              </a:rPr>
              <a:t>완성하고자 하는 의지</a:t>
            </a:r>
            <a:endParaRPr lang="en-US" sz="6600" spc="-301" dirty="0">
              <a:solidFill>
                <a:srgbClr val="747EA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74980B3-1221-0DB0-A27C-41A4C68D9430}"/>
              </a:ext>
            </a:extLst>
          </p:cNvPr>
          <p:cNvGrpSpPr/>
          <p:nvPr/>
        </p:nvGrpSpPr>
        <p:grpSpPr>
          <a:xfrm>
            <a:off x="858240" y="3225960"/>
            <a:ext cx="825120" cy="456840"/>
            <a:chOff x="0" y="0"/>
            <a:chExt cx="1100160" cy="60912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EB05D6B-F4D1-8EAE-4331-155F2E6534CA}"/>
                </a:ext>
              </a:extLst>
            </p:cNvPr>
            <p:cNvSpPr/>
            <p:nvPr/>
          </p:nvSpPr>
          <p:spPr>
            <a:xfrm>
              <a:off x="0" y="0"/>
              <a:ext cx="1100160" cy="609120"/>
            </a:xfrm>
            <a:custGeom>
              <a:avLst/>
              <a:gdLst/>
              <a:ahLst/>
              <a:cxnLst/>
              <a:rect l="l" t="t" r="r" b="b"/>
              <a:pathLst>
                <a:path w="1100160" h="609120">
                  <a:moveTo>
                    <a:pt x="0" y="0"/>
                  </a:moveTo>
                  <a:lnTo>
                    <a:pt x="1100160" y="0"/>
                  </a:lnTo>
                  <a:lnTo>
                    <a:pt x="1100160" y="609120"/>
                  </a:lnTo>
                  <a:lnTo>
                    <a:pt x="0" y="609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8667615-5227-9218-4AE9-51E0B67988BA}"/>
                </a:ext>
              </a:extLst>
            </p:cNvPr>
            <p:cNvSpPr txBox="1"/>
            <p:nvPr/>
          </p:nvSpPr>
          <p:spPr>
            <a:xfrm>
              <a:off x="0" y="-9525"/>
              <a:ext cx="1100160" cy="618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88"/>
                </a:lnSpc>
              </a:pPr>
              <a:r>
                <a:rPr lang="en-US" sz="2600" spc="-99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Lv.2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C972351-FA23-FC80-E59D-96DF9D9158D1}"/>
              </a:ext>
            </a:extLst>
          </p:cNvPr>
          <p:cNvGrpSpPr/>
          <p:nvPr/>
        </p:nvGrpSpPr>
        <p:grpSpPr>
          <a:xfrm>
            <a:off x="870840" y="4178160"/>
            <a:ext cx="799920" cy="317160"/>
            <a:chOff x="0" y="0"/>
            <a:chExt cx="1066560" cy="42288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842BD2F-A93A-EA69-4918-C0F340D069F3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83C5D3D-FA3B-A425-84A6-3DC98D59931B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Lv.3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FBD201E-D75C-C31E-4EC6-E20A9C50A766}"/>
              </a:ext>
            </a:extLst>
          </p:cNvPr>
          <p:cNvGrpSpPr/>
          <p:nvPr/>
        </p:nvGrpSpPr>
        <p:grpSpPr>
          <a:xfrm>
            <a:off x="870840" y="5067360"/>
            <a:ext cx="799920" cy="317160"/>
            <a:chOff x="0" y="0"/>
            <a:chExt cx="1066560" cy="42288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A544798-FBF2-DC5A-8842-DC13AA364D5F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DF158DE-B272-8B12-99C5-13CEE31930CE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Lv.4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08EDDBB-AB48-E6F5-6154-AF508410EF02}"/>
              </a:ext>
            </a:extLst>
          </p:cNvPr>
          <p:cNvGrpSpPr/>
          <p:nvPr/>
        </p:nvGrpSpPr>
        <p:grpSpPr>
          <a:xfrm>
            <a:off x="870840" y="5956200"/>
            <a:ext cx="799920" cy="317160"/>
            <a:chOff x="0" y="0"/>
            <a:chExt cx="1066560" cy="42288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E0F0656-A145-ADE0-DE74-BD05D7E3D599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28F8CD5-CB3B-46D4-91EE-B291292CDF33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705C152-B2A0-0B73-A88B-C974E6F3E7D5}"/>
              </a:ext>
            </a:extLst>
          </p:cNvPr>
          <p:cNvGrpSpPr/>
          <p:nvPr/>
        </p:nvGrpSpPr>
        <p:grpSpPr>
          <a:xfrm>
            <a:off x="870840" y="6832440"/>
            <a:ext cx="799920" cy="317160"/>
            <a:chOff x="0" y="0"/>
            <a:chExt cx="1066560" cy="42288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C2A24F2-ECAF-93E1-7015-35A5FBD8644D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BD5DD23-DD14-54AD-9EE8-5A70CBC14D0A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Lv.6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C7324BE-AE74-4621-7844-892B72F79183}"/>
              </a:ext>
            </a:extLst>
          </p:cNvPr>
          <p:cNvGrpSpPr/>
          <p:nvPr/>
        </p:nvGrpSpPr>
        <p:grpSpPr>
          <a:xfrm>
            <a:off x="870840" y="7721640"/>
            <a:ext cx="799920" cy="317160"/>
            <a:chOff x="0" y="0"/>
            <a:chExt cx="1066560" cy="42288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7175766-368B-9569-6265-7A55638A4DFF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30D2646-5BCF-9194-9CF9-D00DF327D9D7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Lv.7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163005D4-5A22-FB34-FFBA-7EEE1A022FC7}"/>
              </a:ext>
            </a:extLst>
          </p:cNvPr>
          <p:cNvGrpSpPr/>
          <p:nvPr/>
        </p:nvGrpSpPr>
        <p:grpSpPr>
          <a:xfrm>
            <a:off x="870840" y="8610480"/>
            <a:ext cx="799920" cy="317160"/>
            <a:chOff x="0" y="0"/>
            <a:chExt cx="1066560" cy="42288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DF7C90F-CDCA-2D89-03A3-9507CE0D86D6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AF776966-8771-B796-EED0-CC7F694C4EA6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Lv.8</a:t>
              </a:r>
            </a:p>
          </p:txBody>
        </p:sp>
      </p:grpSp>
      <p:sp>
        <p:nvSpPr>
          <p:cNvPr id="37" name="Freeform 37">
            <a:extLst>
              <a:ext uri="{FF2B5EF4-FFF2-40B4-BE49-F238E27FC236}">
                <a16:creationId xmlns:a16="http://schemas.microsoft.com/office/drawing/2014/main" id="{453DFECE-7D21-010A-AC82-4F164C501087}"/>
              </a:ext>
            </a:extLst>
          </p:cNvPr>
          <p:cNvSpPr/>
          <p:nvPr/>
        </p:nvSpPr>
        <p:spPr>
          <a:xfrm>
            <a:off x="1124640" y="1562040"/>
            <a:ext cx="291600" cy="329760"/>
          </a:xfrm>
          <a:custGeom>
            <a:avLst/>
            <a:gdLst/>
            <a:ahLst/>
            <a:cxnLst/>
            <a:rect l="l" t="t" r="r" b="b"/>
            <a:pathLst>
              <a:path w="291600" h="329760">
                <a:moveTo>
                  <a:pt x="0" y="0"/>
                </a:moveTo>
                <a:lnTo>
                  <a:pt x="291600" y="0"/>
                </a:lnTo>
                <a:lnTo>
                  <a:pt x="291600" y="329760"/>
                </a:lnTo>
                <a:lnTo>
                  <a:pt x="0" y="3297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1" r="-81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8" name="Group 38">
            <a:extLst>
              <a:ext uri="{FF2B5EF4-FFF2-40B4-BE49-F238E27FC236}">
                <a16:creationId xmlns:a16="http://schemas.microsoft.com/office/drawing/2014/main" id="{508B3C58-50A4-60E1-7D96-7FFF0254B02C}"/>
              </a:ext>
            </a:extLst>
          </p:cNvPr>
          <p:cNvGrpSpPr/>
          <p:nvPr/>
        </p:nvGrpSpPr>
        <p:grpSpPr>
          <a:xfrm>
            <a:off x="870840" y="2413080"/>
            <a:ext cx="799920" cy="317160"/>
            <a:chOff x="0" y="0"/>
            <a:chExt cx="1066560" cy="422880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DA33D285-79DD-246B-DA79-9861AE5D5CA1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D49BB320-CF79-6066-5C56-CEE1107DE1F6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Lv.1</a:t>
              </a:r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55347B6D-2554-D695-E4F8-6C29A99BABE1}"/>
              </a:ext>
            </a:extLst>
          </p:cNvPr>
          <p:cNvGrpSpPr/>
          <p:nvPr/>
        </p:nvGrpSpPr>
        <p:grpSpPr>
          <a:xfrm>
            <a:off x="1010520" y="2425680"/>
            <a:ext cx="825120" cy="456840"/>
            <a:chOff x="0" y="0"/>
            <a:chExt cx="1100160" cy="60912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62A3C91-4E73-D8B8-8E74-872821662995}"/>
                </a:ext>
              </a:extLst>
            </p:cNvPr>
            <p:cNvSpPr/>
            <p:nvPr/>
          </p:nvSpPr>
          <p:spPr>
            <a:xfrm>
              <a:off x="0" y="0"/>
              <a:ext cx="1100160" cy="609120"/>
            </a:xfrm>
            <a:custGeom>
              <a:avLst/>
              <a:gdLst/>
              <a:ahLst/>
              <a:cxnLst/>
              <a:rect l="l" t="t" r="r" b="b"/>
              <a:pathLst>
                <a:path w="1100160" h="609120">
                  <a:moveTo>
                    <a:pt x="0" y="0"/>
                  </a:moveTo>
                  <a:lnTo>
                    <a:pt x="1100160" y="0"/>
                  </a:lnTo>
                  <a:lnTo>
                    <a:pt x="1100160" y="609120"/>
                  </a:lnTo>
                  <a:lnTo>
                    <a:pt x="0" y="609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364CF656-5983-5786-0197-42C0099813CB}"/>
                </a:ext>
              </a:extLst>
            </p:cNvPr>
            <p:cNvSpPr txBox="1"/>
            <p:nvPr/>
          </p:nvSpPr>
          <p:spPr>
            <a:xfrm>
              <a:off x="0" y="-19050"/>
              <a:ext cx="1100160" cy="628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9CB06321-C678-9C76-994B-2399C211BDEA}"/>
              </a:ext>
            </a:extLst>
          </p:cNvPr>
          <p:cNvGrpSpPr/>
          <p:nvPr/>
        </p:nvGrpSpPr>
        <p:grpSpPr>
          <a:xfrm>
            <a:off x="1023120" y="3467160"/>
            <a:ext cx="799920" cy="317160"/>
            <a:chOff x="0" y="0"/>
            <a:chExt cx="1066560" cy="422880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56ABD97D-9B62-6286-C31A-86A614FC4896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4902ECD0-3737-476D-852F-349B7F0AFFEB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7189E7DD-A5E6-7C5F-0AF0-74E7E99A0BB9}"/>
              </a:ext>
            </a:extLst>
          </p:cNvPr>
          <p:cNvGrpSpPr/>
          <p:nvPr/>
        </p:nvGrpSpPr>
        <p:grpSpPr>
          <a:xfrm>
            <a:off x="1023120" y="4781520"/>
            <a:ext cx="799920" cy="317160"/>
            <a:chOff x="0" y="0"/>
            <a:chExt cx="1066560" cy="422880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E008CEE4-6079-C1A2-B1AD-109225797F57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8E6A992E-B634-D50F-D6CD-EB4E2117E72C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D19B5575-5F2C-40E3-3805-192649E33193}"/>
              </a:ext>
            </a:extLst>
          </p:cNvPr>
          <p:cNvGrpSpPr/>
          <p:nvPr/>
        </p:nvGrpSpPr>
        <p:grpSpPr>
          <a:xfrm>
            <a:off x="1023120" y="6108840"/>
            <a:ext cx="799920" cy="317160"/>
            <a:chOff x="0" y="0"/>
            <a:chExt cx="1066560" cy="422880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64C7DEF8-733F-4450-F757-A454FFA0D126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>
              <a:extLst>
                <a:ext uri="{FF2B5EF4-FFF2-40B4-BE49-F238E27FC236}">
                  <a16:creationId xmlns:a16="http://schemas.microsoft.com/office/drawing/2014/main" id="{255FDF58-B479-2E1F-CEE0-7E7B57C8DD2C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id="55" name="Group 55">
            <a:extLst>
              <a:ext uri="{FF2B5EF4-FFF2-40B4-BE49-F238E27FC236}">
                <a16:creationId xmlns:a16="http://schemas.microsoft.com/office/drawing/2014/main" id="{4EAA4FFA-FAE3-DEC5-7CD5-4CCF7C73A301}"/>
              </a:ext>
            </a:extLst>
          </p:cNvPr>
          <p:cNvGrpSpPr/>
          <p:nvPr/>
        </p:nvGrpSpPr>
        <p:grpSpPr>
          <a:xfrm>
            <a:off x="1023120" y="7435800"/>
            <a:ext cx="799920" cy="317160"/>
            <a:chOff x="0" y="0"/>
            <a:chExt cx="1066560" cy="422880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B4D232A6-BB7F-E098-DF0A-A5F1C48A1A6F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2C2B2990-6A97-0F8E-6CCF-0F60380753C4}"/>
                </a:ext>
              </a:extLst>
            </p:cNvPr>
            <p:cNvSpPr txBox="1"/>
            <p:nvPr/>
          </p:nvSpPr>
          <p:spPr>
            <a:xfrm>
              <a:off x="0" y="-19050"/>
              <a:ext cx="1066560" cy="44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38"/>
                </a:lnSpc>
              </a:pPr>
              <a:r>
                <a:rPr lang="en-US" sz="1800" spc="-100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812DB62D-8D16-1AC0-5047-2617793D433C}"/>
              </a:ext>
            </a:extLst>
          </p:cNvPr>
          <p:cNvGrpSpPr/>
          <p:nvPr/>
        </p:nvGrpSpPr>
        <p:grpSpPr>
          <a:xfrm>
            <a:off x="1023120" y="8763120"/>
            <a:ext cx="799920" cy="317160"/>
            <a:chOff x="0" y="0"/>
            <a:chExt cx="1066560" cy="422880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4F920B62-64FB-1F41-B9AA-F0EFD9026994}"/>
                </a:ext>
              </a:extLst>
            </p:cNvPr>
            <p:cNvSpPr/>
            <p:nvPr/>
          </p:nvSpPr>
          <p:spPr>
            <a:xfrm>
              <a:off x="0" y="0"/>
              <a:ext cx="1066560" cy="422880"/>
            </a:xfrm>
            <a:custGeom>
              <a:avLst/>
              <a:gdLst/>
              <a:ahLst/>
              <a:cxnLst/>
              <a:rect l="l" t="t" r="r" b="b"/>
              <a:pathLst>
                <a:path w="1066560" h="422880">
                  <a:moveTo>
                    <a:pt x="0" y="0"/>
                  </a:moveTo>
                  <a:lnTo>
                    <a:pt x="1066560" y="0"/>
                  </a:lnTo>
                  <a:lnTo>
                    <a:pt x="1066560" y="422880"/>
                  </a:lnTo>
                  <a:lnTo>
                    <a:pt x="0" y="42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>
              <a:extLst>
                <a:ext uri="{FF2B5EF4-FFF2-40B4-BE49-F238E27FC236}">
                  <a16:creationId xmlns:a16="http://schemas.microsoft.com/office/drawing/2014/main" id="{D8F28DD6-88F3-FE0B-A1CD-CE0EA421A840}"/>
                </a:ext>
              </a:extLst>
            </p:cNvPr>
            <p:cNvSpPr txBox="1"/>
            <p:nvPr/>
          </p:nvSpPr>
          <p:spPr>
            <a:xfrm>
              <a:off x="0" y="-9525"/>
              <a:ext cx="1066560" cy="432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88"/>
                </a:lnSpc>
              </a:pPr>
              <a:r>
                <a:rPr lang="en-US" sz="2600" spc="-99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sp>
        <p:nvSpPr>
          <p:cNvPr id="61" name="Freeform 61">
            <a:extLst>
              <a:ext uri="{FF2B5EF4-FFF2-40B4-BE49-F238E27FC236}">
                <a16:creationId xmlns:a16="http://schemas.microsoft.com/office/drawing/2014/main" id="{8B18ADC0-4CB6-F22A-0F5E-BACA88A379BE}"/>
              </a:ext>
            </a:extLst>
          </p:cNvPr>
          <p:cNvSpPr/>
          <p:nvPr/>
        </p:nvSpPr>
        <p:spPr>
          <a:xfrm>
            <a:off x="1277280" y="1714680"/>
            <a:ext cx="291600" cy="329760"/>
          </a:xfrm>
          <a:custGeom>
            <a:avLst/>
            <a:gdLst/>
            <a:ahLst/>
            <a:cxnLst/>
            <a:rect l="l" t="t" r="r" b="b"/>
            <a:pathLst>
              <a:path w="291600" h="329760">
                <a:moveTo>
                  <a:pt x="0" y="0"/>
                </a:moveTo>
                <a:lnTo>
                  <a:pt x="291600" y="0"/>
                </a:lnTo>
                <a:lnTo>
                  <a:pt x="291600" y="329760"/>
                </a:lnTo>
                <a:lnTo>
                  <a:pt x="0" y="3297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1" r="-81"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43637C33-D8CD-456B-2ECC-723AD487D42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680"/>
          <a:stretch/>
        </p:blipFill>
        <p:spPr>
          <a:xfrm>
            <a:off x="981585" y="3456333"/>
            <a:ext cx="6429964" cy="36318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FB54DDA-FE45-56F8-30CC-122B140249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0268" y="2781300"/>
            <a:ext cx="10671368" cy="6990381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4C92CFCF-ABEB-715A-08DC-1EE076D1AC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32966" y="2781300"/>
            <a:ext cx="5123714" cy="5885998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6C82DB2C-8E0F-252E-F996-4906166D3A68}"/>
              </a:ext>
            </a:extLst>
          </p:cNvPr>
          <p:cNvSpPr/>
          <p:nvPr/>
        </p:nvSpPr>
        <p:spPr>
          <a:xfrm>
            <a:off x="1844523" y="7333917"/>
            <a:ext cx="4704088" cy="1738087"/>
          </a:xfrm>
          <a:prstGeom prst="rect">
            <a:avLst/>
          </a:prstGeom>
          <a:solidFill>
            <a:srgbClr val="FCFCFC"/>
          </a:solidFill>
          <a:ln w="38100"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충남 서부권 인공지능 </a:t>
            </a:r>
            <a:r>
              <a:rPr lang="ko-KR" altLang="en-US" sz="2400" dirty="0" err="1">
                <a:solidFill>
                  <a:schemeClr val="tx1"/>
                </a:solidFill>
              </a:rPr>
              <a:t>해커톤에서</a:t>
            </a:r>
            <a:r>
              <a:rPr lang="ko-KR" altLang="en-US" sz="2400" dirty="0">
                <a:solidFill>
                  <a:schemeClr val="tx1"/>
                </a:solidFill>
              </a:rPr>
              <a:t> 우수상을 수상함</a:t>
            </a:r>
            <a:endParaRPr lang="en-US" altLang="ko-KR" sz="24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5A10188-4200-0E1B-CED7-CDB1F58EBDFF}"/>
              </a:ext>
            </a:extLst>
          </p:cNvPr>
          <p:cNvSpPr/>
          <p:nvPr/>
        </p:nvSpPr>
        <p:spPr>
          <a:xfrm>
            <a:off x="8235395" y="7333917"/>
            <a:ext cx="4704088" cy="1738087"/>
          </a:xfrm>
          <a:prstGeom prst="rect">
            <a:avLst/>
          </a:prstGeom>
          <a:solidFill>
            <a:srgbClr val="FCFCFC"/>
          </a:solidFill>
          <a:ln w="38100"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</a:rPr>
              <a:t>방학 중 회의를 통해 팀원 모두가 프로젝트에 적극적으로 참여하며 진행 상황을 공유함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ABAABE6-D76A-9B24-79CE-EFEFB9D5125B}"/>
              </a:ext>
            </a:extLst>
          </p:cNvPr>
          <p:cNvSpPr/>
          <p:nvPr/>
        </p:nvSpPr>
        <p:spPr>
          <a:xfrm>
            <a:off x="17678400" y="9448140"/>
            <a:ext cx="578280" cy="3488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428089-DC7A-EFCB-BCE5-FE98AE026BEE}"/>
              </a:ext>
            </a:extLst>
          </p:cNvPr>
          <p:cNvSpPr txBox="1"/>
          <p:nvPr/>
        </p:nvSpPr>
        <p:spPr>
          <a:xfrm>
            <a:off x="14478000" y="9880740"/>
            <a:ext cx="406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2025.01.27 </a:t>
            </a:r>
            <a:r>
              <a:rPr lang="ko-KR" altLang="en-US" dirty="0" err="1"/>
              <a:t>비대면</a:t>
            </a:r>
            <a:r>
              <a:rPr lang="ko-KR" altLang="en-US" dirty="0"/>
              <a:t> 회의 진행 화면 ↑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C519FAB8-C5DC-3EBF-303C-FE088D60ED26}"/>
              </a:ext>
            </a:extLst>
          </p:cNvPr>
          <p:cNvSpPr/>
          <p:nvPr/>
        </p:nvSpPr>
        <p:spPr>
          <a:xfrm>
            <a:off x="1239638" y="555494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992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318880" y="-6654600"/>
            <a:ext cx="1650600" cy="16293600"/>
          </a:xfrm>
          <a:custGeom>
            <a:avLst/>
            <a:gdLst/>
            <a:ahLst/>
            <a:cxnLst/>
            <a:rect l="l" t="t" r="r" b="b"/>
            <a:pathLst>
              <a:path w="1650600" h="16293600">
                <a:moveTo>
                  <a:pt x="0" y="0"/>
                </a:moveTo>
                <a:lnTo>
                  <a:pt x="1650600" y="0"/>
                </a:lnTo>
                <a:lnTo>
                  <a:pt x="1650600" y="16293600"/>
                </a:lnTo>
                <a:lnTo>
                  <a:pt x="0" y="1629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r="-19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5400000">
            <a:off x="5956560" y="-401292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5400000">
            <a:off x="5956560" y="-3886200"/>
            <a:ext cx="6362280" cy="16725600"/>
          </a:xfrm>
          <a:custGeom>
            <a:avLst/>
            <a:gdLst/>
            <a:ahLst/>
            <a:cxnLst/>
            <a:rect l="l" t="t" r="r" b="b"/>
            <a:pathLst>
              <a:path w="6362280" h="16725600">
                <a:moveTo>
                  <a:pt x="0" y="0"/>
                </a:moveTo>
                <a:lnTo>
                  <a:pt x="6362280" y="0"/>
                </a:lnTo>
                <a:lnTo>
                  <a:pt x="636228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" r="-4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 rot="5400000">
            <a:off x="5019813" y="-2844720"/>
            <a:ext cx="8216640" cy="16725600"/>
          </a:xfrm>
          <a:custGeom>
            <a:avLst/>
            <a:gdLst/>
            <a:ahLst/>
            <a:cxnLst/>
            <a:rect l="l" t="t" r="r" b="b"/>
            <a:pathLst>
              <a:path w="8216640" h="16725600">
                <a:moveTo>
                  <a:pt x="0" y="0"/>
                </a:moveTo>
                <a:lnTo>
                  <a:pt x="8216640" y="0"/>
                </a:lnTo>
                <a:lnTo>
                  <a:pt x="8216640" y="16725600"/>
                </a:lnTo>
                <a:lnTo>
                  <a:pt x="0" y="1672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" b="-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reeform 6"/>
          <p:cNvSpPr/>
          <p:nvPr/>
        </p:nvSpPr>
        <p:spPr>
          <a:xfrm>
            <a:off x="1701720" y="863640"/>
            <a:ext cx="177480" cy="202680"/>
          </a:xfrm>
          <a:custGeom>
            <a:avLst/>
            <a:gdLst/>
            <a:ahLst/>
            <a:cxnLst/>
            <a:rect l="l" t="t" r="r" b="b"/>
            <a:pathLst>
              <a:path w="177480" h="202680">
                <a:moveTo>
                  <a:pt x="0" y="0"/>
                </a:moveTo>
                <a:lnTo>
                  <a:pt x="177480" y="0"/>
                </a:lnTo>
                <a:lnTo>
                  <a:pt x="177480" y="202680"/>
                </a:lnTo>
                <a:lnTo>
                  <a:pt x="0" y="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08" r="-190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6222960" y="4915080"/>
            <a:ext cx="5829120" cy="1434600"/>
          </a:xfrm>
          <a:custGeom>
            <a:avLst/>
            <a:gdLst/>
            <a:ahLst/>
            <a:cxnLst/>
            <a:rect l="l" t="t" r="r" b="b"/>
            <a:pathLst>
              <a:path w="5829120" h="1434600">
                <a:moveTo>
                  <a:pt x="0" y="0"/>
                </a:moveTo>
                <a:lnTo>
                  <a:pt x="5829120" y="0"/>
                </a:lnTo>
                <a:lnTo>
                  <a:pt x="5829120" y="1434600"/>
                </a:lnTo>
                <a:lnTo>
                  <a:pt x="0" y="143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" b="-44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7213680" y="4826160"/>
            <a:ext cx="3847680" cy="1536480"/>
            <a:chOff x="0" y="0"/>
            <a:chExt cx="5130240" cy="20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0240" cy="2048640"/>
            </a:xfrm>
            <a:custGeom>
              <a:avLst/>
              <a:gdLst/>
              <a:ahLst/>
              <a:cxnLst/>
              <a:rect l="l" t="t" r="r" b="b"/>
              <a:pathLst>
                <a:path w="5130240" h="2048640">
                  <a:moveTo>
                    <a:pt x="0" y="0"/>
                  </a:moveTo>
                  <a:lnTo>
                    <a:pt x="5130240" y="0"/>
                  </a:lnTo>
                  <a:lnTo>
                    <a:pt x="5130240" y="2048640"/>
                  </a:lnTo>
                  <a:lnTo>
                    <a:pt x="0" y="204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130240" cy="20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16"/>
                </a:lnSpc>
              </a:pPr>
              <a:r>
                <a:rPr lang="en-US" sz="8600" spc="-301">
                  <a:solidFill>
                    <a:srgbClr val="FCFCFC"/>
                  </a:solidFill>
                  <a:latin typeface="Arimo"/>
                  <a:ea typeface="Arimo"/>
                  <a:cs typeface="Arimo"/>
                  <a:sym typeface="Arimo"/>
                </a:rPr>
                <a:t>Q &amp; A</a:t>
              </a:r>
            </a:p>
          </p:txBody>
        </p:sp>
      </p:grpSp>
      <p:pic>
        <p:nvPicPr>
          <p:cNvPr id="1028" name="Picture 4" descr="고양이짤 성격 테스트 - 인터랙티브 웹 플랫폼, 메타브">
            <a:extLst>
              <a:ext uri="{FF2B5EF4-FFF2-40B4-BE49-F238E27FC236}">
                <a16:creationId xmlns:a16="http://schemas.microsoft.com/office/drawing/2014/main" id="{1CF9A018-88EF-30BF-3289-620C429B7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172700"/>
            <a:ext cx="114300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2908</Words>
  <Application>Microsoft Office PowerPoint</Application>
  <PresentationFormat>사용자 지정</PresentationFormat>
  <Paragraphs>1024</Paragraphs>
  <Slides>62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4" baseType="lpstr">
      <vt:lpstr>Calibri (MS) Light</vt:lpstr>
      <vt:lpstr>Calibri (MS)</vt:lpstr>
      <vt:lpstr>Arimo</vt:lpstr>
      <vt:lpstr>Arimo Bold</vt:lpstr>
      <vt:lpstr>Arial</vt:lpstr>
      <vt:lpstr>맑은 고딕</vt:lpstr>
      <vt:lpstr>Cafe</vt:lpstr>
      <vt:lpstr>Calibri (MS) Bold</vt:lpstr>
      <vt:lpstr>바탕</vt:lpstr>
      <vt:lpstr>Calibri</vt:lpstr>
      <vt:lpstr>Abadi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llm의 정상화 졸업심사ppt 수정.pptx</dc:title>
  <dc:creator>Checky</dc:creator>
  <cp:lastModifiedBy>Hyeon woo Kim</cp:lastModifiedBy>
  <cp:revision>27</cp:revision>
  <dcterms:created xsi:type="dcterms:W3CDTF">2006-08-16T00:00:00Z</dcterms:created>
  <dcterms:modified xsi:type="dcterms:W3CDTF">2025-04-28T16:34:44Z</dcterms:modified>
  <dc:identifier>DAGlLL7DQT4</dc:identifier>
</cp:coreProperties>
</file>