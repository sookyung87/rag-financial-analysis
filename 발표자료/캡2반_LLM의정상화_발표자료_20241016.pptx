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67" r:id="rId2"/>
    <p:sldId id="277" r:id="rId3"/>
    <p:sldId id="257" r:id="rId4"/>
    <p:sldId id="264" r:id="rId5"/>
    <p:sldId id="258" r:id="rId6"/>
    <p:sldId id="256" r:id="rId7"/>
    <p:sldId id="268" r:id="rId8"/>
    <p:sldId id="273" r:id="rId9"/>
    <p:sldId id="274" r:id="rId10"/>
    <p:sldId id="275" r:id="rId11"/>
    <p:sldId id="276" r:id="rId12"/>
    <p:sldId id="262" r:id="rId13"/>
    <p:sldId id="261" r:id="rId14"/>
    <p:sldId id="263" r:id="rId15"/>
    <p:sldId id="260" r:id="rId16"/>
    <p:sldId id="278" r:id="rId17"/>
    <p:sldId id="265" r:id="rId18"/>
    <p:sldId id="271" r:id="rId19"/>
    <p:sldId id="270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4660"/>
  </p:normalViewPr>
  <p:slideViewPr>
    <p:cSldViewPr snapToGrid="0">
      <p:cViewPr>
        <p:scale>
          <a:sx n="75" d="100"/>
          <a:sy n="75" d="100"/>
        </p:scale>
        <p:origin x="1324" y="5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85B27BB-28F7-4620-8BCF-EFC2FC13317D}" type="datetime1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DB4C5BFE-6CA8-49E0-A7A3-35815423B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492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C5BFE-6CA8-49E0-A7A3-35815423B77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789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376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8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46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533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https://openai.com/enterprise-privacy</a:t>
            </a:r>
            <a:r>
              <a:rPr lang="en-US" altLang="ko-KR" dirty="0"/>
              <a:t>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B4C5BFE-6CA8-49E0-A7A3-35815423B77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842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B4C5BFE-6CA8-49E0-A7A3-35815423B77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106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B4C5BFE-6CA8-49E0-A7A3-35815423B77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418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B4C5BFE-6CA8-49E0-A7A3-35815423B77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5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8AD4-BC5C-9B5C-ADC6-B186F8464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16CA59-0D9C-A2DB-5657-AD063F633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69D287-CBC8-02E1-B12C-F5CAC60D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093FA-863D-ABDB-715F-D008446B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2EF856-1CF1-14FA-13C7-4B23DD7C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66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7E10A-1F41-44F2-28CA-B4B16D52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11870-FCC0-4286-CA84-269CE3D0D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EA1AC-9B91-B160-FEA5-F5B01E78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EFBC5-FA8C-088C-A0FD-FA0A6E08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9614C-A62B-E577-F6C5-09F945E6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E44B0-D752-B0FA-6179-2479AF6D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68A664-D9F9-49F9-121E-8A92662EE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CD725C-EE90-25A4-9F63-29D0FF32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3548A-428C-A2C7-AD70-0DD5E86E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024FCC-6F6E-8821-A774-576E13C3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33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79DA4-F04E-ACCA-28F5-F71150BF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3AFF4-B0E3-3A4E-F99F-BE7D22979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BC3A90-F3E1-F3F1-DD42-EE1A56377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68B385-C282-AC18-25AA-DD369CF3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98B270-C292-2B3A-9EA5-B69A9AE2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1EDD89-00B0-AC16-0200-735E3DBD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59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1A2B8-D2EF-09ED-6FEB-8C10BA63A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75036D-0186-83FD-7AB8-F9BCDDE4A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0F662F-AD61-4212-908E-AB0D80BD3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278C47-8A8F-0B7C-A73E-50D3C2F04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365ECF-5853-CC2D-8E82-7E4161919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D683BC-0233-0374-E149-A85F2658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523116-FA33-90D4-85DC-C7EEBBCE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A300A6-DFAD-784A-73C6-EA536A9C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2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B3146-A512-FA04-6777-D82AA74A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DC7E72-BFA4-D46D-FF2D-40BF72D5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3AF7A8-3027-D229-043B-9AB35642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C6CBD1-3814-7958-6594-356247D8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72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4F3052-9C13-80D8-A01B-BAE38CE6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F915D0-F658-1AE5-BD27-B056C45E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FF991-CAEF-4128-A6B3-20188CEE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01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282B6-171B-BB94-47CB-5F840C50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4B873-B21D-5B54-E9C9-6D7EADD68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C3D958-EBFA-2E5A-2850-E91AB173A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6F60F3-88C7-2565-5AC0-7AA7C281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2F8343-55FE-4992-E595-079D2B75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3A231B-565B-1E4E-9C0B-240810FF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50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98EBB-5CE1-C060-6C28-0DFEA062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9D44BD-BB4A-7C80-9476-63B84235D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F3E4AE-3FA4-62EC-0CAC-380562516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9D4C06-EA1E-1FB6-4262-80BF2C30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E5D123-6FD8-B611-84ED-67346FD5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13D12F-D393-F5CE-0874-92F9248E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14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82BF2-ACE4-D8F1-C173-F98C8494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D63086-C93A-3F9A-ACA7-EFA2645D2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05D856-5543-3FA3-70BB-5AD23993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077FEC-A1D0-401E-169B-A5B4FC3E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DFEF5-BF19-F291-F834-9AFA20D7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1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0390C3-6F1B-364F-D1EF-04F164BBF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AEA0A2-14CD-F200-2568-99274A37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CF84D-5C7F-0A6E-BFFF-AD31680A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DB11A-D8CC-44B7-4093-DF42AFD3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EE154F-DAE6-5998-24C7-50C9DE8E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8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008768F-5FF2-110C-A314-D9569A0A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12B58-64D1-C43C-E862-F323530E7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FDFA6C-2DEC-7DD8-EC38-E31012DA1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C646F-152C-4BE5-9B25-6D1201C77188}" type="datetimeFigureOut">
              <a:rPr lang="ko-KR" altLang="en-US" smtClean="0"/>
              <a:t>2024-10-16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E43A1-C84B-FAC3-0675-668301EB5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7EE0E-2D80-F9CA-D09D-D2B43848D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16A0E-B17A-414D-9A0E-25F0040010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2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gif"/><Relationship Id="rId10" Type="http://schemas.openxmlformats.org/officeDocument/2006/relationships/image" Target="../media/image16.jpeg"/><Relationship Id="rId4" Type="http://schemas.openxmlformats.org/officeDocument/2006/relationships/image" Target="../media/image12.png"/><Relationship Id="rId9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gif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0.pn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QD6hHshFGvSILsyJMgctJ5GPxTUWbT6A1Gp2-EqzKw/edit?gid=1291090851#gid=129109085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컴파일의 정상화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97205D-9D6A-79C3-9220-7D9BF679B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정찬우</a:t>
            </a:r>
            <a:r>
              <a:rPr lang="en-US" altLang="ko-KR" dirty="0"/>
              <a:t>,</a:t>
            </a:r>
            <a:r>
              <a:rPr lang="ko-KR" altLang="en-US" dirty="0"/>
              <a:t> 김현우</a:t>
            </a:r>
            <a:r>
              <a:rPr lang="en-US" altLang="ko-KR" dirty="0"/>
              <a:t>, </a:t>
            </a:r>
            <a:r>
              <a:rPr lang="ko-KR" altLang="en-US" dirty="0"/>
              <a:t>이승준</a:t>
            </a:r>
            <a:r>
              <a:rPr lang="en-US" altLang="ko-KR" dirty="0"/>
              <a:t>, </a:t>
            </a:r>
            <a:r>
              <a:rPr lang="ko-KR" altLang="en-US" dirty="0"/>
              <a:t>이수경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57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53B94-18E0-3A6C-A272-E2F69D99A902}"/>
              </a:ext>
            </a:extLst>
          </p:cNvPr>
          <p:cNvSpPr txBox="1"/>
          <p:nvPr/>
        </p:nvSpPr>
        <p:spPr>
          <a:xfrm>
            <a:off x="908050" y="527050"/>
            <a:ext cx="2336800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83AB5-08B6-92BA-17C0-9A0E19F9F79A}"/>
              </a:ext>
            </a:extLst>
          </p:cNvPr>
          <p:cNvSpPr txBox="1"/>
          <p:nvPr/>
        </p:nvSpPr>
        <p:spPr>
          <a:xfrm>
            <a:off x="2076450" y="1346200"/>
            <a:ext cx="8039100" cy="381848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/>
              <a:t>프로젝트 주제와 타겟층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/>
              <a:t>프로젝트 배경 및 목적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/>
              <a:t>해당 서비스가 현재 존재하지 않는 이유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/>
              <a:t>기존 </a:t>
            </a:r>
            <a:r>
              <a:rPr lang="en-US" altLang="ko-KR" sz="2400" dirty="0"/>
              <a:t>Chat GPT</a:t>
            </a:r>
            <a:r>
              <a:rPr lang="ko-KR" altLang="en-US" sz="2400" dirty="0"/>
              <a:t>와의 차이점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/>
              <a:t>보안 문제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 dirty="0"/>
              <a:t>팀원 진행 사항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4569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3EF24-8A9A-5682-5162-BCF439E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2219"/>
            <a:ext cx="9131300" cy="1060450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8E2A42-4BC0-2AC3-9DD1-5239DE5ED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764620"/>
            <a:ext cx="10229850" cy="818898"/>
          </a:xfrm>
        </p:spPr>
        <p:txBody>
          <a:bodyPr>
            <a:normAutofit/>
          </a:bodyPr>
          <a:lstStyle/>
          <a:p>
            <a:r>
              <a:rPr lang="ko-KR" altLang="en-US" b="1" dirty="0"/>
              <a:t>초보 투자자를 위한 자연어 검색 기반 주식 정보 및 솔루션 제공 플랫폼</a:t>
            </a:r>
          </a:p>
        </p:txBody>
      </p:sp>
    </p:spTree>
    <p:extLst>
      <p:ext uri="{BB962C8B-B14F-4D97-AF65-F5344CB8AC3E}">
        <p14:creationId xmlns:p14="http://schemas.microsoft.com/office/powerpoint/2010/main" val="283690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A1C4E7C2-1169-0708-DAA8-0B8D1287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1467" y="4130680"/>
            <a:ext cx="7179734" cy="1177920"/>
          </a:xfrm>
        </p:spPr>
        <p:txBody>
          <a:bodyPr/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기업 관련 정보 수집을 어려워하는 초보 투자자</a:t>
            </a:r>
            <a:endParaRPr lang="en-US" altLang="ko-KR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매수</a:t>
            </a:r>
            <a:r>
              <a:rPr lang="en-US" altLang="ko-KR" dirty="0"/>
              <a:t>&amp;</a:t>
            </a:r>
            <a:r>
              <a:rPr lang="ko-KR" altLang="en-US" dirty="0"/>
              <a:t>매도 판단에 조언이 필요한 초보 투자자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650C9C-09DB-9406-9901-A1CA4C8534DF}"/>
              </a:ext>
            </a:extLst>
          </p:cNvPr>
          <p:cNvSpPr txBox="1">
            <a:spLocks/>
          </p:cNvSpPr>
          <p:nvPr/>
        </p:nvSpPr>
        <p:spPr>
          <a:xfrm>
            <a:off x="0" y="-69850"/>
            <a:ext cx="8940800" cy="890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dirty="0"/>
              <a:t>프로젝트 타겟층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8FF810-B2B7-04AE-4432-7D71EE796FAD}"/>
              </a:ext>
            </a:extLst>
          </p:cNvPr>
          <p:cNvCxnSpPr/>
          <p:nvPr/>
        </p:nvCxnSpPr>
        <p:spPr>
          <a:xfrm>
            <a:off x="-135467" y="931333"/>
            <a:ext cx="12581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441272-5B36-19DA-3027-298DF505DD4A}"/>
              </a:ext>
            </a:extLst>
          </p:cNvPr>
          <p:cNvSpPr/>
          <p:nvPr/>
        </p:nvSpPr>
        <p:spPr>
          <a:xfrm>
            <a:off x="2980266" y="1767958"/>
            <a:ext cx="6231467" cy="12869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개인 및 초보 주식 투자자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2F655D0-1153-05A9-F4FD-EBFD93AFFE3F}"/>
              </a:ext>
            </a:extLst>
          </p:cNvPr>
          <p:cNvCxnSpPr/>
          <p:nvPr/>
        </p:nvCxnSpPr>
        <p:spPr>
          <a:xfrm>
            <a:off x="6104466" y="3327401"/>
            <a:ext cx="0" cy="6058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026" name="Picture 2" descr="손으로 그린 facepalm 그림">
            <a:extLst>
              <a:ext uri="{FF2B5EF4-FFF2-40B4-BE49-F238E27FC236}">
                <a16:creationId xmlns:a16="http://schemas.microsoft.com/office/drawing/2014/main" id="{515C313E-ABFB-DAEC-4129-3F55F4830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85" b="99840" l="9585" r="89617">
                        <a14:foregroundMark x1="35304" y1="95048" x2="35304" y2="95048"/>
                        <a14:foregroundMark x1="23802" y1="90575" x2="23802" y2="90575"/>
                        <a14:foregroundMark x1="30192" y1="79233" x2="19329" y2="88978"/>
                        <a14:foregroundMark x1="19329" y1="88978" x2="23323" y2="96326"/>
                        <a14:foregroundMark x1="23323" y1="96326" x2="24441" y2="96326"/>
                        <a14:foregroundMark x1="10064" y1="99361" x2="14696" y2="89457"/>
                        <a14:foregroundMark x1="14696" y1="89457" x2="31629" y2="79553"/>
                        <a14:foregroundMark x1="31629" y1="79553" x2="43930" y2="78275"/>
                        <a14:foregroundMark x1="43930" y1="78275" x2="54313" y2="78914"/>
                        <a14:foregroundMark x1="54313" y1="78914" x2="63259" y2="78754"/>
                        <a14:foregroundMark x1="63259" y1="78754" x2="72843" y2="80511"/>
                        <a14:foregroundMark x1="72843" y1="80511" x2="81310" y2="85144"/>
                        <a14:foregroundMark x1="81310" y1="85144" x2="88978" y2="99840"/>
                        <a14:foregroundMark x1="60543" y1="81310" x2="57029" y2="83067"/>
                        <a14:foregroundMark x1="60064" y1="76518" x2="64696" y2="78914"/>
                        <a14:foregroundMark x1="58946" y1="83866" x2="48403" y2="86581"/>
                        <a14:foregroundMark x1="48403" y1="86581" x2="42812" y2="84505"/>
                        <a14:foregroundMark x1="60543" y1="75879" x2="63578" y2="77157"/>
                        <a14:foregroundMark x1="27636" y1="52236" x2="27796" y2="53674"/>
                        <a14:foregroundMark x1="27636" y1="53195" x2="32588" y2="66773"/>
                        <a14:foregroundMark x1="19169" y1="33866" x2="23323" y2="41534"/>
                        <a14:foregroundMark x1="18051" y1="33067" x2="24920" y2="41693"/>
                        <a14:foregroundMark x1="20607" y1="33706" x2="18211" y2="33387"/>
                        <a14:foregroundMark x1="18690" y1="33387" x2="25080" y2="40895"/>
                        <a14:foregroundMark x1="23642" y1="39617" x2="20607" y2="33546"/>
                        <a14:foregroundMark x1="21406" y1="33866" x2="25399" y2="41534"/>
                        <a14:foregroundMark x1="11342" y1="35144" x2="19968" y2="46326"/>
                        <a14:foregroundMark x1="12141" y1="35144" x2="14217" y2="40096"/>
                        <a14:foregroundMark x1="11821" y1="34345" x2="21086" y2="43131"/>
                        <a14:foregroundMark x1="21086" y1="43131" x2="14537" y2="35942"/>
                        <a14:foregroundMark x1="16933" y1="36262" x2="14537" y2="35144"/>
                        <a14:foregroundMark x1="12141" y1="36102" x2="12780" y2="38978"/>
                        <a14:foregroundMark x1="10064" y1="42332" x2="22843" y2="49521"/>
                        <a14:foregroundMark x1="19329" y1="48403" x2="24920" y2="43131"/>
                        <a14:foregroundMark x1="20767" y1="34026" x2="12460" y2="40895"/>
                        <a14:foregroundMark x1="80032" y1="32428" x2="74601" y2="49361"/>
                        <a14:foregroundMark x1="74601" y1="49361" x2="73003" y2="47604"/>
                        <a14:foregroundMark x1="78115" y1="34185" x2="76198" y2="43291"/>
                        <a14:foregroundMark x1="79393" y1="34026" x2="73802" y2="43131"/>
                        <a14:foregroundMark x1="78914" y1="36901" x2="71885" y2="53834"/>
                        <a14:foregroundMark x1="71885" y1="53834" x2="71885" y2="53834"/>
                        <a14:foregroundMark x1="74920" y1="44888" x2="85783" y2="36901"/>
                        <a14:foregroundMark x1="80351" y1="42332" x2="84345" y2="37220"/>
                        <a14:foregroundMark x1="78914" y1="42332" x2="80192" y2="33227"/>
                        <a14:foregroundMark x1="79233" y1="31789" x2="82588" y2="37859"/>
                        <a14:foregroundMark x1="81150" y1="32588" x2="83866" y2="37220"/>
                        <a14:foregroundMark x1="81150" y1="33227" x2="86581" y2="36422"/>
                        <a14:foregroundMark x1="83227" y1="36102" x2="88179" y2="35942"/>
                        <a14:foregroundMark x1="81949" y1="36262" x2="87859" y2="35942"/>
                        <a14:foregroundMark x1="87859" y1="35942" x2="78754" y2="43450"/>
                        <a14:foregroundMark x1="86581" y1="37700" x2="82907" y2="40735"/>
                        <a14:foregroundMark x1="76518" y1="45208" x2="87859" y2="43291"/>
                        <a14:foregroundMark x1="83387" y1="37380" x2="87061" y2="42971"/>
                        <a14:foregroundMark x1="87700" y1="36102" x2="89457" y2="43930"/>
                        <a14:foregroundMark x1="88339" y1="35942" x2="89617" y2="43291"/>
                        <a14:foregroundMark x1="89617" y1="43291" x2="87700" y2="34505"/>
                        <a14:foregroundMark x1="87540" y1="35463" x2="80192" y2="33067"/>
                        <a14:foregroundMark x1="77476" y1="46965" x2="88179" y2="43610"/>
                        <a14:foregroundMark x1="88818" y1="44409" x2="73482" y2="504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35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14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A1C4E7C2-1169-0708-DAA8-0B8D1287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248" y="2134134"/>
            <a:ext cx="11782035" cy="1645921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b="0" i="0" dirty="0">
                <a:effectLst/>
                <a:latin typeface="gg sans"/>
              </a:rPr>
              <a:t>주식 데이터는 전문 용어와 약어로 구성되어 있어 초보 투자자가 </a:t>
            </a:r>
            <a:r>
              <a:rPr lang="ko-KR" altLang="en-US" sz="2200" b="1" i="0" dirty="0">
                <a:effectLst/>
                <a:latin typeface="gg sans"/>
              </a:rPr>
              <a:t>이해하고 활용하기 어려움</a:t>
            </a:r>
            <a:endParaRPr lang="en-US" altLang="ko-KR" sz="2200" b="1" i="0" dirty="0">
              <a:effectLst/>
              <a:latin typeface="gg sans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gg sans"/>
              </a:rPr>
              <a:t>초보 투자자와 전문 투자자 간의 </a:t>
            </a:r>
            <a:r>
              <a:rPr lang="ko-KR" altLang="en-US" sz="2200" b="1" dirty="0">
                <a:latin typeface="gg sans"/>
              </a:rPr>
              <a:t>정보 격차</a:t>
            </a:r>
            <a:r>
              <a:rPr lang="ko-KR" altLang="en-US" sz="2200" dirty="0">
                <a:latin typeface="gg sans"/>
              </a:rPr>
              <a:t>를 줄이는 것</a:t>
            </a:r>
            <a:endParaRPr lang="en-US" altLang="ko-KR" sz="2200" dirty="0">
              <a:latin typeface="gg sans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b="0" i="0" dirty="0">
                <a:effectLst/>
                <a:latin typeface="gg sans"/>
              </a:rPr>
              <a:t>매수</a:t>
            </a:r>
            <a:r>
              <a:rPr lang="en-US" altLang="ko-KR" sz="2200" b="0" i="0" dirty="0">
                <a:effectLst/>
                <a:latin typeface="gg sans"/>
              </a:rPr>
              <a:t>/</a:t>
            </a:r>
            <a:r>
              <a:rPr lang="ko-KR" altLang="en-US" sz="2200" b="0" i="0" dirty="0">
                <a:effectLst/>
                <a:latin typeface="gg sans"/>
              </a:rPr>
              <a:t>매도 판단에 도움을 주기 위해</a:t>
            </a:r>
            <a:r>
              <a:rPr lang="en-US" altLang="ko-KR" sz="2200" b="0" i="0" dirty="0">
                <a:effectLst/>
                <a:latin typeface="gg sans"/>
              </a:rPr>
              <a:t>, </a:t>
            </a:r>
            <a:r>
              <a:rPr lang="ko-KR" altLang="en-US" sz="2200" b="0" i="0" dirty="0">
                <a:effectLst/>
                <a:latin typeface="gg sans"/>
              </a:rPr>
              <a:t>초보 투자자에게 </a:t>
            </a:r>
            <a:r>
              <a:rPr lang="ko-KR" altLang="en-US" sz="2200" b="1" i="0" dirty="0">
                <a:effectLst/>
                <a:latin typeface="gg sans"/>
              </a:rPr>
              <a:t>유용한 데이터와 조언을 제공</a:t>
            </a:r>
            <a:endParaRPr lang="en-US" altLang="ko-KR" sz="2200" b="1" i="0" dirty="0">
              <a:effectLst/>
              <a:latin typeface="gg sans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5F6C08C-C22A-AA9A-73E1-F9E9D734A708}"/>
              </a:ext>
            </a:extLst>
          </p:cNvPr>
          <p:cNvSpPr txBox="1">
            <a:spLocks/>
          </p:cNvSpPr>
          <p:nvPr/>
        </p:nvSpPr>
        <p:spPr>
          <a:xfrm>
            <a:off x="0" y="-69850"/>
            <a:ext cx="8940800" cy="890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dirty="0"/>
              <a:t>프로젝트 배경 및 목적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329712-6F35-29E0-CA4B-639DAEBF5278}"/>
              </a:ext>
            </a:extLst>
          </p:cNvPr>
          <p:cNvCxnSpPr/>
          <p:nvPr/>
        </p:nvCxnSpPr>
        <p:spPr>
          <a:xfrm>
            <a:off x="-135467" y="931333"/>
            <a:ext cx="12581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38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A1C4E7C2-1169-0708-DAA8-0B8D1287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068" y="1933443"/>
            <a:ext cx="11904133" cy="2787914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200" dirty="0"/>
              <a:t>LLM API </a:t>
            </a:r>
            <a:r>
              <a:rPr lang="ko-KR" altLang="en-US" sz="2200" dirty="0"/>
              <a:t>기반이라 운영 비용이 많이 발생 </a:t>
            </a: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ko-KR" sz="2200" dirty="0"/>
              <a:t> </a:t>
            </a:r>
            <a:r>
              <a:rPr lang="ko-KR" altLang="en-US" sz="2200" dirty="0"/>
              <a:t>사용자 개인 </a:t>
            </a:r>
            <a:r>
              <a:rPr lang="en-US" altLang="ko-KR" sz="2200" dirty="0"/>
              <a:t>API(</a:t>
            </a:r>
            <a:r>
              <a:rPr lang="ko-KR" altLang="en-US" sz="2200" dirty="0"/>
              <a:t>키</a:t>
            </a:r>
            <a:r>
              <a:rPr lang="en-US" altLang="ko-KR" sz="2200" dirty="0"/>
              <a:t>) </a:t>
            </a:r>
            <a:r>
              <a:rPr lang="ko-KR" altLang="en-US" sz="2200" dirty="0"/>
              <a:t>활용을 통한 비용 분담</a:t>
            </a:r>
            <a:endParaRPr lang="en-US" altLang="ko-KR" sz="2200" dirty="0"/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ko-KR" altLang="en-US" sz="2200" dirty="0"/>
              <a:t>증권사 간의 이해관계 때문 </a:t>
            </a: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ko-KR" altLang="en-US" sz="2200" dirty="0"/>
              <a:t> 다양한 증권사 데이터를 수집 </a:t>
            </a:r>
            <a:r>
              <a:rPr lang="en-US" altLang="ko-KR" sz="2200" dirty="0"/>
              <a:t>&amp; </a:t>
            </a:r>
            <a:r>
              <a:rPr lang="ko-KR" altLang="en-US" sz="2200" dirty="0"/>
              <a:t>활용 가능</a:t>
            </a:r>
            <a:endParaRPr lang="en-US" altLang="ko-KR" sz="2200" dirty="0"/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ko-KR" altLang="en-US" sz="2200" dirty="0"/>
              <a:t>미국 나스닥과 분리된 한국 주식거래소 환경 </a:t>
            </a: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ko-KR" sz="2200" dirty="0"/>
              <a:t> </a:t>
            </a:r>
            <a:r>
              <a:rPr lang="ko-KR" altLang="en-US" sz="2200" dirty="0"/>
              <a:t>해외 개발자 입장에선 크지 않은 시장</a:t>
            </a:r>
            <a:endParaRPr lang="en-US" altLang="ko-KR" sz="2200" dirty="0"/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2200" dirty="0"/>
              <a:t>CHAT GPT 4</a:t>
            </a:r>
            <a:r>
              <a:rPr lang="ko-KR" altLang="en-US" sz="2200" dirty="0"/>
              <a:t>의 웹 검색으로도 대부분의 정보에 접근 가능하기 때문</a:t>
            </a:r>
            <a:endParaRPr lang="en-US" altLang="ko-KR" sz="22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393B9A6-E125-4E2A-A9D7-B0D4A79D92A6}"/>
              </a:ext>
            </a:extLst>
          </p:cNvPr>
          <p:cNvSpPr txBox="1">
            <a:spLocks/>
          </p:cNvSpPr>
          <p:nvPr/>
        </p:nvSpPr>
        <p:spPr>
          <a:xfrm>
            <a:off x="0" y="-69850"/>
            <a:ext cx="8940800" cy="8900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dirty="0"/>
              <a:t>해당 서비스가 현재 존재하지 않는 이유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86335CB-A2F0-A21C-81F6-BB5AF4B24DEA}"/>
              </a:ext>
            </a:extLst>
          </p:cNvPr>
          <p:cNvCxnSpPr/>
          <p:nvPr/>
        </p:nvCxnSpPr>
        <p:spPr>
          <a:xfrm>
            <a:off x="-135467" y="931333"/>
            <a:ext cx="12581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96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3EF24-8A9A-5682-5162-BCF439E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57203" y="-69850"/>
            <a:ext cx="8280400" cy="89006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CHAT GPT</a:t>
            </a:r>
            <a:r>
              <a:rPr lang="ko-KR" altLang="en-US" sz="4000" dirty="0"/>
              <a:t>웹 검색과의 차이점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A1C4E7C2-1169-0708-DAA8-0B8D1287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396" y="1655372"/>
            <a:ext cx="10089737" cy="5202628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00000"/>
              </a:lnSpc>
              <a:buAutoNum type="arabicPeriod"/>
            </a:pPr>
            <a:r>
              <a:rPr lang="ko-KR" altLang="en-US" sz="2200" dirty="0"/>
              <a:t>날짜 조건을 설정해도 최신 데이터를 가져오지 못함</a:t>
            </a:r>
            <a:br>
              <a:rPr lang="en-US" altLang="ko-KR" sz="2200" dirty="0"/>
            </a:b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ko-KR" sz="2200" dirty="0"/>
              <a:t> </a:t>
            </a:r>
            <a:r>
              <a:rPr lang="ko-KR" altLang="en-US" sz="2200" dirty="0"/>
              <a:t>실시간 </a:t>
            </a:r>
            <a:r>
              <a:rPr lang="ko-KR" altLang="en-US" sz="2200" dirty="0" err="1"/>
              <a:t>크롤링을</a:t>
            </a:r>
            <a:r>
              <a:rPr lang="ko-KR" altLang="en-US" sz="2200" dirty="0"/>
              <a:t> 통한 데이터 최신화</a:t>
            </a:r>
            <a:endParaRPr lang="en-US" altLang="ko-KR" sz="2200" dirty="0"/>
          </a:p>
          <a:p>
            <a:pPr marL="457200" indent="-457200" algn="l">
              <a:lnSpc>
                <a:spcPct val="100000"/>
              </a:lnSpc>
              <a:buAutoNum type="arabicPeriod"/>
            </a:pPr>
            <a:endParaRPr lang="en-US" altLang="ko-KR" sz="1050" dirty="0"/>
          </a:p>
          <a:p>
            <a:pPr marL="457200" indent="-457200" algn="l">
              <a:lnSpc>
                <a:spcPct val="100000"/>
              </a:lnSpc>
              <a:buAutoNum type="arabicPeriod"/>
            </a:pPr>
            <a:r>
              <a:rPr lang="ko-KR" altLang="en-US" sz="2200" dirty="0"/>
              <a:t>동시에 최대 </a:t>
            </a:r>
            <a:r>
              <a:rPr lang="en-US" altLang="ko-KR" sz="2200" dirty="0"/>
              <a:t>10</a:t>
            </a:r>
            <a:r>
              <a:rPr lang="ko-KR" altLang="en-US" sz="2200" dirty="0"/>
              <a:t>개의 웹 검색 데이터만 조회 가능</a:t>
            </a:r>
            <a:br>
              <a:rPr lang="en-US" altLang="ko-KR" sz="2200" dirty="0"/>
            </a:b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ko-KR" sz="2200" dirty="0"/>
              <a:t> DB</a:t>
            </a:r>
            <a:r>
              <a:rPr lang="ko-KR" altLang="en-US" sz="2200" dirty="0"/>
              <a:t>에서 직접 데이터를 가져오는 방식으로 여러 데이터 조회 가능 </a:t>
            </a:r>
            <a:endParaRPr lang="en-US" altLang="ko-KR" sz="2200" dirty="0"/>
          </a:p>
          <a:p>
            <a:pPr marL="457200" indent="-457200" algn="l">
              <a:lnSpc>
                <a:spcPct val="100000"/>
              </a:lnSpc>
              <a:buAutoNum type="arabicPeriod"/>
            </a:pPr>
            <a:endParaRPr lang="en-US" altLang="ko-KR" sz="1050" dirty="0"/>
          </a:p>
          <a:p>
            <a:pPr marL="457200" indent="-457200" algn="l">
              <a:lnSpc>
                <a:spcPct val="100000"/>
              </a:lnSpc>
              <a:buAutoNum type="arabicPeriod"/>
            </a:pPr>
            <a:r>
              <a:rPr lang="ko-KR" altLang="en-US" sz="2200" dirty="0"/>
              <a:t>데이터 출처의 신뢰도가 낮음</a:t>
            </a:r>
            <a:br>
              <a:rPr lang="en-US" altLang="ko-KR" sz="2200" dirty="0"/>
            </a:b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ko-KR" sz="2200" dirty="0"/>
              <a:t> </a:t>
            </a:r>
            <a:r>
              <a:rPr lang="ko-KR" altLang="en-US" sz="2200" dirty="0"/>
              <a:t>신뢰할 수 있는 데이터만 수집</a:t>
            </a:r>
            <a:endParaRPr lang="en-US" altLang="ko-KR" sz="1050" dirty="0"/>
          </a:p>
          <a:p>
            <a:pPr marL="457200" indent="-457200" algn="l">
              <a:lnSpc>
                <a:spcPct val="100000"/>
              </a:lnSpc>
              <a:buAutoNum type="arabicPeriod"/>
            </a:pPr>
            <a:endParaRPr lang="en-US" altLang="ko-KR" sz="1050" dirty="0"/>
          </a:p>
          <a:p>
            <a:pPr marL="457200" indent="-457200" algn="l">
              <a:lnSpc>
                <a:spcPct val="100000"/>
              </a:lnSpc>
              <a:buAutoNum type="arabicPeriod"/>
            </a:pPr>
            <a:r>
              <a:rPr lang="ko-KR" altLang="en-US" sz="2200" dirty="0"/>
              <a:t>환각</a:t>
            </a:r>
            <a:r>
              <a:rPr lang="en-US" altLang="ko-KR" sz="2200" dirty="0"/>
              <a:t> </a:t>
            </a:r>
            <a:r>
              <a:rPr lang="ko-KR" altLang="en-US" sz="2200" dirty="0"/>
              <a:t>현상 문제 발생</a:t>
            </a:r>
            <a:br>
              <a:rPr lang="en-US" altLang="ko-KR" sz="2200" dirty="0"/>
            </a:b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→ RAG(</a:t>
            </a:r>
            <a:r>
              <a:rPr lang="ko-K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검색증강생성</a:t>
            </a: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을</a:t>
            </a:r>
            <a:r>
              <a:rPr lang="en-US" altLang="ko-K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추가하여 정확한 데이터 제공 및 환각 방지</a:t>
            </a:r>
            <a:endParaRPr lang="en-US" altLang="ko-KR" sz="22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1EF6FFA-8B3C-6CC1-2C95-ECC670F19B5D}"/>
              </a:ext>
            </a:extLst>
          </p:cNvPr>
          <p:cNvCxnSpPr/>
          <p:nvPr/>
        </p:nvCxnSpPr>
        <p:spPr>
          <a:xfrm>
            <a:off x="-135467" y="931333"/>
            <a:ext cx="12581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9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750" y="247650"/>
            <a:ext cx="8969790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사용 언어</a:t>
            </a:r>
            <a:r>
              <a:rPr lang="en-US" altLang="ko-KR" dirty="0"/>
              <a:t>/</a:t>
            </a:r>
            <a:r>
              <a:rPr lang="ko-KR" altLang="en-US" dirty="0"/>
              <a:t>프레임워크</a:t>
            </a:r>
            <a:r>
              <a:rPr lang="en-US" altLang="ko-KR" dirty="0"/>
              <a:t>/DB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D58837-5761-51E3-7321-54B6C5EC4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729" y="3487943"/>
            <a:ext cx="3129203" cy="17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8BE966D-FF45-166D-570C-3023E9FA8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3" y="1454608"/>
            <a:ext cx="2236688" cy="211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파인콘 : 사용자 후기, 주요 기능, 가격">
            <a:extLst>
              <a:ext uri="{FF2B5EF4-FFF2-40B4-BE49-F238E27FC236}">
                <a16:creationId xmlns:a16="http://schemas.microsoft.com/office/drawing/2014/main" id="{71F33E39-8D60-6BFF-E851-B7E8517F3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359" y="5548375"/>
            <a:ext cx="3341945" cy="84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otstrap | Custom Framework For Your Business">
            <a:extLst>
              <a:ext uri="{FF2B5EF4-FFF2-40B4-BE49-F238E27FC236}">
                <a16:creationId xmlns:a16="http://schemas.microsoft.com/office/drawing/2014/main" id="{26AE3E7C-FA87-4D62-755F-26B100A5B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15" b="26947"/>
          <a:stretch/>
        </p:blipFill>
        <p:spPr bwMode="auto">
          <a:xfrm>
            <a:off x="3605351" y="2908031"/>
            <a:ext cx="3827486" cy="144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플라스크 (웹 프레임워크) - 위키백과, 우리 모두의 백과사전">
            <a:extLst>
              <a:ext uri="{FF2B5EF4-FFF2-40B4-BE49-F238E27FC236}">
                <a16:creationId xmlns:a16="http://schemas.microsoft.com/office/drawing/2014/main" id="{5A4E1F6A-A85E-8380-290A-385491560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498" y="1595815"/>
            <a:ext cx="2771227" cy="108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CF5BC68-B19F-22CC-9F57-696DD66B4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141" y="4638470"/>
            <a:ext cx="2409939" cy="58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lamaIndex: AI 애플리케이션을 위한 데이터 통합 솔루">
            <a:extLst>
              <a:ext uri="{FF2B5EF4-FFF2-40B4-BE49-F238E27FC236}">
                <a16:creationId xmlns:a16="http://schemas.microsoft.com/office/drawing/2014/main" id="{C4E4E5D4-FD85-99A0-8FDA-39A218CD1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06" y="5377731"/>
            <a:ext cx="2900776" cy="118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T 기본 지식] 웹 개발의 기본! HTML,CSS,Javascript | 인천일보아카데미">
            <a:extLst>
              <a:ext uri="{FF2B5EF4-FFF2-40B4-BE49-F238E27FC236}">
                <a16:creationId xmlns:a16="http://schemas.microsoft.com/office/drawing/2014/main" id="{D7BAAD78-35D1-4422-C870-5F3AE19C0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82" y="3874612"/>
            <a:ext cx="2900776" cy="160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A Warm Embrace: Exploring Hugging Face | by Zachary Raicik | Medium">
            <a:extLst>
              <a:ext uri="{FF2B5EF4-FFF2-40B4-BE49-F238E27FC236}">
                <a16:creationId xmlns:a16="http://schemas.microsoft.com/office/drawing/2014/main" id="{63200594-A786-4D2C-4A02-457E93933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339" y="1274294"/>
            <a:ext cx="2588716" cy="172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23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750" y="247650"/>
            <a:ext cx="4591050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데이터 출처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F8FF9-A7F5-C497-1297-DCB22DD01770}"/>
              </a:ext>
            </a:extLst>
          </p:cNvPr>
          <p:cNvSpPr txBox="1"/>
          <p:nvPr/>
        </p:nvSpPr>
        <p:spPr>
          <a:xfrm>
            <a:off x="927100" y="2806700"/>
            <a:ext cx="991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증권사 리포트 데이터</a:t>
            </a:r>
            <a:r>
              <a:rPr lang="en-US" altLang="ko-KR" sz="2500" dirty="0"/>
              <a:t>: </a:t>
            </a:r>
            <a:r>
              <a:rPr lang="ko-KR" altLang="en-US" sz="2500" dirty="0"/>
              <a:t>네이버페이 증권</a:t>
            </a:r>
            <a:endParaRPr lang="en-US" altLang="ko-KR" sz="2500" dirty="0"/>
          </a:p>
          <a:p>
            <a:endParaRPr lang="en-US" altLang="ko-KR" sz="2500" dirty="0"/>
          </a:p>
          <a:p>
            <a:r>
              <a:rPr lang="ko-KR" altLang="en-US" sz="2500" dirty="0"/>
              <a:t>주식 데이터</a:t>
            </a:r>
            <a:r>
              <a:rPr lang="en-US" altLang="ko-KR" sz="2500" dirty="0"/>
              <a:t>: </a:t>
            </a:r>
            <a:r>
              <a:rPr lang="en-US" altLang="ko-KR" sz="2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FinanceDataReader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2500" dirty="0">
                <a:solidFill>
                  <a:srgbClr val="3B3B3B"/>
                </a:solidFill>
                <a:latin typeface="Consolas" panose="020B0609020204030204" pitchFamily="49" charset="0"/>
              </a:rPr>
              <a:t>라이브러리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2500" dirty="0">
                <a:solidFill>
                  <a:srgbClr val="3B3B3B"/>
                </a:solidFill>
                <a:latin typeface="Consolas" panose="020B0609020204030204" pitchFamily="49" charset="0"/>
              </a:rPr>
              <a:t>한국거래소 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API </a:t>
            </a:r>
            <a:r>
              <a:rPr lang="ko-KR" altLang="en-US" sz="2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endParaRPr lang="en-US" altLang="ko-KR" sz="25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altLang="ko-KR" sz="2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LLM : 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GPT-4 Turbo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893552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더 저렴하고 더 강해진 ChatGPT-4 Turbo">
            <a:extLst>
              <a:ext uri="{FF2B5EF4-FFF2-40B4-BE49-F238E27FC236}">
                <a16:creationId xmlns:a16="http://schemas.microsoft.com/office/drawing/2014/main" id="{1D0CC260-D536-AD8C-76DF-46CA2F35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5702863"/>
            <a:ext cx="1279524" cy="78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43EC4159-BE73-01E1-7B23-C32BDC752C7F}"/>
              </a:ext>
            </a:extLst>
          </p:cNvPr>
          <p:cNvSpPr txBox="1"/>
          <p:nvPr/>
        </p:nvSpPr>
        <p:spPr>
          <a:xfrm>
            <a:off x="-57360" y="4772283"/>
            <a:ext cx="1511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자연어 데이터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98" y="253869"/>
            <a:ext cx="4218704" cy="928687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서버 구성도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8649EF-D950-A9D7-F65A-E0F9652C44A3}"/>
              </a:ext>
            </a:extLst>
          </p:cNvPr>
          <p:cNvSpPr/>
          <p:nvPr/>
        </p:nvSpPr>
        <p:spPr>
          <a:xfrm>
            <a:off x="3744233" y="654778"/>
            <a:ext cx="7810500" cy="489585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86C55-D773-230F-6BB8-2BBC8D4411E7}"/>
              </a:ext>
            </a:extLst>
          </p:cNvPr>
          <p:cNvSpPr txBox="1"/>
          <p:nvPr/>
        </p:nvSpPr>
        <p:spPr>
          <a:xfrm>
            <a:off x="6436041" y="285446"/>
            <a:ext cx="242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오라클 클라우드 </a:t>
            </a:r>
            <a:r>
              <a:rPr lang="en-US" altLang="ko-KR" dirty="0"/>
              <a:t>VCN</a:t>
            </a:r>
            <a:endParaRPr lang="ko-KR" altLang="en-US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31221ADF-1770-BD73-C303-86876E5501DA}"/>
              </a:ext>
            </a:extLst>
          </p:cNvPr>
          <p:cNvSpPr/>
          <p:nvPr/>
        </p:nvSpPr>
        <p:spPr>
          <a:xfrm>
            <a:off x="4049032" y="1157460"/>
            <a:ext cx="3600450" cy="414655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CFB72D94-ADE9-1C26-B0E2-1D903145EA5D}"/>
              </a:ext>
            </a:extLst>
          </p:cNvPr>
          <p:cNvSpPr/>
          <p:nvPr/>
        </p:nvSpPr>
        <p:spPr>
          <a:xfrm>
            <a:off x="7954281" y="1157460"/>
            <a:ext cx="3263900" cy="414655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F57345-171E-0E98-40A3-226B93F65420}"/>
              </a:ext>
            </a:extLst>
          </p:cNvPr>
          <p:cNvSpPr/>
          <p:nvPr/>
        </p:nvSpPr>
        <p:spPr>
          <a:xfrm>
            <a:off x="5084082" y="1018276"/>
            <a:ext cx="164782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퍼블릭 </a:t>
            </a:r>
            <a:r>
              <a:rPr lang="ko-KR" altLang="en-US" dirty="0" err="1">
                <a:solidFill>
                  <a:schemeClr val="tx1"/>
                </a:solidFill>
              </a:rPr>
              <a:t>서브넷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22884-0EA8-91E0-8289-21FDD2BD39D9}"/>
              </a:ext>
            </a:extLst>
          </p:cNvPr>
          <p:cNvSpPr/>
          <p:nvPr/>
        </p:nvSpPr>
        <p:spPr>
          <a:xfrm>
            <a:off x="8684532" y="1018276"/>
            <a:ext cx="189389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프라이빗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서브넷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순서도: 대체 처리 23">
            <a:extLst>
              <a:ext uri="{FF2B5EF4-FFF2-40B4-BE49-F238E27FC236}">
                <a16:creationId xmlns:a16="http://schemas.microsoft.com/office/drawing/2014/main" id="{1D092005-C0D4-281A-AE42-2C35A29CBA5D}"/>
              </a:ext>
            </a:extLst>
          </p:cNvPr>
          <p:cNvSpPr/>
          <p:nvPr/>
        </p:nvSpPr>
        <p:spPr>
          <a:xfrm>
            <a:off x="1393825" y="2286000"/>
            <a:ext cx="1406525" cy="667782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웹 </a:t>
            </a:r>
            <a:r>
              <a:rPr lang="ko-KR" altLang="en-US" dirty="0" err="1">
                <a:solidFill>
                  <a:schemeClr val="tx1"/>
                </a:solidFill>
              </a:rPr>
              <a:t>크롤러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7767EAA-8DFB-6469-C2EF-1B51B943D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70" y="1312056"/>
            <a:ext cx="1626795" cy="680984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D7C2247-2D61-F8ED-431D-BAC1FDA85574}"/>
              </a:ext>
            </a:extLst>
          </p:cNvPr>
          <p:cNvCxnSpPr/>
          <p:nvPr/>
        </p:nvCxnSpPr>
        <p:spPr>
          <a:xfrm>
            <a:off x="1320800" y="1917700"/>
            <a:ext cx="203200" cy="279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CEF0EB-1F1C-7F99-6671-A2996BDF44CD}"/>
              </a:ext>
            </a:extLst>
          </p:cNvPr>
          <p:cNvSpPr txBox="1"/>
          <p:nvPr/>
        </p:nvSpPr>
        <p:spPr>
          <a:xfrm>
            <a:off x="1454152" y="1873935"/>
            <a:ext cx="1235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증권 데이터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79FB85-A28B-A718-9580-0A5286ED40E9}"/>
              </a:ext>
            </a:extLst>
          </p:cNvPr>
          <p:cNvSpPr txBox="1"/>
          <p:nvPr/>
        </p:nvSpPr>
        <p:spPr>
          <a:xfrm>
            <a:off x="7191814" y="1599423"/>
            <a:ext cx="1235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Json </a:t>
            </a:r>
            <a:r>
              <a:rPr lang="ko-KR" altLang="en-US" sz="1500" dirty="0"/>
              <a:t>데이터</a:t>
            </a:r>
          </a:p>
        </p:txBody>
      </p:sp>
      <p:sp>
        <p:nvSpPr>
          <p:cNvPr id="37" name="순서도: 대체 처리 36">
            <a:extLst>
              <a:ext uri="{FF2B5EF4-FFF2-40B4-BE49-F238E27FC236}">
                <a16:creationId xmlns:a16="http://schemas.microsoft.com/office/drawing/2014/main" id="{8345730C-E2F5-B3D1-8D76-0B883F0EA5DD}"/>
              </a:ext>
            </a:extLst>
          </p:cNvPr>
          <p:cNvSpPr/>
          <p:nvPr/>
        </p:nvSpPr>
        <p:spPr>
          <a:xfrm>
            <a:off x="4803249" y="1662454"/>
            <a:ext cx="2009673" cy="922724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NAT </a:t>
            </a:r>
            <a:r>
              <a:rPr lang="ko-KR" altLang="en-US" dirty="0">
                <a:solidFill>
                  <a:schemeClr val="tx1"/>
                </a:solidFill>
              </a:rPr>
              <a:t>게이트웨이</a:t>
            </a:r>
          </a:p>
        </p:txBody>
      </p:sp>
      <p:sp>
        <p:nvSpPr>
          <p:cNvPr id="40" name="순서도: 대체 처리 39">
            <a:extLst>
              <a:ext uri="{FF2B5EF4-FFF2-40B4-BE49-F238E27FC236}">
                <a16:creationId xmlns:a16="http://schemas.microsoft.com/office/drawing/2014/main" id="{C2D41B1A-DDE1-D267-B69C-9171FD636680}"/>
              </a:ext>
            </a:extLst>
          </p:cNvPr>
          <p:cNvSpPr/>
          <p:nvPr/>
        </p:nvSpPr>
        <p:spPr>
          <a:xfrm>
            <a:off x="8654316" y="1556398"/>
            <a:ext cx="2009673" cy="2856852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36" name="Picture 12" descr="오라클, AWS 환경에서 MySQL 히트웨이브 상용화 &lt; 솔루션가이드 &lt; IT·산업 &lt; 뉴스 &lt; 기사본문 - 지티티코리아">
            <a:extLst>
              <a:ext uri="{FF2B5EF4-FFF2-40B4-BE49-F238E27FC236}">
                <a16:creationId xmlns:a16="http://schemas.microsoft.com/office/drawing/2014/main" id="{4DA33CC5-C757-FA35-1352-FA103C27E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656" y="2452636"/>
            <a:ext cx="2108120" cy="15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24E98DD-98E7-D213-6943-F387688DFF5D}"/>
              </a:ext>
            </a:extLst>
          </p:cNvPr>
          <p:cNvSpPr txBox="1"/>
          <p:nvPr/>
        </p:nvSpPr>
        <p:spPr>
          <a:xfrm>
            <a:off x="8832359" y="2051230"/>
            <a:ext cx="1653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  증권데이터 </a:t>
            </a:r>
            <a:r>
              <a:rPr lang="en-US" altLang="ko-KR" sz="1500" dirty="0"/>
              <a:t>DB</a:t>
            </a:r>
            <a:endParaRPr lang="ko-KR" altLang="en-US" sz="15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3DB4C8-0053-FCD0-4D69-B4BF5B43587C}"/>
              </a:ext>
            </a:extLst>
          </p:cNvPr>
          <p:cNvSpPr txBox="1"/>
          <p:nvPr/>
        </p:nvSpPr>
        <p:spPr>
          <a:xfrm>
            <a:off x="2341137" y="3343901"/>
            <a:ext cx="1235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Json </a:t>
            </a:r>
            <a:r>
              <a:rPr lang="ko-KR" altLang="en-US" sz="1500" dirty="0"/>
              <a:t>데이터</a:t>
            </a:r>
          </a:p>
        </p:txBody>
      </p:sp>
      <p:sp>
        <p:nvSpPr>
          <p:cNvPr id="52" name="순서도: 대체 처리 51">
            <a:extLst>
              <a:ext uri="{FF2B5EF4-FFF2-40B4-BE49-F238E27FC236}">
                <a16:creationId xmlns:a16="http://schemas.microsoft.com/office/drawing/2014/main" id="{9CE3C1DB-E291-C760-45F4-32AC3A76C9C8}"/>
              </a:ext>
            </a:extLst>
          </p:cNvPr>
          <p:cNvSpPr/>
          <p:nvPr/>
        </p:nvSpPr>
        <p:spPr>
          <a:xfrm>
            <a:off x="369831" y="3102703"/>
            <a:ext cx="2009673" cy="1632029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291DDC-D788-C56C-67AA-793E9A319A9F}"/>
              </a:ext>
            </a:extLst>
          </p:cNvPr>
          <p:cNvSpPr txBox="1"/>
          <p:nvPr/>
        </p:nvSpPr>
        <p:spPr>
          <a:xfrm>
            <a:off x="926046" y="3267417"/>
            <a:ext cx="12795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벡터 </a:t>
            </a:r>
            <a:r>
              <a:rPr lang="en-US" altLang="ko-KR" sz="1500" dirty="0"/>
              <a:t>DB</a:t>
            </a:r>
            <a:endParaRPr lang="ko-KR" altLang="en-US" sz="1500" dirty="0"/>
          </a:p>
        </p:txBody>
      </p:sp>
      <p:pic>
        <p:nvPicPr>
          <p:cNvPr id="54" name="Picture 6" descr="파인콘 : 사용자 후기, 주요 기능, 가격">
            <a:extLst>
              <a:ext uri="{FF2B5EF4-FFF2-40B4-BE49-F238E27FC236}">
                <a16:creationId xmlns:a16="http://schemas.microsoft.com/office/drawing/2014/main" id="{E9C87D9D-45E4-A360-4AFA-16D427C54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38" y="3822699"/>
            <a:ext cx="1682924" cy="42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순서도: 대체 처리 54">
            <a:extLst>
              <a:ext uri="{FF2B5EF4-FFF2-40B4-BE49-F238E27FC236}">
                <a16:creationId xmlns:a16="http://schemas.microsoft.com/office/drawing/2014/main" id="{6BD86C6D-0FD8-D09A-6E16-F08A4753A9CB}"/>
              </a:ext>
            </a:extLst>
          </p:cNvPr>
          <p:cNvSpPr/>
          <p:nvPr/>
        </p:nvSpPr>
        <p:spPr>
          <a:xfrm>
            <a:off x="4350810" y="2738603"/>
            <a:ext cx="3049279" cy="21960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순서도: 대체 처리 57">
            <a:extLst>
              <a:ext uri="{FF2B5EF4-FFF2-40B4-BE49-F238E27FC236}">
                <a16:creationId xmlns:a16="http://schemas.microsoft.com/office/drawing/2014/main" id="{865CE442-11E5-9494-137E-923419F8F841}"/>
              </a:ext>
            </a:extLst>
          </p:cNvPr>
          <p:cNvSpPr/>
          <p:nvPr/>
        </p:nvSpPr>
        <p:spPr>
          <a:xfrm>
            <a:off x="390933" y="5095308"/>
            <a:ext cx="2009673" cy="1433263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236054-BE5C-63BA-9CBC-7B1AE1805A95}"/>
              </a:ext>
            </a:extLst>
          </p:cNvPr>
          <p:cNvSpPr txBox="1"/>
          <p:nvPr/>
        </p:nvSpPr>
        <p:spPr>
          <a:xfrm>
            <a:off x="540880" y="5166600"/>
            <a:ext cx="177195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외부 </a:t>
            </a:r>
            <a:r>
              <a:rPr lang="en-US" altLang="ko-KR" sz="1500" dirty="0"/>
              <a:t>API,</a:t>
            </a:r>
            <a:br>
              <a:rPr lang="en-US" altLang="ko-KR" sz="1500" dirty="0"/>
            </a:br>
            <a:r>
              <a:rPr lang="ko-KR" altLang="en-US" sz="1600" dirty="0"/>
              <a:t>래퍼 라이브러리</a:t>
            </a:r>
            <a:endParaRPr lang="ko-KR" altLang="en-US" sz="15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3FE3DC0-B09E-70C4-EE3B-ABFD22D1C0D3}"/>
              </a:ext>
            </a:extLst>
          </p:cNvPr>
          <p:cNvCxnSpPr>
            <a:cxnSpLocks/>
          </p:cNvCxnSpPr>
          <p:nvPr/>
        </p:nvCxnSpPr>
        <p:spPr>
          <a:xfrm>
            <a:off x="1286267" y="4734732"/>
            <a:ext cx="0" cy="36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8C0F0DB1-9821-93A1-FEAD-0A8C7E605247}"/>
              </a:ext>
            </a:extLst>
          </p:cNvPr>
          <p:cNvCxnSpPr>
            <a:cxnSpLocks/>
          </p:cNvCxnSpPr>
          <p:nvPr/>
        </p:nvCxnSpPr>
        <p:spPr>
          <a:xfrm flipV="1">
            <a:off x="1505344" y="4734732"/>
            <a:ext cx="0" cy="36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3F9A572-E1CC-0A40-F835-B30FE6064FEF}"/>
              </a:ext>
            </a:extLst>
          </p:cNvPr>
          <p:cNvSpPr txBox="1"/>
          <p:nvPr/>
        </p:nvSpPr>
        <p:spPr>
          <a:xfrm>
            <a:off x="1527358" y="4761417"/>
            <a:ext cx="1450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/>
              <a:t>임베딩</a:t>
            </a:r>
            <a:r>
              <a:rPr lang="ko-KR" altLang="en-US" sz="1500" dirty="0"/>
              <a:t> 데이터</a:t>
            </a:r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ECA162DF-EAB3-635C-E981-C5318DC8D03B}"/>
              </a:ext>
            </a:extLst>
          </p:cNvPr>
          <p:cNvSpPr/>
          <p:nvPr/>
        </p:nvSpPr>
        <p:spPr>
          <a:xfrm>
            <a:off x="5025343" y="2781911"/>
            <a:ext cx="164782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웹 프로그램</a:t>
            </a:r>
          </a:p>
        </p:txBody>
      </p:sp>
      <p:pic>
        <p:nvPicPr>
          <p:cNvPr id="1042" name="Picture 8" descr="플라스크 (웹 프레임워크) - 위키백과, 우리 모두의 백과사전">
            <a:extLst>
              <a:ext uri="{FF2B5EF4-FFF2-40B4-BE49-F238E27FC236}">
                <a16:creationId xmlns:a16="http://schemas.microsoft.com/office/drawing/2014/main" id="{85E7C109-C9DC-AE8A-8FC1-17FB7FB26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579" y="3188427"/>
            <a:ext cx="1376416" cy="53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0" descr="Bootstrap | Custom Framework For Your Business">
            <a:extLst>
              <a:ext uri="{FF2B5EF4-FFF2-40B4-BE49-F238E27FC236}">
                <a16:creationId xmlns:a16="http://schemas.microsoft.com/office/drawing/2014/main" id="{7F0BDFA7-57D9-FF0C-F164-88919DC63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07" b="26946"/>
          <a:stretch/>
        </p:blipFill>
        <p:spPr bwMode="auto">
          <a:xfrm>
            <a:off x="5869494" y="3162237"/>
            <a:ext cx="1477072" cy="57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8" name="연결선: 꺾임 1047">
            <a:extLst>
              <a:ext uri="{FF2B5EF4-FFF2-40B4-BE49-F238E27FC236}">
                <a16:creationId xmlns:a16="http://schemas.microsoft.com/office/drawing/2014/main" id="{7622667E-D850-B660-E236-F865CBC240F9}"/>
              </a:ext>
            </a:extLst>
          </p:cNvPr>
          <p:cNvCxnSpPr>
            <a:cxnSpLocks/>
          </p:cNvCxnSpPr>
          <p:nvPr/>
        </p:nvCxnSpPr>
        <p:spPr>
          <a:xfrm flipV="1">
            <a:off x="2795178" y="1937797"/>
            <a:ext cx="5853966" cy="562491"/>
          </a:xfrm>
          <a:prstGeom prst="bentConnector3">
            <a:avLst>
              <a:gd name="adj1" fmla="val 574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2" name="연결선: 꺾임 1051">
            <a:extLst>
              <a:ext uri="{FF2B5EF4-FFF2-40B4-BE49-F238E27FC236}">
                <a16:creationId xmlns:a16="http://schemas.microsoft.com/office/drawing/2014/main" id="{5A6B5DED-7E8E-C317-F91B-944D8C501CBC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 flipV="1">
            <a:off x="2386000" y="2984823"/>
            <a:ext cx="6268316" cy="7062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65" name="Picture 20" descr="사람 아이콘 일러스트 | PNG 아이콘 | Pngtree에 무료 다운로드">
            <a:extLst>
              <a:ext uri="{FF2B5EF4-FFF2-40B4-BE49-F238E27FC236}">
                <a16:creationId xmlns:a16="http://schemas.microsoft.com/office/drawing/2014/main" id="{9C5B4068-0458-2DA4-E1B3-8E6FBD58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382" y="6015734"/>
            <a:ext cx="824834" cy="82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97819B0F-5266-7232-BD77-691441377310}"/>
              </a:ext>
            </a:extLst>
          </p:cNvPr>
          <p:cNvCxnSpPr>
            <a:cxnSpLocks/>
          </p:cNvCxnSpPr>
          <p:nvPr/>
        </p:nvCxnSpPr>
        <p:spPr>
          <a:xfrm flipH="1" flipV="1">
            <a:off x="6871870" y="4673894"/>
            <a:ext cx="849860" cy="1318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5B47AE2-3C05-192A-400D-70B73D939D07}"/>
              </a:ext>
            </a:extLst>
          </p:cNvPr>
          <p:cNvSpPr txBox="1"/>
          <p:nvPr/>
        </p:nvSpPr>
        <p:spPr>
          <a:xfrm>
            <a:off x="8147694" y="6446837"/>
            <a:ext cx="8248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사용자</a:t>
            </a:r>
          </a:p>
        </p:txBody>
      </p:sp>
      <p:pic>
        <p:nvPicPr>
          <p:cNvPr id="1076" name="Picture 4">
            <a:extLst>
              <a:ext uri="{FF2B5EF4-FFF2-40B4-BE49-F238E27FC236}">
                <a16:creationId xmlns:a16="http://schemas.microsoft.com/office/drawing/2014/main" id="{A515C4D5-A764-5D4F-2C02-D93C7560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794" y="3911802"/>
            <a:ext cx="898576" cy="84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9" name="직선 화살표 연결선 1088">
            <a:extLst>
              <a:ext uri="{FF2B5EF4-FFF2-40B4-BE49-F238E27FC236}">
                <a16:creationId xmlns:a16="http://schemas.microsoft.com/office/drawing/2014/main" id="{925B782F-F66F-E232-CB51-E38A24C5C4E2}"/>
              </a:ext>
            </a:extLst>
          </p:cNvPr>
          <p:cNvCxnSpPr>
            <a:cxnSpLocks/>
          </p:cNvCxnSpPr>
          <p:nvPr/>
        </p:nvCxnSpPr>
        <p:spPr>
          <a:xfrm>
            <a:off x="2456734" y="4030208"/>
            <a:ext cx="18236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1" name="TextBox 1090">
            <a:extLst>
              <a:ext uri="{FF2B5EF4-FFF2-40B4-BE49-F238E27FC236}">
                <a16:creationId xmlns:a16="http://schemas.microsoft.com/office/drawing/2014/main" id="{2E3FFCCA-5950-B393-97FD-BDDA097FD6C6}"/>
              </a:ext>
            </a:extLst>
          </p:cNvPr>
          <p:cNvSpPr txBox="1"/>
          <p:nvPr/>
        </p:nvSpPr>
        <p:spPr>
          <a:xfrm>
            <a:off x="2395909" y="4056894"/>
            <a:ext cx="14369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원하는 데이터 요청</a:t>
            </a:r>
            <a:r>
              <a:rPr lang="en-US" altLang="ko-KR" sz="1500" dirty="0"/>
              <a:t>&amp;</a:t>
            </a:r>
            <a:r>
              <a:rPr lang="ko-KR" altLang="en-US" sz="1500" dirty="0"/>
              <a:t>반환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AE8496C-6F67-CED7-5452-D2A04C3E0019}"/>
              </a:ext>
            </a:extLst>
          </p:cNvPr>
          <p:cNvSpPr txBox="1"/>
          <p:nvPr/>
        </p:nvSpPr>
        <p:spPr>
          <a:xfrm>
            <a:off x="7651499" y="5644024"/>
            <a:ext cx="12114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자연어 질문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D936AD3A-6C06-4B4D-A558-2D2C2CA2ECCD}"/>
              </a:ext>
            </a:extLst>
          </p:cNvPr>
          <p:cNvSpPr txBox="1"/>
          <p:nvPr/>
        </p:nvSpPr>
        <p:spPr>
          <a:xfrm>
            <a:off x="6222290" y="5759798"/>
            <a:ext cx="10192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결과 반환</a:t>
            </a:r>
          </a:p>
        </p:txBody>
      </p:sp>
      <p:cxnSp>
        <p:nvCxnSpPr>
          <p:cNvPr id="1100" name="직선 화살표 연결선 1099">
            <a:extLst>
              <a:ext uri="{FF2B5EF4-FFF2-40B4-BE49-F238E27FC236}">
                <a16:creationId xmlns:a16="http://schemas.microsoft.com/office/drawing/2014/main" id="{AB0878D8-C655-9F01-D955-70FE9AEF184C}"/>
              </a:ext>
            </a:extLst>
          </p:cNvPr>
          <p:cNvCxnSpPr>
            <a:cxnSpLocks/>
          </p:cNvCxnSpPr>
          <p:nvPr/>
        </p:nvCxnSpPr>
        <p:spPr>
          <a:xfrm flipH="1">
            <a:off x="2521379" y="4565804"/>
            <a:ext cx="2110075" cy="848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2" name="TextBox 1101">
            <a:extLst>
              <a:ext uri="{FF2B5EF4-FFF2-40B4-BE49-F238E27FC236}">
                <a16:creationId xmlns:a16="http://schemas.microsoft.com/office/drawing/2014/main" id="{F00305AB-CF30-B2EE-E21A-C9745CDF18DB}"/>
              </a:ext>
            </a:extLst>
          </p:cNvPr>
          <p:cNvSpPr txBox="1"/>
          <p:nvPr/>
        </p:nvSpPr>
        <p:spPr>
          <a:xfrm>
            <a:off x="2666489" y="5222071"/>
            <a:ext cx="1450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사용자 질문 </a:t>
            </a:r>
            <a:r>
              <a:rPr lang="en-US" altLang="ko-KR" sz="1500" dirty="0"/>
              <a:t>+ </a:t>
            </a:r>
            <a:r>
              <a:rPr lang="ko-KR" altLang="en-US" sz="1500" dirty="0"/>
              <a:t>관련 데이터</a:t>
            </a:r>
          </a:p>
        </p:txBody>
      </p:sp>
      <p:cxnSp>
        <p:nvCxnSpPr>
          <p:cNvPr id="1128" name="직선 화살표 연결선 1127">
            <a:extLst>
              <a:ext uri="{FF2B5EF4-FFF2-40B4-BE49-F238E27FC236}">
                <a16:creationId xmlns:a16="http://schemas.microsoft.com/office/drawing/2014/main" id="{44C45A93-1AE2-C4BB-68CA-DC67FD62863C}"/>
              </a:ext>
            </a:extLst>
          </p:cNvPr>
          <p:cNvCxnSpPr>
            <a:cxnSpLocks/>
          </p:cNvCxnSpPr>
          <p:nvPr/>
        </p:nvCxnSpPr>
        <p:spPr>
          <a:xfrm>
            <a:off x="6544726" y="4658787"/>
            <a:ext cx="1000146" cy="1579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6" name="직선 연결선 1135">
            <a:extLst>
              <a:ext uri="{FF2B5EF4-FFF2-40B4-BE49-F238E27FC236}">
                <a16:creationId xmlns:a16="http://schemas.microsoft.com/office/drawing/2014/main" id="{FA2A172C-1069-7F68-C565-20723F537123}"/>
              </a:ext>
            </a:extLst>
          </p:cNvPr>
          <p:cNvCxnSpPr/>
          <p:nvPr/>
        </p:nvCxnSpPr>
        <p:spPr>
          <a:xfrm flipH="1">
            <a:off x="2395909" y="4673894"/>
            <a:ext cx="4148817" cy="1472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8" descr="IT 기본 지식] 웹 개발의 기본! HTML,CSS,Javascript | 인천일보아카데미">
            <a:extLst>
              <a:ext uri="{FF2B5EF4-FFF2-40B4-BE49-F238E27FC236}">
                <a16:creationId xmlns:a16="http://schemas.microsoft.com/office/drawing/2014/main" id="{951FE1AE-FA22-BC93-5E89-B3E23C40B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161" y="3898891"/>
            <a:ext cx="1117025" cy="61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02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원통형 16">
            <a:extLst>
              <a:ext uri="{FF2B5EF4-FFF2-40B4-BE49-F238E27FC236}">
                <a16:creationId xmlns:a16="http://schemas.microsoft.com/office/drawing/2014/main" id="{1A6628E7-F844-3265-72D5-3F8FB1B90C0B}"/>
              </a:ext>
            </a:extLst>
          </p:cNvPr>
          <p:cNvSpPr/>
          <p:nvPr/>
        </p:nvSpPr>
        <p:spPr>
          <a:xfrm>
            <a:off x="6509116" y="3225435"/>
            <a:ext cx="1242479" cy="1427051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15E081-1768-4953-AB9A-C266A6AB4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96" y="245880"/>
            <a:ext cx="5304954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구성도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DB7710B-8C33-10B5-2C2B-2A6C201E35B7}"/>
              </a:ext>
            </a:extLst>
          </p:cNvPr>
          <p:cNvGrpSpPr/>
          <p:nvPr/>
        </p:nvGrpSpPr>
        <p:grpSpPr>
          <a:xfrm>
            <a:off x="864208" y="2333944"/>
            <a:ext cx="2217828" cy="3297580"/>
            <a:chOff x="629518" y="1657350"/>
            <a:chExt cx="3041318" cy="446405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06738CA-AE62-CDD3-4F14-9FFDD5C0F53C}"/>
                </a:ext>
              </a:extLst>
            </p:cNvPr>
            <p:cNvSpPr/>
            <p:nvPr/>
          </p:nvSpPr>
          <p:spPr>
            <a:xfrm>
              <a:off x="697139" y="1657350"/>
              <a:ext cx="2756638" cy="4464050"/>
            </a:xfrm>
            <a:prstGeom prst="round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AE81AE-D956-A02A-FCE9-CDEE3AF97CCB}"/>
                </a:ext>
              </a:extLst>
            </p:cNvPr>
            <p:cNvSpPr txBox="1"/>
            <p:nvPr/>
          </p:nvSpPr>
          <p:spPr>
            <a:xfrm>
              <a:off x="1051087" y="3073421"/>
              <a:ext cx="2048742" cy="2833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 err="1"/>
                <a:t>미래에셋증권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신한투자증권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하나증권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 err="1"/>
                <a:t>유안타증권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대신증권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300" dirty="0"/>
                <a:t>SK</a:t>
              </a:r>
              <a:r>
                <a:rPr lang="ko-KR" altLang="en-US" sz="1300" dirty="0"/>
                <a:t>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삼성증권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 err="1"/>
                <a:t>키움증권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300" dirty="0"/>
                <a:t>DS</a:t>
              </a:r>
              <a:r>
                <a:rPr lang="ko-KR" altLang="en-US" sz="1300" dirty="0"/>
                <a:t>투자증권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한화투자증권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0E0300-1EE1-2D4C-D2B7-E6B8C6CEBD5B}"/>
                </a:ext>
              </a:extLst>
            </p:cNvPr>
            <p:cNvSpPr txBox="1"/>
            <p:nvPr/>
          </p:nvSpPr>
          <p:spPr>
            <a:xfrm>
              <a:off x="629518" y="2461576"/>
              <a:ext cx="3041318" cy="437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유명 증권사 </a:t>
              </a:r>
              <a:r>
                <a:rPr lang="en-US" altLang="ko-KR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10</a:t>
              </a:r>
              <a:r>
                <a:rPr lang="ko-KR" altLang="en-US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개 지정</a:t>
              </a: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778A5A-6971-AF7D-B0DA-EA5EA6818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059" y="1780592"/>
              <a:ext cx="1626795" cy="680984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3B6D6C-C960-6FF1-EFAC-1AEFEE50C897}"/>
              </a:ext>
            </a:extLst>
          </p:cNvPr>
          <p:cNvGrpSpPr/>
          <p:nvPr/>
        </p:nvGrpSpPr>
        <p:grpSpPr>
          <a:xfrm>
            <a:off x="4347524" y="2610487"/>
            <a:ext cx="1578597" cy="3021024"/>
            <a:chOff x="4347524" y="2610487"/>
            <a:chExt cx="1578597" cy="30210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05A499-0C61-C847-40B7-57EB831105E3}"/>
                </a:ext>
              </a:extLst>
            </p:cNvPr>
            <p:cNvSpPr txBox="1"/>
            <p:nvPr/>
          </p:nvSpPr>
          <p:spPr>
            <a:xfrm>
              <a:off x="4347524" y="2610487"/>
              <a:ext cx="1578597" cy="308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.JSON</a:t>
              </a:r>
              <a:endParaRPr lang="ko-KR" altLang="en-US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3B731B7-862F-0C20-4712-93E8D4A15B1D}"/>
                </a:ext>
              </a:extLst>
            </p:cNvPr>
            <p:cNvGrpSpPr/>
            <p:nvPr/>
          </p:nvGrpSpPr>
          <p:grpSpPr>
            <a:xfrm>
              <a:off x="4501376" y="2993811"/>
              <a:ext cx="1399560" cy="2637700"/>
              <a:chOff x="3771004" y="1659653"/>
              <a:chExt cx="1892406" cy="309801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7E9C37-4231-86FC-AD38-2991E032577F}"/>
                  </a:ext>
                </a:extLst>
              </p:cNvPr>
              <p:cNvSpPr txBox="1"/>
              <p:nvPr/>
            </p:nvSpPr>
            <p:spPr>
              <a:xfrm>
                <a:off x="3861598" y="1760188"/>
                <a:ext cx="1801812" cy="2689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/>
                  <a:t>{ </a:t>
                </a:r>
              </a:p>
              <a:p>
                <a:r>
                  <a:rPr lang="en-US" altLang="ko-KR" sz="1400" dirty="0"/>
                  <a:t>   "</a:t>
                </a:r>
                <a:r>
                  <a:rPr lang="ko-KR" altLang="en-US" sz="1400" dirty="0" err="1"/>
                  <a:t>종목명</a:t>
                </a:r>
                <a:r>
                  <a:rPr lang="en-US" altLang="ko-KR" sz="1400" dirty="0"/>
                  <a:t>": , </a:t>
                </a:r>
              </a:p>
              <a:p>
                <a:r>
                  <a:rPr lang="en-US" altLang="ko-KR" sz="1400" dirty="0"/>
                  <a:t>   "</a:t>
                </a:r>
                <a:r>
                  <a:rPr lang="ko-KR" altLang="en-US" sz="1400" dirty="0"/>
                  <a:t>제목</a:t>
                </a:r>
                <a:r>
                  <a:rPr lang="en-US" altLang="ko-KR" sz="1400" dirty="0"/>
                  <a:t>": , </a:t>
                </a:r>
              </a:p>
              <a:p>
                <a:r>
                  <a:rPr lang="en-US" altLang="ko-KR" sz="1400" dirty="0"/>
                  <a:t>   "</a:t>
                </a:r>
                <a:r>
                  <a:rPr lang="ko-KR" altLang="en-US" sz="1400" dirty="0"/>
                  <a:t>증권사</a:t>
                </a:r>
                <a:r>
                  <a:rPr lang="en-US" altLang="ko-KR" sz="1400" dirty="0"/>
                  <a:t>": ,</a:t>
                </a:r>
              </a:p>
              <a:p>
                <a:r>
                  <a:rPr lang="en-US" altLang="ko-KR" sz="1400" dirty="0"/>
                  <a:t>   "</a:t>
                </a:r>
                <a:r>
                  <a:rPr lang="ko-KR" altLang="en-US" sz="1400" dirty="0"/>
                  <a:t>작성일</a:t>
                </a:r>
                <a:r>
                  <a:rPr lang="en-US" altLang="ko-KR" sz="1400" dirty="0"/>
                  <a:t>": ,</a:t>
                </a:r>
              </a:p>
              <a:p>
                <a:r>
                  <a:rPr lang="en-US" altLang="ko-KR" sz="1400" dirty="0"/>
                  <a:t>  ＂</a:t>
                </a:r>
                <a:r>
                  <a:rPr lang="ko-KR" altLang="en-US" sz="1400" dirty="0"/>
                  <a:t>목표가</a:t>
                </a:r>
                <a:r>
                  <a:rPr lang="en-US" altLang="ko-KR" sz="1400" dirty="0"/>
                  <a:t>": ,</a:t>
                </a:r>
              </a:p>
              <a:p>
                <a:r>
                  <a:rPr lang="en-US" altLang="ko-KR" sz="1400" dirty="0"/>
                  <a:t>   "</a:t>
                </a:r>
                <a:r>
                  <a:rPr lang="ko-KR" altLang="en-US" sz="1400" dirty="0"/>
                  <a:t>투자의견</a:t>
                </a:r>
                <a:r>
                  <a:rPr lang="en-US" altLang="ko-KR" sz="1400" dirty="0"/>
                  <a:t>": ,</a:t>
                </a:r>
              </a:p>
              <a:p>
                <a:r>
                  <a:rPr lang="en-US" altLang="ko-KR" sz="1400" dirty="0"/>
                  <a:t>  ＂</a:t>
                </a:r>
                <a:r>
                  <a:rPr lang="ko-KR" altLang="en-US" sz="1400" dirty="0"/>
                  <a:t>부제</a:t>
                </a:r>
                <a:r>
                  <a:rPr lang="en-US" altLang="ko-KR" sz="1400" dirty="0"/>
                  <a:t>": ,</a:t>
                </a:r>
              </a:p>
              <a:p>
                <a:r>
                  <a:rPr lang="en-US" altLang="ko-KR" sz="1400" dirty="0"/>
                  <a:t>  ＂</a:t>
                </a:r>
                <a:r>
                  <a:rPr lang="ko-KR" altLang="en-US" sz="1400" dirty="0"/>
                  <a:t>본문</a:t>
                </a:r>
                <a:r>
                  <a:rPr lang="en-US" altLang="ko-KR" sz="1400" dirty="0"/>
                  <a:t>":  </a:t>
                </a:r>
              </a:p>
              <a:p>
                <a:r>
                  <a:rPr lang="en-US" altLang="ko-KR" sz="1400" dirty="0"/>
                  <a:t>}</a:t>
                </a:r>
                <a:endParaRPr lang="ko-KR" altLang="en-US" sz="1400" dirty="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99321035-EA7F-6E2E-5BF6-68DD6F3544BF}"/>
                  </a:ext>
                </a:extLst>
              </p:cNvPr>
              <p:cNvSpPr/>
              <p:nvPr/>
            </p:nvSpPr>
            <p:spPr>
              <a:xfrm>
                <a:off x="3771004" y="1659653"/>
                <a:ext cx="1892405" cy="3098012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pic>
        <p:nvPicPr>
          <p:cNvPr id="3" name="그림 2" descr="폰트, 그래픽, 로고, 그린이(가) 표시된 사진&#10;&#10;자동 생성된 설명">
            <a:extLst>
              <a:ext uri="{FF2B5EF4-FFF2-40B4-BE49-F238E27FC236}">
                <a16:creationId xmlns:a16="http://schemas.microsoft.com/office/drawing/2014/main" id="{34ACC5F5-30FB-D6EA-D295-FF7B8CB6B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65" y="3522961"/>
            <a:ext cx="1321165" cy="322306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AD3FB9B-D9A8-BFD7-4B8B-6AC4F4838069}"/>
              </a:ext>
            </a:extLst>
          </p:cNvPr>
          <p:cNvCxnSpPr>
            <a:cxnSpLocks/>
          </p:cNvCxnSpPr>
          <p:nvPr/>
        </p:nvCxnSpPr>
        <p:spPr>
          <a:xfrm>
            <a:off x="2923749" y="3982734"/>
            <a:ext cx="1533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162480-5339-80E9-7224-FFF382927168}"/>
              </a:ext>
            </a:extLst>
          </p:cNvPr>
          <p:cNvCxnSpPr>
            <a:cxnSpLocks/>
          </p:cNvCxnSpPr>
          <p:nvPr/>
        </p:nvCxnSpPr>
        <p:spPr>
          <a:xfrm>
            <a:off x="5926121" y="3938961"/>
            <a:ext cx="5181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6F3F1DA-748A-1167-C273-614611F8E3AD}"/>
              </a:ext>
            </a:extLst>
          </p:cNvPr>
          <p:cNvCxnSpPr>
            <a:cxnSpLocks/>
          </p:cNvCxnSpPr>
          <p:nvPr/>
        </p:nvCxnSpPr>
        <p:spPr>
          <a:xfrm flipV="1">
            <a:off x="7751595" y="3936384"/>
            <a:ext cx="1506705" cy="1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26" name="Picture 6" descr="OpenAI APIs with Python — Complete Guide | by Marc Bolle | Medium">
            <a:extLst>
              <a:ext uri="{FF2B5EF4-FFF2-40B4-BE49-F238E27FC236}">
                <a16:creationId xmlns:a16="http://schemas.microsoft.com/office/drawing/2014/main" id="{3423DA0A-5AE4-D965-F895-12BF68F34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621" y="3304410"/>
            <a:ext cx="1185769" cy="51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7421494-ADA5-CF9D-BC66-31C090AB2CB5}"/>
              </a:ext>
            </a:extLst>
          </p:cNvPr>
          <p:cNvSpPr txBox="1"/>
          <p:nvPr/>
        </p:nvSpPr>
        <p:spPr>
          <a:xfrm>
            <a:off x="7751595" y="2939754"/>
            <a:ext cx="15570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데이터 </a:t>
            </a:r>
            <a:r>
              <a:rPr lang="ko-KR" altLang="en-US" sz="1500" dirty="0" err="1"/>
              <a:t>임베딩</a:t>
            </a:r>
            <a:endParaRPr lang="ko-KR" altLang="en-US" sz="1500" dirty="0"/>
          </a:p>
        </p:txBody>
      </p:sp>
      <p:sp>
        <p:nvSpPr>
          <p:cNvPr id="31" name="원통형 30">
            <a:extLst>
              <a:ext uri="{FF2B5EF4-FFF2-40B4-BE49-F238E27FC236}">
                <a16:creationId xmlns:a16="http://schemas.microsoft.com/office/drawing/2014/main" id="{7791B003-36C8-FC7B-2C4E-6877AF827CDF}"/>
              </a:ext>
            </a:extLst>
          </p:cNvPr>
          <p:cNvSpPr/>
          <p:nvPr/>
        </p:nvSpPr>
        <p:spPr>
          <a:xfrm>
            <a:off x="9308670" y="3134614"/>
            <a:ext cx="1443628" cy="143220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2" name="Picture 6" descr="파인콘 : 사용자 후기, 주요 기능, 가격">
            <a:extLst>
              <a:ext uri="{FF2B5EF4-FFF2-40B4-BE49-F238E27FC236}">
                <a16:creationId xmlns:a16="http://schemas.microsoft.com/office/drawing/2014/main" id="{6480273C-25D2-52FA-FCCB-5B2FAE4BC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001" y="3788750"/>
            <a:ext cx="1296966" cy="3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63D4FCC-5735-9BED-B7D0-C8B8B2B4DA31}"/>
              </a:ext>
            </a:extLst>
          </p:cNvPr>
          <p:cNvSpPr txBox="1"/>
          <p:nvPr/>
        </p:nvSpPr>
        <p:spPr>
          <a:xfrm>
            <a:off x="3167421" y="3240418"/>
            <a:ext cx="13211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웹 </a:t>
            </a:r>
            <a:r>
              <a:rPr lang="ko-KR" altLang="en-US" sz="1500" dirty="0" err="1"/>
              <a:t>크롤링</a:t>
            </a:r>
            <a:endParaRPr lang="ko-KR" altLang="en-US" sz="1500" dirty="0"/>
          </a:p>
        </p:txBody>
      </p:sp>
      <p:pic>
        <p:nvPicPr>
          <p:cNvPr id="41" name="Picture 12" descr="오라클, AWS 환경에서 MySQL 히트웨이브 상용화 &lt; 솔루션가이드 &lt; IT·산업 &lt; 뉴스 &lt; 기사본문 - 지티티코리아">
            <a:extLst>
              <a:ext uri="{FF2B5EF4-FFF2-40B4-BE49-F238E27FC236}">
                <a16:creationId xmlns:a16="http://schemas.microsoft.com/office/drawing/2014/main" id="{F7D44255-F5AA-52CF-0189-7D2830336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920" y="3591356"/>
            <a:ext cx="1244860" cy="88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451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96" y="245880"/>
            <a:ext cx="4771554" cy="928687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시스템 구성도</a:t>
            </a:r>
          </a:p>
        </p:txBody>
      </p:sp>
      <p:pic>
        <p:nvPicPr>
          <p:cNvPr id="1151" name="Picture 20" descr="사람 아이콘 일러스트 | PNG 아이콘 | Pngtree에 무료 다운로드">
            <a:extLst>
              <a:ext uri="{FF2B5EF4-FFF2-40B4-BE49-F238E27FC236}">
                <a16:creationId xmlns:a16="http://schemas.microsoft.com/office/drawing/2014/main" id="{CB107117-B500-20CB-3CEA-FBD08912C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12" y="3348046"/>
            <a:ext cx="944829" cy="94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54" name="직선 화살표 연결선 1153">
            <a:extLst>
              <a:ext uri="{FF2B5EF4-FFF2-40B4-BE49-F238E27FC236}">
                <a16:creationId xmlns:a16="http://schemas.microsoft.com/office/drawing/2014/main" id="{23120624-D49F-DDA6-B5FA-DEA9A867D180}"/>
              </a:ext>
            </a:extLst>
          </p:cNvPr>
          <p:cNvCxnSpPr>
            <a:cxnSpLocks/>
          </p:cNvCxnSpPr>
          <p:nvPr/>
        </p:nvCxnSpPr>
        <p:spPr>
          <a:xfrm>
            <a:off x="1405639" y="3760484"/>
            <a:ext cx="14284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7" name="TextBox 1156">
            <a:extLst>
              <a:ext uri="{FF2B5EF4-FFF2-40B4-BE49-F238E27FC236}">
                <a16:creationId xmlns:a16="http://schemas.microsoft.com/office/drawing/2014/main" id="{22AA091F-7B18-C986-C229-64F83F5F70DE}"/>
              </a:ext>
            </a:extLst>
          </p:cNvPr>
          <p:cNvSpPr txBox="1"/>
          <p:nvPr/>
        </p:nvSpPr>
        <p:spPr>
          <a:xfrm>
            <a:off x="1491201" y="3391906"/>
            <a:ext cx="1257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자연어 질문</a:t>
            </a:r>
          </a:p>
        </p:txBody>
      </p:sp>
      <p:pic>
        <p:nvPicPr>
          <p:cNvPr id="1162" name="Picture 10" descr="A Warm Embrace: Exploring Hugging Face | by Zachary Raicik | Medium">
            <a:extLst>
              <a:ext uri="{FF2B5EF4-FFF2-40B4-BE49-F238E27FC236}">
                <a16:creationId xmlns:a16="http://schemas.microsoft.com/office/drawing/2014/main" id="{EC2E0C73-D300-E110-B520-3443E2EFC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452" y="3188689"/>
            <a:ext cx="1469867" cy="97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3" name="TextBox 1162">
            <a:extLst>
              <a:ext uri="{FF2B5EF4-FFF2-40B4-BE49-F238E27FC236}">
                <a16:creationId xmlns:a16="http://schemas.microsoft.com/office/drawing/2014/main" id="{6308A445-2CE4-9322-F6F5-1426C60FBDF1}"/>
              </a:ext>
            </a:extLst>
          </p:cNvPr>
          <p:cNvSpPr txBox="1"/>
          <p:nvPr/>
        </p:nvSpPr>
        <p:spPr>
          <a:xfrm>
            <a:off x="2069206" y="4111576"/>
            <a:ext cx="2877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BERT </a:t>
            </a:r>
            <a:r>
              <a:rPr lang="en-US" altLang="ko-KR" sz="1500" dirty="0"/>
              <a:t>NLP</a:t>
            </a:r>
            <a:r>
              <a:rPr lang="ko-KR" altLang="en-US" sz="1500" dirty="0"/>
              <a:t>를 통한 자연어 처리</a:t>
            </a:r>
          </a:p>
        </p:txBody>
      </p:sp>
      <p:grpSp>
        <p:nvGrpSpPr>
          <p:cNvPr id="1180" name="그룹 1179">
            <a:extLst>
              <a:ext uri="{FF2B5EF4-FFF2-40B4-BE49-F238E27FC236}">
                <a16:creationId xmlns:a16="http://schemas.microsoft.com/office/drawing/2014/main" id="{B91BFA57-4C78-943D-FC9C-A05365DE597B}"/>
              </a:ext>
            </a:extLst>
          </p:cNvPr>
          <p:cNvGrpSpPr/>
          <p:nvPr/>
        </p:nvGrpSpPr>
        <p:grpSpPr>
          <a:xfrm>
            <a:off x="8829846" y="2463840"/>
            <a:ext cx="1443628" cy="1432204"/>
            <a:chOff x="6513873" y="1760429"/>
            <a:chExt cx="1443628" cy="1432204"/>
          </a:xfrm>
        </p:grpSpPr>
        <p:sp>
          <p:nvSpPr>
            <p:cNvPr id="1165" name="원통형 1164">
              <a:extLst>
                <a:ext uri="{FF2B5EF4-FFF2-40B4-BE49-F238E27FC236}">
                  <a16:creationId xmlns:a16="http://schemas.microsoft.com/office/drawing/2014/main" id="{89812004-FA00-8793-9CF4-B5D5F99B3FCE}"/>
                </a:ext>
              </a:extLst>
            </p:cNvPr>
            <p:cNvSpPr/>
            <p:nvPr/>
          </p:nvSpPr>
          <p:spPr>
            <a:xfrm>
              <a:off x="6513873" y="1760429"/>
              <a:ext cx="1443628" cy="1432204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1166" name="Picture 6" descr="파인콘 : 사용자 후기, 주요 기능, 가격">
              <a:extLst>
                <a:ext uri="{FF2B5EF4-FFF2-40B4-BE49-F238E27FC236}">
                  <a16:creationId xmlns:a16="http://schemas.microsoft.com/office/drawing/2014/main" id="{731CBB98-6CA4-E7CC-2AB5-94E8C6CEB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7204" y="2414565"/>
              <a:ext cx="1296966" cy="326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71" name="그룹 1170">
            <a:extLst>
              <a:ext uri="{FF2B5EF4-FFF2-40B4-BE49-F238E27FC236}">
                <a16:creationId xmlns:a16="http://schemas.microsoft.com/office/drawing/2014/main" id="{C46A7802-A378-071C-3AE0-FD7C9E8E517F}"/>
              </a:ext>
            </a:extLst>
          </p:cNvPr>
          <p:cNvGrpSpPr/>
          <p:nvPr/>
        </p:nvGrpSpPr>
        <p:grpSpPr>
          <a:xfrm>
            <a:off x="8329190" y="3991276"/>
            <a:ext cx="2444941" cy="751547"/>
            <a:chOff x="5289550" y="3626039"/>
            <a:chExt cx="2438400" cy="751547"/>
          </a:xfrm>
        </p:grpSpPr>
        <p:sp>
          <p:nvSpPr>
            <p:cNvPr id="1169" name="TextBox 1168">
              <a:extLst>
                <a:ext uri="{FF2B5EF4-FFF2-40B4-BE49-F238E27FC236}">
                  <a16:creationId xmlns:a16="http://schemas.microsoft.com/office/drawing/2014/main" id="{C009EF17-6493-824A-E886-7B6E9F0EC1B1}"/>
                </a:ext>
              </a:extLst>
            </p:cNvPr>
            <p:cNvSpPr txBox="1"/>
            <p:nvPr/>
          </p:nvSpPr>
          <p:spPr>
            <a:xfrm>
              <a:off x="5334148" y="3678646"/>
              <a:ext cx="234920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0" dirty="0" err="1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FinanceDataReader</a:t>
              </a:r>
              <a:endParaRPr lang="en-US" altLang="ko-K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  <a:p>
              <a:pPr algn="ctr"/>
              <a:r>
                <a:rPr lang="ko-KR" altLang="en-US" dirty="0"/>
                <a:t>라이브러리</a:t>
              </a:r>
            </a:p>
          </p:txBody>
        </p:sp>
        <p:sp>
          <p:nvSpPr>
            <p:cNvPr id="1170" name="순서도: 대체 처리 1169">
              <a:extLst>
                <a:ext uri="{FF2B5EF4-FFF2-40B4-BE49-F238E27FC236}">
                  <a16:creationId xmlns:a16="http://schemas.microsoft.com/office/drawing/2014/main" id="{7FBCB22D-A221-B11E-F921-5ACF9C1765C0}"/>
                </a:ext>
              </a:extLst>
            </p:cNvPr>
            <p:cNvSpPr/>
            <p:nvPr/>
          </p:nvSpPr>
          <p:spPr>
            <a:xfrm>
              <a:off x="5289550" y="3626039"/>
              <a:ext cx="2438400" cy="751547"/>
            </a:xfrm>
            <a:prstGeom prst="flowChartAlternateProcess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83" name="Picture 22" descr="GPT-4 Turbo: OpenAI's most powerful large language model | SuperAnnotate">
            <a:extLst>
              <a:ext uri="{FF2B5EF4-FFF2-40B4-BE49-F238E27FC236}">
                <a16:creationId xmlns:a16="http://schemas.microsoft.com/office/drawing/2014/main" id="{1F007089-0481-2821-9F3B-A306F1065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1" t="13585" r="22536" b="24645"/>
          <a:stretch/>
        </p:blipFill>
        <p:spPr bwMode="auto">
          <a:xfrm>
            <a:off x="4946650" y="4989291"/>
            <a:ext cx="1503576" cy="104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4" name="TextBox 1183">
            <a:extLst>
              <a:ext uri="{FF2B5EF4-FFF2-40B4-BE49-F238E27FC236}">
                <a16:creationId xmlns:a16="http://schemas.microsoft.com/office/drawing/2014/main" id="{EDE71160-D648-6A6B-22C4-37BB2A2FA1D3}"/>
              </a:ext>
            </a:extLst>
          </p:cNvPr>
          <p:cNvSpPr txBox="1"/>
          <p:nvPr/>
        </p:nvSpPr>
        <p:spPr>
          <a:xfrm>
            <a:off x="488388" y="4332952"/>
            <a:ext cx="8004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사용자</a:t>
            </a:r>
            <a:endParaRPr lang="ko-KR" altLang="en-US" sz="1500" dirty="0"/>
          </a:p>
        </p:txBody>
      </p:sp>
      <p:cxnSp>
        <p:nvCxnSpPr>
          <p:cNvPr id="1186" name="직선 화살표 연결선 1185">
            <a:extLst>
              <a:ext uri="{FF2B5EF4-FFF2-40B4-BE49-F238E27FC236}">
                <a16:creationId xmlns:a16="http://schemas.microsoft.com/office/drawing/2014/main" id="{0F271CFD-8278-8909-DB52-1D9A18DCAF28}"/>
              </a:ext>
            </a:extLst>
          </p:cNvPr>
          <p:cNvCxnSpPr>
            <a:cxnSpLocks/>
          </p:cNvCxnSpPr>
          <p:nvPr/>
        </p:nvCxnSpPr>
        <p:spPr>
          <a:xfrm>
            <a:off x="3994440" y="3678058"/>
            <a:ext cx="6220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93" name="Picture 4" descr="LlamaIndex: AI 애플리케이션을 위한 데이터 통합 솔루">
            <a:extLst>
              <a:ext uri="{FF2B5EF4-FFF2-40B4-BE49-F238E27FC236}">
                <a16:creationId xmlns:a16="http://schemas.microsoft.com/office/drawing/2014/main" id="{D57EB71B-6E29-9050-6808-D48D844A6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120" y="3190097"/>
            <a:ext cx="2024636" cy="82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7" name="TextBox 1166">
            <a:extLst>
              <a:ext uri="{FF2B5EF4-FFF2-40B4-BE49-F238E27FC236}">
                <a16:creationId xmlns:a16="http://schemas.microsoft.com/office/drawing/2014/main" id="{9DB6D1C0-4E82-838A-BA16-C16DF68CEA31}"/>
              </a:ext>
            </a:extLst>
          </p:cNvPr>
          <p:cNvSpPr txBox="1"/>
          <p:nvPr/>
        </p:nvSpPr>
        <p:spPr>
          <a:xfrm>
            <a:off x="6923089" y="3108453"/>
            <a:ext cx="19067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질문과 연관된</a:t>
            </a:r>
            <a:endParaRPr lang="en-US" altLang="ko-KR" sz="1500" dirty="0"/>
          </a:p>
          <a:p>
            <a:pPr algn="ctr"/>
            <a:r>
              <a:rPr lang="ko-KR" altLang="en-US" sz="1500" dirty="0"/>
              <a:t>자료 요청 </a:t>
            </a:r>
            <a:r>
              <a:rPr lang="en-US" altLang="ko-KR" sz="1500" dirty="0"/>
              <a:t>&amp; </a:t>
            </a:r>
            <a:r>
              <a:rPr lang="ko-KR" altLang="en-US" sz="1500" dirty="0"/>
              <a:t>제공</a:t>
            </a:r>
          </a:p>
        </p:txBody>
      </p:sp>
      <p:cxnSp>
        <p:nvCxnSpPr>
          <p:cNvPr id="1206" name="직선 화살표 연결선 1205">
            <a:extLst>
              <a:ext uri="{FF2B5EF4-FFF2-40B4-BE49-F238E27FC236}">
                <a16:creationId xmlns:a16="http://schemas.microsoft.com/office/drawing/2014/main" id="{4187E106-DC20-6CA7-4919-FC8D673A7BE5}"/>
              </a:ext>
            </a:extLst>
          </p:cNvPr>
          <p:cNvCxnSpPr/>
          <p:nvPr/>
        </p:nvCxnSpPr>
        <p:spPr>
          <a:xfrm>
            <a:off x="7212258" y="3692166"/>
            <a:ext cx="14097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9" name="직선 화살표 연결선 1208">
            <a:extLst>
              <a:ext uri="{FF2B5EF4-FFF2-40B4-BE49-F238E27FC236}">
                <a16:creationId xmlns:a16="http://schemas.microsoft.com/office/drawing/2014/main" id="{57D0153A-A1B3-1682-8BE7-67D5D08708DA}"/>
              </a:ext>
            </a:extLst>
          </p:cNvPr>
          <p:cNvCxnSpPr>
            <a:cxnSpLocks/>
          </p:cNvCxnSpPr>
          <p:nvPr/>
        </p:nvCxnSpPr>
        <p:spPr>
          <a:xfrm>
            <a:off x="6030462" y="4015157"/>
            <a:ext cx="0" cy="828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1" name="TextBox 1210">
            <a:extLst>
              <a:ext uri="{FF2B5EF4-FFF2-40B4-BE49-F238E27FC236}">
                <a16:creationId xmlns:a16="http://schemas.microsoft.com/office/drawing/2014/main" id="{50C078F2-E3E9-252F-754B-F3A6BBDCD404}"/>
              </a:ext>
            </a:extLst>
          </p:cNvPr>
          <p:cNvSpPr txBox="1"/>
          <p:nvPr/>
        </p:nvSpPr>
        <p:spPr>
          <a:xfrm>
            <a:off x="6102640" y="4116099"/>
            <a:ext cx="15985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사용자의 질문</a:t>
            </a:r>
            <a:endParaRPr lang="en-US" altLang="ko-KR" sz="1500" dirty="0"/>
          </a:p>
          <a:p>
            <a:r>
              <a:rPr lang="en-US" altLang="ko-KR" sz="1500" dirty="0"/>
              <a:t>+</a:t>
            </a:r>
            <a:r>
              <a:rPr lang="ko-KR" altLang="en-US" sz="1500" dirty="0"/>
              <a:t>관련 자료 제공</a:t>
            </a:r>
          </a:p>
        </p:txBody>
      </p:sp>
      <p:cxnSp>
        <p:nvCxnSpPr>
          <p:cNvPr id="1212" name="직선 화살표 연결선 1211">
            <a:extLst>
              <a:ext uri="{FF2B5EF4-FFF2-40B4-BE49-F238E27FC236}">
                <a16:creationId xmlns:a16="http://schemas.microsoft.com/office/drawing/2014/main" id="{5834EAD5-C841-CF70-0BBC-4FAF8E896827}"/>
              </a:ext>
            </a:extLst>
          </p:cNvPr>
          <p:cNvCxnSpPr>
            <a:cxnSpLocks/>
          </p:cNvCxnSpPr>
          <p:nvPr/>
        </p:nvCxnSpPr>
        <p:spPr>
          <a:xfrm flipH="1" flipV="1">
            <a:off x="1242201" y="4661323"/>
            <a:ext cx="3585609" cy="853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6" name="TextBox 1215">
            <a:extLst>
              <a:ext uri="{FF2B5EF4-FFF2-40B4-BE49-F238E27FC236}">
                <a16:creationId xmlns:a16="http://schemas.microsoft.com/office/drawing/2014/main" id="{1FA66BE6-85D9-0DDA-BB94-0F1BD85EF025}"/>
              </a:ext>
            </a:extLst>
          </p:cNvPr>
          <p:cNvSpPr txBox="1"/>
          <p:nvPr/>
        </p:nvSpPr>
        <p:spPr>
          <a:xfrm>
            <a:off x="2458065" y="5283162"/>
            <a:ext cx="7127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답변</a:t>
            </a:r>
          </a:p>
        </p:txBody>
      </p:sp>
    </p:spTree>
    <p:extLst>
      <p:ext uri="{BB962C8B-B14F-4D97-AF65-F5344CB8AC3E}">
        <p14:creationId xmlns:p14="http://schemas.microsoft.com/office/powerpoint/2010/main" val="2207739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3EF24-8A9A-5682-5162-BCF439E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20998"/>
            <a:ext cx="9144000" cy="2387600"/>
          </a:xfrm>
        </p:spPr>
        <p:txBody>
          <a:bodyPr/>
          <a:lstStyle/>
          <a:p>
            <a:r>
              <a:rPr lang="ko-KR" altLang="en-US" dirty="0"/>
              <a:t>보안 문제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A1C4E7C2-1169-0708-DAA8-0B8D1287D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B4F7B-3250-8339-B7F7-9BF1C8FCF701}"/>
              </a:ext>
            </a:extLst>
          </p:cNvPr>
          <p:cNvSpPr txBox="1"/>
          <p:nvPr/>
        </p:nvSpPr>
        <p:spPr>
          <a:xfrm>
            <a:off x="4353482" y="3032872"/>
            <a:ext cx="7140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/>
              <a:t>GPT API</a:t>
            </a:r>
            <a:r>
              <a:rPr lang="ko-KR" altLang="en-US" sz="2200" dirty="0"/>
              <a:t>를 통한 질문은 학습 데이터로 활용되지 않는다</a:t>
            </a:r>
            <a:r>
              <a:rPr lang="en-US" altLang="ko-KR" sz="2200" dirty="0"/>
              <a:t>.</a:t>
            </a:r>
            <a:endParaRPr lang="ko-KR" altLang="en-US" sz="22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FDB7DCA-E537-254D-8B8B-4C6C3A201A65}"/>
              </a:ext>
            </a:extLst>
          </p:cNvPr>
          <p:cNvGrpSpPr/>
          <p:nvPr/>
        </p:nvGrpSpPr>
        <p:grpSpPr>
          <a:xfrm>
            <a:off x="806450" y="1231900"/>
            <a:ext cx="3426972" cy="5208583"/>
            <a:chOff x="1109224" y="2816087"/>
            <a:chExt cx="2571748" cy="377679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96D307F-07F5-E689-18FD-D4240C38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224" y="2816087"/>
              <a:ext cx="2571748" cy="3776796"/>
            </a:xfrm>
            <a:prstGeom prst="rect">
              <a:avLst/>
            </a:prstGeom>
          </p:spPr>
        </p:pic>
        <p:sp>
          <p:nvSpPr>
            <p:cNvPr id="7" name="액자 6">
              <a:extLst>
                <a:ext uri="{FF2B5EF4-FFF2-40B4-BE49-F238E27FC236}">
                  <a16:creationId xmlns:a16="http://schemas.microsoft.com/office/drawing/2014/main" id="{234ECC68-A913-15D4-26BB-FD38B837AAAF}"/>
                </a:ext>
              </a:extLst>
            </p:cNvPr>
            <p:cNvSpPr/>
            <p:nvPr/>
          </p:nvSpPr>
          <p:spPr>
            <a:xfrm>
              <a:off x="1199322" y="3750365"/>
              <a:ext cx="2232991" cy="1152939"/>
            </a:xfrm>
            <a:prstGeom prst="frame">
              <a:avLst>
                <a:gd name="adj1" fmla="val 6442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A4D62C-791F-D7DE-089F-D733EB8C2B24}"/>
              </a:ext>
            </a:extLst>
          </p:cNvPr>
          <p:cNvSpPr txBox="1"/>
          <p:nvPr/>
        </p:nvSpPr>
        <p:spPr>
          <a:xfrm>
            <a:off x="4402711" y="35011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https://openai.com/enterprise-privacy/</a:t>
            </a:r>
          </a:p>
        </p:txBody>
      </p:sp>
    </p:spTree>
    <p:extLst>
      <p:ext uri="{BB962C8B-B14F-4D97-AF65-F5344CB8AC3E}">
        <p14:creationId xmlns:p14="http://schemas.microsoft.com/office/powerpoint/2010/main" val="422642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3EF24-8A9A-5682-5162-BCF439E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7455"/>
            <a:ext cx="10545233" cy="536424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&lt;</a:t>
            </a:r>
            <a:r>
              <a:rPr lang="ko-KR" altLang="en-US" sz="2200" dirty="0"/>
              <a:t>구현 예시</a:t>
            </a:r>
            <a:r>
              <a:rPr lang="en-US" altLang="ko-KR" sz="2200" dirty="0"/>
              <a:t> - GPT</a:t>
            </a:r>
            <a:r>
              <a:rPr lang="ko-KR" altLang="en-US" sz="2200" dirty="0"/>
              <a:t>에게 네이버페이 증권의 최신 데이터를 주입하여 출력된 결과</a:t>
            </a:r>
            <a:r>
              <a:rPr lang="en-US" altLang="ko-KR" sz="2200" dirty="0"/>
              <a:t>&gt;</a:t>
            </a:r>
            <a:r>
              <a:rPr lang="ko-KR" altLang="en-US" sz="2200" dirty="0"/>
              <a:t> 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A1C4E7C2-1169-0708-DAA8-0B8D1287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2520"/>
            <a:ext cx="9144000" cy="1655762"/>
          </a:xfrm>
        </p:spPr>
        <p:txBody>
          <a:bodyPr/>
          <a:lstStyle/>
          <a:p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C45C1-775E-AE0A-95EA-0AB7436885C2}"/>
              </a:ext>
            </a:extLst>
          </p:cNvPr>
          <p:cNvSpPr txBox="1"/>
          <p:nvPr/>
        </p:nvSpPr>
        <p:spPr>
          <a:xfrm>
            <a:off x="141796" y="1031722"/>
            <a:ext cx="397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Q: </a:t>
            </a:r>
            <a:r>
              <a:rPr lang="ko-KR" altLang="en-US" dirty="0"/>
              <a:t>삼성전자의 전망에 대해 분석해줘</a:t>
            </a: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63CA4CB-9671-BDA3-CF9B-FCFF4F72B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98"/>
          <a:stretch/>
        </p:blipFill>
        <p:spPr>
          <a:xfrm>
            <a:off x="2677238" y="4921262"/>
            <a:ext cx="5644981" cy="180551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4292F0-44FD-5E8E-9B1E-35DCDF1DF772}"/>
              </a:ext>
            </a:extLst>
          </p:cNvPr>
          <p:cNvCxnSpPr/>
          <p:nvPr/>
        </p:nvCxnSpPr>
        <p:spPr>
          <a:xfrm>
            <a:off x="-135467" y="931333"/>
            <a:ext cx="12581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D7FA5EC-2DE5-CE04-BE84-67C26FCA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691"/>
          <a:stretch/>
        </p:blipFill>
        <p:spPr>
          <a:xfrm>
            <a:off x="212367" y="1567378"/>
            <a:ext cx="5166770" cy="3210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8BFD8C-920C-5FE1-5257-7B71DB65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37349" r="-2494" b="17713"/>
          <a:stretch/>
        </p:blipFill>
        <p:spPr>
          <a:xfrm>
            <a:off x="5499729" y="1128788"/>
            <a:ext cx="5003429" cy="3654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598BB8-7A25-2C86-466D-D5F2B8608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750" y="4304977"/>
            <a:ext cx="1479612" cy="2464541"/>
          </a:xfrm>
          <a:prstGeom prst="rect">
            <a:avLst/>
          </a:prstGeom>
        </p:spPr>
      </p:pic>
      <p:sp>
        <p:nvSpPr>
          <p:cNvPr id="9" name="화살표: 왼쪽 8">
            <a:extLst>
              <a:ext uri="{FF2B5EF4-FFF2-40B4-BE49-F238E27FC236}">
                <a16:creationId xmlns:a16="http://schemas.microsoft.com/office/drawing/2014/main" id="{1E4C7AAE-C085-2617-8883-6437D1608E94}"/>
              </a:ext>
            </a:extLst>
          </p:cNvPr>
          <p:cNvSpPr/>
          <p:nvPr/>
        </p:nvSpPr>
        <p:spPr>
          <a:xfrm rot="807519">
            <a:off x="9894401" y="5436737"/>
            <a:ext cx="428519" cy="163458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44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3EF24-8A9A-5682-5162-BCF439E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496194" cy="1272208"/>
          </a:xfrm>
        </p:spPr>
        <p:txBody>
          <a:bodyPr/>
          <a:lstStyle/>
          <a:p>
            <a:r>
              <a:rPr lang="ko-KR" altLang="en-US" dirty="0"/>
              <a:t>정찬우 파트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E67E67-DBDF-922F-273A-7BEABB3C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46" y="1763469"/>
            <a:ext cx="4078878" cy="235159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31A9DCE-F5F1-FB50-A1F6-6FFD8D74E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47" y="2042579"/>
            <a:ext cx="4346714" cy="199249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583C3B8-7C0B-EF4C-5099-548024C4D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347" y="4364774"/>
            <a:ext cx="6096000" cy="211277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A5E1F3E-D9AD-5E0B-93CC-74458085E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646" y="4364774"/>
            <a:ext cx="4194313" cy="22619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483C19-9CF4-92EF-D3C8-6250D028D7E4}"/>
              </a:ext>
            </a:extLst>
          </p:cNvPr>
          <p:cNvSpPr txBox="1"/>
          <p:nvPr/>
        </p:nvSpPr>
        <p:spPr>
          <a:xfrm>
            <a:off x="4496194" y="102490"/>
            <a:ext cx="75392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자바스크립트</a:t>
            </a:r>
            <a:r>
              <a:rPr lang="en-US" altLang="ko-KR" dirty="0"/>
              <a:t>, CSS, HTML</a:t>
            </a:r>
            <a:r>
              <a:rPr lang="ko-KR" altLang="en-US" dirty="0"/>
              <a:t>을 이용하여 간단한 웹 디자인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GPT4 TURBO API </a:t>
            </a:r>
            <a:r>
              <a:rPr lang="ko-KR" altLang="en-US" dirty="0"/>
              <a:t>모델과 </a:t>
            </a:r>
            <a:r>
              <a:rPr lang="en-US" altLang="ko-KR" dirty="0"/>
              <a:t>API </a:t>
            </a:r>
            <a:r>
              <a:rPr lang="ko-KR" altLang="en-US" dirty="0"/>
              <a:t>키 연동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SQLite </a:t>
            </a:r>
            <a:r>
              <a:rPr lang="ko-KR" altLang="en-US" dirty="0"/>
              <a:t>를 활용하여 계정 관리 </a:t>
            </a:r>
            <a:r>
              <a:rPr lang="en-US" altLang="ko-KR" dirty="0"/>
              <a:t>DB</a:t>
            </a:r>
            <a:r>
              <a:rPr lang="ko-KR" altLang="en-US" dirty="0"/>
              <a:t> 생성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 err="1"/>
              <a:t>generate_password_hash</a:t>
            </a:r>
            <a:r>
              <a:rPr lang="en-US" altLang="ko-KR" dirty="0"/>
              <a:t>()</a:t>
            </a:r>
            <a:r>
              <a:rPr lang="ko-KR" altLang="en-US" dirty="0"/>
              <a:t>를 사용하여 계정정보 암호화</a:t>
            </a:r>
            <a:br>
              <a:rPr lang="en-US" altLang="ko-KR" dirty="0"/>
            </a:br>
            <a:r>
              <a:rPr lang="ko-KR" altLang="en-US" dirty="0"/>
              <a:t>추후 </a:t>
            </a:r>
            <a:r>
              <a:rPr lang="en-US" altLang="ko-KR" dirty="0"/>
              <a:t>DB</a:t>
            </a:r>
            <a:r>
              <a:rPr lang="ko-KR" altLang="en-US" dirty="0"/>
              <a:t>를 </a:t>
            </a:r>
            <a:r>
              <a:rPr lang="en-US" altLang="ko-KR" dirty="0"/>
              <a:t>MYSQL </a:t>
            </a:r>
            <a:r>
              <a:rPr lang="ko-KR" altLang="en-US" dirty="0"/>
              <a:t>환경으로 옮길 예정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오라클 클라우드 </a:t>
            </a:r>
            <a:r>
              <a:rPr lang="en-US" altLang="ko-KR" dirty="0"/>
              <a:t>FREE TIER</a:t>
            </a:r>
            <a:r>
              <a:rPr lang="ko-KR" altLang="en-US" dirty="0"/>
              <a:t>에선 최대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DB</a:t>
            </a:r>
            <a:r>
              <a:rPr lang="ko-KR" altLang="en-US" dirty="0"/>
              <a:t>만 사용가능하기 때문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7783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541F4BD-E6E3-5DF2-4BCC-609E475F8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66" y="92135"/>
            <a:ext cx="11235267" cy="667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0"/>
            <a:ext cx="4496194" cy="127220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이승준 파트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6194" y="274750"/>
            <a:ext cx="6920471" cy="905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lvl="0" indent="-342900">
              <a:buAutoNum type="arabicPeriod"/>
              <a:defRPr/>
            </a:pPr>
            <a:r>
              <a:rPr lang="en-US" altLang="ko-KR" dirty="0" err="1"/>
              <a:t>Selnium</a:t>
            </a:r>
            <a:r>
              <a:rPr lang="en-US" altLang="ko-KR" dirty="0"/>
              <a:t>, </a:t>
            </a:r>
            <a:r>
              <a:rPr lang="en-US" altLang="ko-KR" dirty="0" err="1"/>
              <a:t>Webdriver</a:t>
            </a:r>
            <a:r>
              <a:rPr lang="ko-KR" altLang="en-US" dirty="0"/>
              <a:t>를 이용한 증권사의 정보 수집</a:t>
            </a:r>
          </a:p>
          <a:p>
            <a:pPr marL="342900" lvl="0" indent="-342900">
              <a:buAutoNum type="arabicPeriod"/>
              <a:defRPr/>
            </a:pPr>
            <a:r>
              <a:rPr lang="ko-KR" altLang="en-US" dirty="0" err="1"/>
              <a:t>크롤링</a:t>
            </a:r>
            <a:r>
              <a:rPr lang="ko-KR" altLang="en-US" dirty="0"/>
              <a:t> 된 정보를 </a:t>
            </a:r>
            <a:r>
              <a:rPr lang="en-US" altLang="ko-KR" dirty="0"/>
              <a:t>JSON</a:t>
            </a:r>
            <a:r>
              <a:rPr lang="ko-KR" altLang="en-US" dirty="0"/>
              <a:t> 형식으로 변환</a:t>
            </a:r>
          </a:p>
          <a:p>
            <a:pPr marL="342900" lvl="0" indent="-342900">
              <a:buAutoNum type="arabicPeriod"/>
              <a:defRPr/>
            </a:pPr>
            <a:r>
              <a:rPr lang="en-US" altLang="ko-KR" dirty="0"/>
              <a:t>SQLite </a:t>
            </a:r>
            <a:r>
              <a:rPr lang="ko-KR" altLang="en-US" dirty="0"/>
              <a:t>를 활용하여 증권사의 정보 </a:t>
            </a:r>
            <a:r>
              <a:rPr lang="en-US" altLang="ko-KR" dirty="0"/>
              <a:t>DB</a:t>
            </a:r>
            <a:r>
              <a:rPr lang="ko-KR" altLang="en-US" dirty="0"/>
              <a:t>를 생성</a:t>
            </a:r>
            <a:r>
              <a:rPr lang="en-US" altLang="ko-KR" dirty="0"/>
              <a:t>,</a:t>
            </a:r>
            <a:r>
              <a:rPr lang="ko-KR" altLang="en-US" dirty="0"/>
              <a:t> 봇과 연결 예정</a:t>
            </a:r>
            <a:r>
              <a:rPr lang="en-US" altLang="ko-KR" dirty="0"/>
              <a:t>.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1765" y="1597758"/>
            <a:ext cx="9635537" cy="4689863"/>
          </a:xfrm>
          <a:prstGeom prst="rect">
            <a:avLst/>
          </a:prstGeom>
        </p:spPr>
      </p:pic>
      <p:sp>
        <p:nvSpPr>
          <p:cNvPr id="5" name="왼쪽 대괄호 4">
            <a:extLst>
              <a:ext uri="{FF2B5EF4-FFF2-40B4-BE49-F238E27FC236}">
                <a16:creationId xmlns:a16="http://schemas.microsoft.com/office/drawing/2014/main" id="{650A625F-0EAC-9AD2-A112-6F56B5422D94}"/>
              </a:ext>
            </a:extLst>
          </p:cNvPr>
          <p:cNvSpPr/>
          <p:nvPr/>
        </p:nvSpPr>
        <p:spPr>
          <a:xfrm>
            <a:off x="386080" y="1640840"/>
            <a:ext cx="45719" cy="117348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E22048F0-9C47-35E6-64DF-BC5C46E6E747}"/>
              </a:ext>
            </a:extLst>
          </p:cNvPr>
          <p:cNvSpPr/>
          <p:nvPr/>
        </p:nvSpPr>
        <p:spPr>
          <a:xfrm>
            <a:off x="386080" y="4320638"/>
            <a:ext cx="45719" cy="121656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A1A6E6C7-A757-94B6-B695-3C45D137FD46}"/>
              </a:ext>
            </a:extLst>
          </p:cNvPr>
          <p:cNvSpPr/>
          <p:nvPr/>
        </p:nvSpPr>
        <p:spPr>
          <a:xfrm>
            <a:off x="386080" y="2959198"/>
            <a:ext cx="45719" cy="121656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93445-73C7-140F-0788-1E57B0174D43}"/>
              </a:ext>
            </a:extLst>
          </p:cNvPr>
          <p:cNvSpPr txBox="1"/>
          <p:nvPr/>
        </p:nvSpPr>
        <p:spPr>
          <a:xfrm>
            <a:off x="279400" y="5590831"/>
            <a:ext cx="751840" cy="5539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.</a:t>
            </a:r>
          </a:p>
          <a:p>
            <a:r>
              <a:rPr lang="en-US" altLang="ko-KR" sz="1000" b="1" dirty="0"/>
              <a:t>.</a:t>
            </a:r>
          </a:p>
          <a:p>
            <a:r>
              <a:rPr lang="en-US" altLang="ko-KR" sz="1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204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73B2B-2F81-1350-2B0D-75E8E137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김현우 파트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A1ED040-3F10-1AA8-CE4D-8A07C841B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7975"/>
            <a:ext cx="10515600" cy="183054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D9296F-D6B2-6214-897B-A570F3D6AEA0}"/>
              </a:ext>
            </a:extLst>
          </p:cNvPr>
          <p:cNvSpPr txBox="1"/>
          <p:nvPr/>
        </p:nvSpPr>
        <p:spPr>
          <a:xfrm>
            <a:off x="4414345" y="365125"/>
            <a:ext cx="69394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Pinecone DB</a:t>
            </a:r>
            <a:r>
              <a:rPr lang="ko-KR" altLang="en-US" dirty="0"/>
              <a:t>에 있는 데이터를 이용하여 </a:t>
            </a:r>
            <a:r>
              <a:rPr lang="en-US" altLang="ko-KR" dirty="0"/>
              <a:t>GPT API</a:t>
            </a:r>
            <a:r>
              <a:rPr lang="ko-KR" altLang="en-US" dirty="0"/>
              <a:t>와 연계하여 결과 출력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2.Pinecone Db</a:t>
            </a:r>
            <a:r>
              <a:rPr lang="ko-KR" altLang="en-US" dirty="0"/>
              <a:t>에 데이터를 저장하고 질문 쿼리에 맞춰 답변 결과를 출력하는 실습을 진행 완료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라마인덱스를</a:t>
            </a:r>
            <a:r>
              <a:rPr lang="ko-KR" altLang="en-US" dirty="0"/>
              <a:t> 이용하여 문장을 </a:t>
            </a:r>
            <a:r>
              <a:rPr lang="ko-KR" altLang="en-US" dirty="0" err="1"/>
              <a:t>임베딩하는</a:t>
            </a:r>
            <a:r>
              <a:rPr lang="ko-KR" altLang="en-US" dirty="0"/>
              <a:t> 실습 진행 완료 </a:t>
            </a:r>
            <a:r>
              <a:rPr lang="en-US" altLang="ko-KR" dirty="0"/>
              <a:t>(</a:t>
            </a:r>
            <a:r>
              <a:rPr lang="ko-KR" altLang="en-US" dirty="0"/>
              <a:t>모두 실습 산출물로 업로드 완료했음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E9991-5692-B6A6-D1A7-B5E7AAB9683D}"/>
              </a:ext>
            </a:extLst>
          </p:cNvPr>
          <p:cNvSpPr txBox="1"/>
          <p:nvPr/>
        </p:nvSpPr>
        <p:spPr>
          <a:xfrm>
            <a:off x="838200" y="3788517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err="1"/>
              <a:t>Pinecon</a:t>
            </a:r>
            <a:r>
              <a:rPr lang="en-US" altLang="ko-KR" dirty="0"/>
              <a:t> DB</a:t>
            </a:r>
            <a:r>
              <a:rPr lang="ko-KR" altLang="en-US" dirty="0"/>
              <a:t>에 </a:t>
            </a:r>
            <a:r>
              <a:rPr lang="ko-KR" altLang="en-US" dirty="0" err="1"/>
              <a:t>임베딩</a:t>
            </a:r>
            <a:r>
              <a:rPr lang="ko-KR" altLang="en-US" dirty="0"/>
              <a:t> 되어 저장된 데이터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6A9D9C-C2EB-28FC-8DFB-0B7B10332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58186"/>
            <a:ext cx="10515600" cy="2277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8D35B8-7467-1451-B3CE-7456662C5405}"/>
              </a:ext>
            </a:extLst>
          </p:cNvPr>
          <p:cNvSpPr txBox="1"/>
          <p:nvPr/>
        </p:nvSpPr>
        <p:spPr>
          <a:xfrm>
            <a:off x="838200" y="6492875"/>
            <a:ext cx="9428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쿼리에 맞춰 </a:t>
            </a:r>
            <a:r>
              <a:rPr lang="en-US" altLang="ko-KR" dirty="0"/>
              <a:t>Pinecone DB</a:t>
            </a:r>
            <a:r>
              <a:rPr lang="ko-KR" altLang="en-US" dirty="0"/>
              <a:t>에 가장 유사한 데이터 </a:t>
            </a:r>
            <a:r>
              <a:rPr lang="en-US" altLang="ko-KR" dirty="0"/>
              <a:t>1</a:t>
            </a:r>
            <a:r>
              <a:rPr lang="ko-KR" altLang="en-US" dirty="0"/>
              <a:t>개 출력 결과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55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0"/>
            <a:ext cx="4496194" cy="1272208"/>
          </a:xfrm>
        </p:spPr>
        <p:txBody>
          <a:bodyPr/>
          <a:lstStyle/>
          <a:p>
            <a:pPr lvl="0">
              <a:defRPr/>
            </a:pPr>
            <a:r>
              <a:rPr lang="ko-KR" altLang="en-US" dirty="0"/>
              <a:t>이수경 파트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6193" y="274750"/>
            <a:ext cx="7805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  <a:defRPr/>
            </a:pPr>
            <a:r>
              <a:rPr lang="ko-KR" altLang="en-US" dirty="0" err="1"/>
              <a:t>라마인덱스</a:t>
            </a:r>
            <a:r>
              <a:rPr lang="ko-KR" altLang="en-US" dirty="0"/>
              <a:t> 라이브러리를 통해 </a:t>
            </a:r>
            <a:r>
              <a:rPr lang="en-US" altLang="ko-KR" dirty="0"/>
              <a:t>RAG </a:t>
            </a:r>
            <a:r>
              <a:rPr lang="ko-KR" altLang="en-US" dirty="0"/>
              <a:t>구현 실습 완료</a:t>
            </a:r>
            <a:r>
              <a:rPr lang="en-US" altLang="ko-KR" dirty="0"/>
              <a:t>(</a:t>
            </a:r>
            <a:r>
              <a:rPr lang="ko-KR" altLang="en-US" dirty="0"/>
              <a:t>실습 산출물</a:t>
            </a:r>
            <a:r>
              <a:rPr lang="en-US" altLang="ko-KR" dirty="0"/>
              <a:t>)</a:t>
            </a:r>
          </a:p>
          <a:p>
            <a:pPr marL="342900" lvl="0" indent="-342900">
              <a:buAutoNum type="arabicPeriod"/>
              <a:defRPr/>
            </a:pPr>
            <a:r>
              <a:rPr lang="ko-KR" altLang="ko-KR" sz="1800" kern="0" dirty="0" err="1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크롤링</a:t>
            </a:r>
            <a:r>
              <a:rPr lang="ko-KR" altLang="en-US" sz="1800" kern="0" dirty="0" err="1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된</a:t>
            </a:r>
            <a:r>
              <a:rPr lang="ko-KR" altLang="ko-KR" sz="18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 데이터를 </a:t>
            </a:r>
            <a:r>
              <a:rPr lang="ko-KR" altLang="ko-KR" sz="1800" kern="0" dirty="0" err="1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임베딩하여</a:t>
            </a:r>
            <a:r>
              <a:rPr lang="en-US" altLang="ko-KR" sz="18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 PINECONE DB</a:t>
            </a:r>
            <a:r>
              <a:rPr lang="ko-KR" altLang="ko-KR" sz="18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에 </a:t>
            </a:r>
            <a:r>
              <a:rPr lang="ko-KR" altLang="en-US" sz="18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넣기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57B4C8-60D2-F967-39D5-66072BDAA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97" y="1809424"/>
            <a:ext cx="9925050" cy="49713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D8BFBCB-74E9-344D-C754-908C2947EA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895" b="22586"/>
          <a:stretch/>
        </p:blipFill>
        <p:spPr>
          <a:xfrm>
            <a:off x="7254000" y="1809424"/>
            <a:ext cx="4721903" cy="3820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1ACB5F-92E6-4DED-D9A8-2F6794517C24}"/>
              </a:ext>
            </a:extLst>
          </p:cNvPr>
          <p:cNvSpPr txBox="1"/>
          <p:nvPr/>
        </p:nvSpPr>
        <p:spPr>
          <a:xfrm>
            <a:off x="7112000" y="1356150"/>
            <a:ext cx="519006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err="1"/>
              <a:t>OpenAi</a:t>
            </a:r>
            <a:r>
              <a:rPr lang="en-US" altLang="ko-KR" dirty="0"/>
              <a:t> Api </a:t>
            </a:r>
            <a:r>
              <a:rPr lang="ko-KR" altLang="en-US" dirty="0"/>
              <a:t>연동 및 실습 데이터셋 불러오기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FAFFA-F227-F7B2-69A6-D3D90AA672D2}"/>
              </a:ext>
            </a:extLst>
          </p:cNvPr>
          <p:cNvSpPr txBox="1"/>
          <p:nvPr/>
        </p:nvSpPr>
        <p:spPr>
          <a:xfrm>
            <a:off x="216097" y="1440092"/>
            <a:ext cx="599843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 err="1"/>
              <a:t>라마인덱스</a:t>
            </a:r>
            <a:r>
              <a:rPr lang="ko-KR" altLang="en-US" dirty="0"/>
              <a:t> 내부에서 </a:t>
            </a:r>
            <a:r>
              <a:rPr lang="en-US" altLang="ko-KR" dirty="0"/>
              <a:t>RAG</a:t>
            </a:r>
            <a:r>
              <a:rPr lang="ko-KR" altLang="en-US" dirty="0"/>
              <a:t>을 수행하는 과정</a:t>
            </a:r>
          </a:p>
        </p:txBody>
      </p:sp>
    </p:spTree>
    <p:extLst>
      <p:ext uri="{BB962C8B-B14F-4D97-AF65-F5344CB8AC3E}">
        <p14:creationId xmlns:p14="http://schemas.microsoft.com/office/powerpoint/2010/main" val="3659825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373F1-FA61-102D-AC55-D9ADB6445705}"/>
              </a:ext>
            </a:extLst>
          </p:cNvPr>
          <p:cNvSpPr txBox="1"/>
          <p:nvPr/>
        </p:nvSpPr>
        <p:spPr>
          <a:xfrm>
            <a:off x="330200" y="927100"/>
            <a:ext cx="6254750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hlinkClick r:id="rId3"/>
              </a:rPr>
              <a:t>캡스톤디자인</a:t>
            </a:r>
            <a:r>
              <a:rPr lang="en-US" altLang="ko-KR" dirty="0">
                <a:hlinkClick r:id="rId3"/>
              </a:rPr>
              <a:t>_</a:t>
            </a:r>
            <a:r>
              <a:rPr lang="ko-KR" altLang="en-US" dirty="0">
                <a:hlinkClick r:id="rId3"/>
              </a:rPr>
              <a:t>컴파일의</a:t>
            </a:r>
            <a:r>
              <a:rPr lang="en-US" altLang="ko-KR" dirty="0">
                <a:hlinkClick r:id="rId3"/>
              </a:rPr>
              <a:t>_</a:t>
            </a:r>
            <a:r>
              <a:rPr lang="ko-KR" altLang="en-US" dirty="0">
                <a:hlinkClick r:id="rId3"/>
              </a:rPr>
              <a:t>정상화</a:t>
            </a:r>
            <a:r>
              <a:rPr lang="en-US" altLang="ko-KR" dirty="0">
                <a:hlinkClick r:id="rId3"/>
              </a:rPr>
              <a:t>_WBS - Google Sheets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C4B17-B915-5F45-90F7-7A944ACBB9D5}"/>
              </a:ext>
            </a:extLst>
          </p:cNvPr>
          <p:cNvSpPr txBox="1"/>
          <p:nvPr/>
        </p:nvSpPr>
        <p:spPr>
          <a:xfrm>
            <a:off x="412750" y="342900"/>
            <a:ext cx="6350000" cy="4924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600" dirty="0"/>
              <a:t>WBS</a:t>
            </a:r>
            <a:endParaRPr lang="ko-KR" alt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3655D-AC4E-F054-C220-7C4BA1EE3B1D}"/>
              </a:ext>
            </a:extLst>
          </p:cNvPr>
          <p:cNvSpPr txBox="1"/>
          <p:nvPr/>
        </p:nvSpPr>
        <p:spPr>
          <a:xfrm>
            <a:off x="777875" y="1974850"/>
            <a:ext cx="10747375" cy="384105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 fontAlgn="base" latinLnBrk="0">
              <a:lnSpc>
                <a:spcPct val="130000"/>
              </a:lnSpc>
              <a:spcAft>
                <a:spcPts val="1000"/>
              </a:spcAft>
            </a:pPr>
            <a:r>
              <a:rPr lang="en-US" altLang="ko-KR" sz="2200" kern="0" dirty="0">
                <a:solidFill>
                  <a:srgbClr val="000000"/>
                </a:solidFill>
                <a:effectLst/>
                <a:latin typeface="나눔바른고딕"/>
                <a:ea typeface="맑은 고딕" panose="020B0503020000020004" pitchFamily="50" charset="-127"/>
                <a:cs typeface="굴림" panose="020B0600000101010101" pitchFamily="50" charset="-127"/>
              </a:rPr>
              <a:t>&lt;</a:t>
            </a:r>
            <a:r>
              <a:rPr lang="ko-KR" altLang="en-US" sz="2200" kern="0" dirty="0">
                <a:solidFill>
                  <a:srgbClr val="000000"/>
                </a:solidFill>
                <a:effectLst/>
                <a:latin typeface="나눔바른고딕"/>
                <a:ea typeface="맑은 고딕" panose="020B0503020000020004" pitchFamily="50" charset="-127"/>
                <a:cs typeface="굴림" panose="020B0600000101010101" pitchFamily="50" charset="-127"/>
              </a:rPr>
              <a:t>이번주 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개발 목표 및 역할 분담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&gt;</a:t>
            </a:r>
            <a:endParaRPr lang="ko-KR" altLang="ko-KR" sz="2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 fontAlgn="base" latinLnBrk="0">
              <a:lnSpc>
                <a:spcPct val="130000"/>
              </a:lnSpc>
              <a:spcAft>
                <a:spcPts val="1000"/>
              </a:spcAft>
            </a:pP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이수경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: </a:t>
            </a:r>
            <a:r>
              <a:rPr lang="ko-KR" altLang="ko-KR" sz="2200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크롤링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데이터를 </a:t>
            </a:r>
            <a:r>
              <a:rPr lang="ko-KR" altLang="ko-KR" sz="2200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임베딩하여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PINECONE DB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에 넣기</a:t>
            </a:r>
            <a:endParaRPr lang="ko-KR" altLang="ko-KR" sz="2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 fontAlgn="base" latinLnBrk="0">
              <a:lnSpc>
                <a:spcPct val="130000"/>
              </a:lnSpc>
              <a:spcAft>
                <a:spcPts val="1000"/>
              </a:spcAft>
            </a:pP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김현우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: PINECONE DB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를 이용해서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GPT API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와 연계해 결과 출력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</a:t>
            </a:r>
            <a:r>
              <a:rPr lang="ko-KR" altLang="en-US" sz="22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및</a:t>
            </a:r>
            <a:endParaRPr lang="en-US" altLang="ko-KR" sz="2200" kern="0" dirty="0">
              <a:solidFill>
                <a:srgbClr val="000000"/>
              </a:solidFill>
              <a:latin typeface="맑은 고딕" panose="020B0503020000020004" pitchFamily="50" charset="-127"/>
              <a:ea typeface="나눔바른고딕"/>
              <a:cs typeface="굴림" panose="020B0600000101010101" pitchFamily="50" charset="-127"/>
            </a:endParaRPr>
          </a:p>
          <a:p>
            <a:pPr algn="l" fontAlgn="base" latinLnBrk="0">
              <a:lnSpc>
                <a:spcPct val="130000"/>
              </a:lnSpc>
              <a:spcAft>
                <a:spcPts val="1000"/>
              </a:spcAft>
            </a:pP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	 SQLite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을 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MYSQL </a:t>
            </a:r>
            <a:r>
              <a:rPr lang="en-US" altLang="ko-KR" sz="2200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db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서버 이전</a:t>
            </a:r>
            <a:endParaRPr lang="ko-KR" altLang="ko-KR" sz="2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 fontAlgn="base" latinLnBrk="0">
              <a:lnSpc>
                <a:spcPct val="130000"/>
              </a:lnSpc>
              <a:spcAft>
                <a:spcPts val="1000"/>
              </a:spcAft>
            </a:pP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정찬우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: </a:t>
            </a:r>
            <a:r>
              <a:rPr lang="ko-KR" altLang="ko-KR" sz="2200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프론트엔드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, DB 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서버 관리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, 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한국거래소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API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를 통한 데이터 활용</a:t>
            </a:r>
            <a:endParaRPr lang="ko-KR" altLang="ko-KR" sz="2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 fontAlgn="base" latinLnBrk="0">
              <a:lnSpc>
                <a:spcPct val="130000"/>
              </a:lnSpc>
              <a:spcAft>
                <a:spcPts val="1000"/>
              </a:spcAft>
            </a:pP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이승준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: 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네이버페이 증권 </a:t>
            </a:r>
            <a:r>
              <a:rPr lang="ko-KR" altLang="ko-KR" sz="2200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크롤링</a:t>
            </a:r>
            <a:r>
              <a:rPr lang="en-US" altLang="ko-KR" sz="22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</a:t>
            </a:r>
            <a:r>
              <a:rPr lang="ko-KR" altLang="en-US" sz="22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시스템 구현</a:t>
            </a:r>
            <a:r>
              <a:rPr lang="en-US" altLang="ko-KR" sz="22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(</a:t>
            </a:r>
            <a:r>
              <a:rPr lang="ko-KR" altLang="en-US" sz="22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완료</a:t>
            </a:r>
            <a:r>
              <a:rPr lang="en-US" altLang="ko-KR" sz="22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)</a:t>
            </a:r>
            <a:r>
              <a:rPr lang="en-US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, </a:t>
            </a:r>
            <a:r>
              <a:rPr lang="ko-KR" altLang="ko-KR" sz="22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업로드 자동화</a:t>
            </a:r>
            <a:endParaRPr lang="ko-KR" altLang="ko-KR" sz="2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8341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740</Words>
  <Application>Microsoft Office PowerPoint</Application>
  <PresentationFormat>와이드스크린</PresentationFormat>
  <Paragraphs>143</Paragraphs>
  <Slides>20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gg sans</vt:lpstr>
      <vt:lpstr>나눔바른고딕</vt:lpstr>
      <vt:lpstr>맑은 고딕</vt:lpstr>
      <vt:lpstr>Arial</vt:lpstr>
      <vt:lpstr>Consolas</vt:lpstr>
      <vt:lpstr>Office 테마</vt:lpstr>
      <vt:lpstr>컴파일의 정상화</vt:lpstr>
      <vt:lpstr>PowerPoint 프레젠테이션</vt:lpstr>
      <vt:lpstr>프로젝트 주제</vt:lpstr>
      <vt:lpstr>PowerPoint 프레젠테이션</vt:lpstr>
      <vt:lpstr>PowerPoint 프레젠테이션</vt:lpstr>
      <vt:lpstr>PowerPoint 프레젠테이션</vt:lpstr>
      <vt:lpstr>CHAT GPT웹 검색과의 차이점</vt:lpstr>
      <vt:lpstr>사용 언어/프레임워크/DB</vt:lpstr>
      <vt:lpstr>데이터 출처</vt:lpstr>
      <vt:lpstr>서버 구성도</vt:lpstr>
      <vt:lpstr>시스템 구성도 </vt:lpstr>
      <vt:lpstr>시스템 구성도</vt:lpstr>
      <vt:lpstr>보안 문제?</vt:lpstr>
      <vt:lpstr>&lt;구현 예시 - GPT에게 네이버페이 증권의 최신 데이터를 주입하여 출력된 결과&gt; </vt:lpstr>
      <vt:lpstr>정찬우 파트</vt:lpstr>
      <vt:lpstr>PowerPoint 프레젠테이션</vt:lpstr>
      <vt:lpstr>이승준 파트</vt:lpstr>
      <vt:lpstr>김현우 파트</vt:lpstr>
      <vt:lpstr>이수경 파트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정찬우</dc:creator>
  <cp:lastModifiedBy>dltnrud377@naver.com</cp:lastModifiedBy>
  <cp:revision>21</cp:revision>
  <dcterms:created xsi:type="dcterms:W3CDTF">2024-10-13T06:37:48Z</dcterms:created>
  <dcterms:modified xsi:type="dcterms:W3CDTF">2024-10-16T01:08:19Z</dcterms:modified>
  <cp:version/>
</cp:coreProperties>
</file>