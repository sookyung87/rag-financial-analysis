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257" r:id="rId5"/>
    <p:sldId id="258" r:id="rId6"/>
    <p:sldId id="259" r:id="rId7"/>
    <p:sldId id="260" r:id="rId8"/>
    <p:sldId id="261" r:id="rId9"/>
    <p:sldId id="256" r:id="rId10"/>
    <p:sldId id="266" r:id="rId11"/>
    <p:sldId id="263" r:id="rId12"/>
    <p:sldId id="264" r:id="rId13"/>
    <p:sldId id="265" r:id="rId14"/>
    <p:sldId id="267" r:id="rId15"/>
    <p:sldId id="262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62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83EF55-7796-4357-AE3E-BD31EE221224}" type="datetimeFigureOut">
              <a:rPr lang="ko-KR" altLang="en-US" smtClean="0"/>
              <a:t>2024-09-30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4285C1-805F-484D-B276-BD67479EA0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4801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4285C1-805F-484D-B276-BD67479EA09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85622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4285C1-805F-484D-B276-BD67479EA09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73037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4285C1-805F-484D-B276-BD67479EA09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6113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4285C1-805F-484D-B276-BD67479EA09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13765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4285C1-805F-484D-B276-BD67479EA09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71896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4285C1-805F-484D-B276-BD67479EA09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4609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4285C1-805F-484D-B276-BD67479EA09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85337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88CFCD-AEA8-43E4-E4CD-E2AFB7E72A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A28EBE9-C624-3035-FDB7-41DA24477C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FF5B1A-52C3-EDE4-4C72-695ECF7DB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7493B-30BD-4FB2-A4C9-E14DE0AE7567}" type="datetimeFigureOut">
              <a:rPr lang="ko-KR" altLang="en-US" smtClean="0"/>
              <a:t>2024-09-30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7C83AB-A95D-C761-7442-B001ED8C1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7C457B-6B4E-EDF2-849F-721B30604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28132-EFC8-4289-BBEE-790CFC04D8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9748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92917A-0AE5-D728-1BB7-86E55A3E8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3FD1DA-50F5-61E9-F93B-1C56947AE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36DC63-AAAA-CA08-9025-9673F0BD8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7493B-30BD-4FB2-A4C9-E14DE0AE7567}" type="datetimeFigureOut">
              <a:rPr lang="ko-KR" altLang="en-US" smtClean="0"/>
              <a:t>2024-09-30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28B5B1-9284-128D-62BD-D04C48D45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B9CD54-1605-C883-A2A4-27FCBA0C0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28132-EFC8-4289-BBEE-790CFC04D8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1135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F0CC7A-8269-270D-B3C1-A9F7E9354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F8D7DD0-DED5-BC4B-C623-BD9BF08D25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E41E77-69B2-D41B-E86C-901BA803B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7493B-30BD-4FB2-A4C9-E14DE0AE7567}" type="datetimeFigureOut">
              <a:rPr lang="ko-KR" altLang="en-US" smtClean="0"/>
              <a:t>2024-09-30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BE90B0-1A80-94AB-53E0-AA2B9B7FA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5F025E-B7D9-1EF3-45AA-A77D8A5C4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28132-EFC8-4289-BBEE-790CFC04D8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2081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96B37F-098A-F402-77D8-BBB71250D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E4CF3D-5AE9-A5F8-54D0-555234E79A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99D6BFF-029B-4A34-6DC8-BD1AD3FF96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96E00F5-2AC0-C839-734D-F9DA982D7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7493B-30BD-4FB2-A4C9-E14DE0AE7567}" type="datetimeFigureOut">
              <a:rPr lang="ko-KR" altLang="en-US" smtClean="0"/>
              <a:t>2024-09-30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993C927-67A8-5871-3DDC-2B3E21E9C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38731FA-164E-7692-4ED8-72C5B5238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28132-EFC8-4289-BBEE-790CFC04D8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4313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7DE799-6242-733C-1182-65CEEE8BC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4F248F-17E8-533B-6A80-35145C200A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0C9D436-1373-588B-07E1-9B74E668CA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1DABB9E-2140-6B8E-4950-B402877A47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A7DDFCE-8790-BA01-1CEA-1A87604C46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B19BC91-D6B2-6D2E-E474-5E9CC841A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7493B-30BD-4FB2-A4C9-E14DE0AE7567}" type="datetimeFigureOut">
              <a:rPr lang="ko-KR" altLang="en-US" smtClean="0"/>
              <a:t>2024-09-30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C1DCAD6-E417-561A-23BE-CC5628DD6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A96C820-1CE2-E80B-D7E1-0212C666C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28132-EFC8-4289-BBEE-790CFC04D8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4550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57BDD3-01E6-EA80-D1CB-54312FCF6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40FB0E6-1570-9196-E312-A11F0A366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7493B-30BD-4FB2-A4C9-E14DE0AE7567}" type="datetimeFigureOut">
              <a:rPr lang="ko-KR" altLang="en-US" smtClean="0"/>
              <a:t>2024-09-30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EE650DE-F0CE-2F25-6D02-E7D7F52CD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C83BFF9-7AC3-04A7-B256-0FFC595B7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28132-EFC8-4289-BBEE-790CFC04D8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371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441C21F-BF14-9222-E499-4EEC16382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7493B-30BD-4FB2-A4C9-E14DE0AE7567}" type="datetimeFigureOut">
              <a:rPr lang="ko-KR" altLang="en-US" smtClean="0"/>
              <a:t>2024-09-30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952DF1A-0691-3D02-D32F-84DFE938D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EDD09D-1EB4-5E3B-9B9C-0264645B7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28132-EFC8-4289-BBEE-790CFC04D8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7253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900379-5AE8-BA9B-F2E7-E95BD43A3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17531A-3DA4-B7B7-B068-4508C0D3E5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11D2606-8577-4684-BFAA-BA9A87A5AE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AAF4345-15D1-B60D-4A77-A4BC2D682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7493B-30BD-4FB2-A4C9-E14DE0AE7567}" type="datetimeFigureOut">
              <a:rPr lang="ko-KR" altLang="en-US" smtClean="0"/>
              <a:t>2024-09-30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EDCA242-84EA-1D42-5218-185EF8D7C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12CF699-3F1C-8203-B987-BFB7E3D58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28132-EFC8-4289-BBEE-790CFC04D8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179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2A1956-43B1-CC37-0664-D3CA13D31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1234AE6-742E-8060-A0B5-2F9F61EB82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A36FBCB-5661-22B4-FE38-AD08421F09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34FE8B3-6371-4F80-8CE6-73515B6F2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7493B-30BD-4FB2-A4C9-E14DE0AE7567}" type="datetimeFigureOut">
              <a:rPr lang="ko-KR" altLang="en-US" smtClean="0"/>
              <a:t>2024-09-30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FD10A9B-BD8E-0904-4F99-99A0FD6B9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6A2D93B-9BE2-ECEE-3769-7D9CF6303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28132-EFC8-4289-BBEE-790CFC04D8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4894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8E11BA-CF43-425F-2AFB-A89C606BD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D364BF3-6D0A-C365-9811-506475784B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8EB6C5-DB59-1621-7F1A-F090FCB89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7493B-30BD-4FB2-A4C9-E14DE0AE7567}" type="datetimeFigureOut">
              <a:rPr lang="ko-KR" altLang="en-US" smtClean="0"/>
              <a:t>2024-09-30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F5CDEA-E420-54FA-6649-6AFB06D93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F570DF-E90C-6835-6503-B1DD9EDB8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28132-EFC8-4289-BBEE-790CFC04D8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9827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2C15221-E5C7-40C4-B8D5-49981985D9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142D838-09EB-73B2-3A09-D1362A1CEA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F6F256-FC56-8852-13D9-F87FC3B39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7493B-30BD-4FB2-A4C9-E14DE0AE7567}" type="datetimeFigureOut">
              <a:rPr lang="ko-KR" altLang="en-US" smtClean="0"/>
              <a:t>2024-09-30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6CCDBD-A35D-E1B4-9B1D-45FE5874C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EB6740-ED12-60CD-F2A5-C842822AF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28132-EFC8-4289-BBEE-790CFC04D8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2595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F65B157-A1A5-853E-8DD8-66B808764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3CEAC3C-2175-E61A-C93E-9DE75035D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7E0B32-B6F2-0EB7-58F7-C7D96F87BA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67493B-30BD-4FB2-A4C9-E14DE0AE7567}" type="datetimeFigureOut">
              <a:rPr lang="ko-KR" altLang="en-US" smtClean="0"/>
              <a:t>2024-09-30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DC1123-D8A5-22FF-98A2-CDB32BA893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BA81D9-D60F-959B-84E3-2EFCC7708F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B28132-EFC8-4289-BBEE-790CFC04D8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1678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jpe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jpe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jpeg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23.gif"/><Relationship Id="rId10" Type="http://schemas.openxmlformats.org/officeDocument/2006/relationships/image" Target="../media/image13.jpeg"/><Relationship Id="rId4" Type="http://schemas.openxmlformats.org/officeDocument/2006/relationships/image" Target="../media/image22.png"/><Relationship Id="rId9" Type="http://schemas.openxmlformats.org/officeDocument/2006/relationships/image" Target="../media/image2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gif"/><Relationship Id="rId5" Type="http://schemas.openxmlformats.org/officeDocument/2006/relationships/image" Target="../media/image14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jpeg"/><Relationship Id="rId5" Type="http://schemas.openxmlformats.org/officeDocument/2006/relationships/image" Target="../media/image14.png"/><Relationship Id="rId4" Type="http://schemas.openxmlformats.org/officeDocument/2006/relationships/image" Target="../media/image2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CD1086-6605-6F5C-512E-ACB474931C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컴파일의 정상화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097205D-9D6A-79C3-9220-7D9BF679BF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133599"/>
          </a:xfrm>
        </p:spPr>
        <p:txBody>
          <a:bodyPr/>
          <a:lstStyle/>
          <a:p>
            <a:endParaRPr lang="en-US" altLang="ko-KR" dirty="0"/>
          </a:p>
          <a:p>
            <a:r>
              <a:rPr lang="ko-KR" altLang="en-US" dirty="0"/>
              <a:t>정찬우</a:t>
            </a:r>
            <a:r>
              <a:rPr lang="en-US" altLang="ko-KR" dirty="0"/>
              <a:t>,</a:t>
            </a:r>
            <a:r>
              <a:rPr lang="ko-KR" altLang="en-US" dirty="0"/>
              <a:t> 김현우</a:t>
            </a:r>
            <a:r>
              <a:rPr lang="en-US" altLang="ko-KR" dirty="0"/>
              <a:t>, </a:t>
            </a:r>
            <a:r>
              <a:rPr lang="ko-KR" altLang="en-US" dirty="0"/>
              <a:t>이승준</a:t>
            </a:r>
            <a:r>
              <a:rPr lang="en-US" altLang="ko-KR" dirty="0"/>
              <a:t>, </a:t>
            </a:r>
            <a:r>
              <a:rPr lang="ko-KR" altLang="en-US" dirty="0"/>
              <a:t>이수경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3573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CD1086-6605-6F5C-512E-ACB474931C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150" y="247650"/>
            <a:ext cx="6089650" cy="928687"/>
          </a:xfrm>
        </p:spPr>
        <p:txBody>
          <a:bodyPr>
            <a:normAutofit/>
          </a:bodyPr>
          <a:lstStyle/>
          <a:p>
            <a:r>
              <a:rPr lang="ko-KR" altLang="en-US"/>
              <a:t>기존 </a:t>
            </a:r>
            <a:r>
              <a:rPr lang="en-US" altLang="ko-KR"/>
              <a:t>GPT</a:t>
            </a:r>
            <a:r>
              <a:rPr lang="ko-KR" altLang="en-US"/>
              <a:t>의 한계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E131B1-DC31-6909-0242-4F279178EDA6}"/>
              </a:ext>
            </a:extLst>
          </p:cNvPr>
          <p:cNvSpPr txBox="1"/>
          <p:nvPr/>
        </p:nvSpPr>
        <p:spPr>
          <a:xfrm>
            <a:off x="377153" y="4499954"/>
            <a:ext cx="63786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최근버전 </a:t>
            </a:r>
            <a:r>
              <a:rPr lang="en-US" altLang="ko-KR"/>
              <a:t>(GPT 4o)</a:t>
            </a:r>
            <a:r>
              <a:rPr lang="ko-KR" altLang="en-US"/>
              <a:t>의 </a:t>
            </a:r>
            <a:r>
              <a:rPr lang="en-US" altLang="ko-KR"/>
              <a:t>gpt</a:t>
            </a:r>
            <a:r>
              <a:rPr lang="ko-KR" altLang="en-US"/>
              <a:t>는 웹 서칭 기능을 가지고 있음</a:t>
            </a:r>
            <a:r>
              <a:rPr lang="en-US" altLang="ko-KR"/>
              <a:t>. </a:t>
            </a:r>
          </a:p>
          <a:p>
            <a:r>
              <a:rPr lang="ko-KR" altLang="en-US"/>
              <a:t>하지만 유독 주식 관련 데이터의 정확성이 낮은 점을 파악함</a:t>
            </a:r>
            <a:endParaRPr lang="en-US" altLang="ko-KR"/>
          </a:p>
          <a:p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673551E-8430-C344-6CFB-5262207D9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756" y="2358046"/>
            <a:ext cx="5123244" cy="172623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0707F8C-2AEF-064A-2595-3D4676684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3812" y="1228311"/>
            <a:ext cx="4968019" cy="4313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418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CD1086-6605-6F5C-512E-ACB474931C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150" y="247650"/>
            <a:ext cx="6146800" cy="928687"/>
          </a:xfrm>
        </p:spPr>
        <p:txBody>
          <a:bodyPr>
            <a:normAutofit/>
          </a:bodyPr>
          <a:lstStyle/>
          <a:p>
            <a:r>
              <a:rPr lang="ko-KR" altLang="en-US" dirty="0"/>
              <a:t>기존 </a:t>
            </a:r>
            <a:r>
              <a:rPr lang="en-US" altLang="ko-KR" dirty="0"/>
              <a:t>GPT</a:t>
            </a:r>
            <a:r>
              <a:rPr lang="ko-KR" altLang="en-US" dirty="0"/>
              <a:t>의 한계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B888226-D22E-B5A9-392A-053CCAE6DA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366" y="1521681"/>
            <a:ext cx="5127478" cy="249372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96515CB-A24F-FFD5-9C62-307B6E1AF6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1972" y="352332"/>
            <a:ext cx="4565372" cy="588829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1E131B1-DC31-6909-0242-4F279178EDA6}"/>
              </a:ext>
            </a:extLst>
          </p:cNvPr>
          <p:cNvSpPr txBox="1"/>
          <p:nvPr/>
        </p:nvSpPr>
        <p:spPr>
          <a:xfrm>
            <a:off x="804167" y="4810263"/>
            <a:ext cx="52918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특히 대량의 주식 데이터를 필요로 하는 작업에선</a:t>
            </a:r>
            <a:endParaRPr lang="en-US" altLang="ko-KR" dirty="0"/>
          </a:p>
          <a:p>
            <a:r>
              <a:rPr lang="ko-KR" altLang="en-US" dirty="0"/>
              <a:t>오차 범위가 아주 큰 것을 확인할 수 있었음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97235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CD1086-6605-6F5C-512E-ACB474931C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150" y="247650"/>
            <a:ext cx="5092700" cy="928687"/>
          </a:xfrm>
        </p:spPr>
        <p:txBody>
          <a:bodyPr>
            <a:normAutofit/>
          </a:bodyPr>
          <a:lstStyle/>
          <a:p>
            <a:r>
              <a:rPr lang="ko-KR" altLang="en-US" dirty="0" err="1"/>
              <a:t>밴치마크</a:t>
            </a:r>
            <a:r>
              <a:rPr lang="ko-KR" altLang="en-US" dirty="0"/>
              <a:t> 모델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BFC5DE-716B-3FA9-208E-4670D2657683}"/>
              </a:ext>
            </a:extLst>
          </p:cNvPr>
          <p:cNvSpPr txBox="1"/>
          <p:nvPr/>
        </p:nvSpPr>
        <p:spPr>
          <a:xfrm>
            <a:off x="588325" y="1264333"/>
            <a:ext cx="1100974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이러한 문제점을 해결하기 위한 기술 </a:t>
            </a:r>
            <a:r>
              <a:rPr lang="en-US" altLang="ko-KR" dirty="0"/>
              <a:t>: RAG</a:t>
            </a:r>
          </a:p>
          <a:p>
            <a:r>
              <a:rPr lang="ko-KR" altLang="en-US" dirty="0"/>
              <a:t>신뢰성 있는 데이터를 </a:t>
            </a:r>
            <a:r>
              <a:rPr lang="en-US" altLang="ko-KR" dirty="0"/>
              <a:t>LLM (GPT)</a:t>
            </a:r>
            <a:r>
              <a:rPr lang="ko-KR" altLang="en-US" dirty="0"/>
              <a:t>에게 직접 주입하여 보다 정확한 결과를 출력하는 기술</a:t>
            </a:r>
            <a:endParaRPr lang="en-US" altLang="ko-KR" dirty="0"/>
          </a:p>
          <a:p>
            <a:r>
              <a:rPr lang="ko-KR" altLang="en-US" dirty="0" err="1"/>
              <a:t>에이닷</a:t>
            </a:r>
            <a:r>
              <a:rPr lang="ko-KR" altLang="en-US" dirty="0"/>
              <a:t> 어플은 삼성증권과 하나증권의 데이터를 사용하여 사용자에게 증권과 관련된 다양한 기능을 지원</a:t>
            </a:r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/>
              <a:t>공시</a:t>
            </a:r>
            <a:r>
              <a:rPr lang="en-US" altLang="ko-KR" dirty="0"/>
              <a:t>, </a:t>
            </a:r>
            <a:r>
              <a:rPr lang="ko-KR" altLang="en-US" dirty="0"/>
              <a:t>뉴스</a:t>
            </a:r>
            <a:r>
              <a:rPr lang="en-US" altLang="ko-KR" dirty="0"/>
              <a:t>, </a:t>
            </a:r>
            <a:r>
              <a:rPr lang="ko-KR" altLang="en-US" dirty="0"/>
              <a:t>주식 관련 데이터 등</a:t>
            </a:r>
            <a:r>
              <a:rPr lang="en-US" altLang="ko-KR" dirty="0"/>
              <a:t>)</a:t>
            </a:r>
          </a:p>
        </p:txBody>
      </p:sp>
      <p:pic>
        <p:nvPicPr>
          <p:cNvPr id="1026" name="Picture 2" descr="에이닷 뮤직 Agent 서비스 출시">
            <a:extLst>
              <a:ext uri="{FF2B5EF4-FFF2-40B4-BE49-F238E27FC236}">
                <a16:creationId xmlns:a16="http://schemas.microsoft.com/office/drawing/2014/main" id="{D7E96AEE-51E6-D3CB-9033-14EFE8B99B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00" y="3346323"/>
            <a:ext cx="3238500" cy="246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72FAB4B2-0159-5B46-AEB6-4F0A82A67D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1063" y="2644992"/>
            <a:ext cx="1784937" cy="386963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46681779-985A-515C-AC84-16A8390146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1169" y="2692676"/>
            <a:ext cx="4413058" cy="3831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54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CD1086-6605-6F5C-512E-ACB474931C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150" y="247650"/>
            <a:ext cx="7753350" cy="928687"/>
          </a:xfrm>
        </p:spPr>
        <p:txBody>
          <a:bodyPr>
            <a:normAutofit/>
          </a:bodyPr>
          <a:lstStyle/>
          <a:p>
            <a:r>
              <a:rPr lang="ko-KR" altLang="en-US" dirty="0" err="1"/>
              <a:t>밴치마크</a:t>
            </a:r>
            <a:r>
              <a:rPr lang="ko-KR" altLang="en-US" dirty="0"/>
              <a:t> 모델의 한계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BFC5DE-716B-3FA9-208E-4670D2657683}"/>
              </a:ext>
            </a:extLst>
          </p:cNvPr>
          <p:cNvSpPr txBox="1"/>
          <p:nvPr/>
        </p:nvSpPr>
        <p:spPr>
          <a:xfrm>
            <a:off x="529812" y="1736587"/>
            <a:ext cx="1133751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</a:t>
            </a:r>
            <a:r>
              <a:rPr lang="ko-KR" altLang="en-US" dirty="0"/>
              <a:t> 자연어 해석 과정이 생략된 것으로 추정</a:t>
            </a:r>
            <a:r>
              <a:rPr lang="en-US" altLang="ko-KR" dirty="0"/>
              <a:t>, </a:t>
            </a:r>
            <a:r>
              <a:rPr lang="ko-KR" altLang="en-US" dirty="0"/>
              <a:t>질문에 특정 키워드가 들어가기만 하면 질문의 의도와 상관없이 특정 키워드에 대한 결과를 출력 </a:t>
            </a:r>
            <a:endParaRPr lang="en-US" altLang="ko-KR" dirty="0"/>
          </a:p>
          <a:p>
            <a:r>
              <a:rPr lang="ko-KR" altLang="en-US" dirty="0"/>
              <a:t>삼성전자 </a:t>
            </a:r>
            <a:r>
              <a:rPr lang="en-US" altLang="ko-KR" dirty="0"/>
              <a:t>2023</a:t>
            </a:r>
            <a:r>
              <a:rPr lang="ko-KR" altLang="en-US" dirty="0"/>
              <a:t>년 </a:t>
            </a:r>
            <a:r>
              <a:rPr lang="en-US" altLang="ko-KR" dirty="0"/>
              <a:t>5</a:t>
            </a:r>
            <a:r>
              <a:rPr lang="ko-KR" altLang="en-US" dirty="0"/>
              <a:t>월 </a:t>
            </a:r>
            <a:r>
              <a:rPr lang="en-US" altLang="ko-KR" dirty="0"/>
              <a:t>2</a:t>
            </a:r>
            <a:r>
              <a:rPr lang="ko-KR" altLang="en-US" dirty="0"/>
              <a:t>일의 종가를 물어봤지만 </a:t>
            </a:r>
            <a:r>
              <a:rPr lang="en-US" altLang="ko-KR" dirty="0"/>
              <a:t>[</a:t>
            </a:r>
            <a:r>
              <a:rPr lang="ko-KR" altLang="en-US" dirty="0"/>
              <a:t>삼성전자</a:t>
            </a:r>
            <a:r>
              <a:rPr lang="en-US" altLang="ko-KR" dirty="0"/>
              <a:t>, </a:t>
            </a:r>
            <a:r>
              <a:rPr lang="ko-KR" altLang="en-US" dirty="0"/>
              <a:t>종가</a:t>
            </a:r>
            <a:r>
              <a:rPr lang="en-US" altLang="ko-KR" dirty="0"/>
              <a:t>] </a:t>
            </a:r>
            <a:r>
              <a:rPr lang="ko-KR" altLang="en-US" dirty="0"/>
              <a:t>키워드에만 반응하여 잘못된 답을 출력함 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삼성증권과 하나증권의 데이터만 사용 가능</a:t>
            </a:r>
            <a:r>
              <a:rPr lang="en-US" altLang="ko-KR" dirty="0"/>
              <a:t>, </a:t>
            </a:r>
            <a:r>
              <a:rPr lang="ko-KR" altLang="en-US" dirty="0"/>
              <a:t>각 증권사의 리포트 등을 활용할 수 없음</a:t>
            </a:r>
            <a:endParaRPr lang="en-US" altLang="ko-KR" dirty="0"/>
          </a:p>
          <a:p>
            <a:r>
              <a:rPr lang="en-US" altLang="ko-KR" dirty="0"/>
              <a:t>3. </a:t>
            </a:r>
            <a:r>
              <a:rPr lang="ko-KR" altLang="en-US" dirty="0"/>
              <a:t>주식 데이터를 활용하여 주식 세금 계산 등 더욱 다양한 기능을 구현할 수 있음</a:t>
            </a:r>
            <a:r>
              <a:rPr lang="en-US" altLang="ko-KR" dirty="0"/>
              <a:t>.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BA235F2-5593-C6FD-8F77-BD05A36EF9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7130" b="17222"/>
          <a:stretch/>
        </p:blipFill>
        <p:spPr>
          <a:xfrm>
            <a:off x="627561" y="3397836"/>
            <a:ext cx="3163373" cy="3130550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79FCB462-F199-31D7-4745-62DF5F7A15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2797" y="3971910"/>
            <a:ext cx="2607619" cy="2491077"/>
          </a:xfrm>
          <a:prstGeom prst="rect">
            <a:avLst/>
          </a:prstGeom>
        </p:spPr>
      </p:pic>
      <p:sp>
        <p:nvSpPr>
          <p:cNvPr id="3" name="부등호 2">
            <a:extLst>
              <a:ext uri="{FF2B5EF4-FFF2-40B4-BE49-F238E27FC236}">
                <a16:creationId xmlns:a16="http://schemas.microsoft.com/office/drawing/2014/main" id="{256DDABF-8D78-6A4F-4E6B-CE229423A817}"/>
              </a:ext>
            </a:extLst>
          </p:cNvPr>
          <p:cNvSpPr/>
          <p:nvPr/>
        </p:nvSpPr>
        <p:spPr>
          <a:xfrm>
            <a:off x="4857265" y="5010150"/>
            <a:ext cx="1409700" cy="755650"/>
          </a:xfrm>
          <a:prstGeom prst="mathNotEqual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" name="원형: 비어 있음 3">
            <a:extLst>
              <a:ext uri="{FF2B5EF4-FFF2-40B4-BE49-F238E27FC236}">
                <a16:creationId xmlns:a16="http://schemas.microsoft.com/office/drawing/2014/main" id="{EDE077B0-2671-8D36-42B7-0A40BF127DC2}"/>
              </a:ext>
            </a:extLst>
          </p:cNvPr>
          <p:cNvSpPr/>
          <p:nvPr/>
        </p:nvSpPr>
        <p:spPr>
          <a:xfrm>
            <a:off x="2381234" y="5010150"/>
            <a:ext cx="1409700" cy="920750"/>
          </a:xfrm>
          <a:prstGeom prst="donut">
            <a:avLst>
              <a:gd name="adj" fmla="val 1186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" name="원형: 비어 있음 4">
            <a:extLst>
              <a:ext uri="{FF2B5EF4-FFF2-40B4-BE49-F238E27FC236}">
                <a16:creationId xmlns:a16="http://schemas.microsoft.com/office/drawing/2014/main" id="{BB1309BC-E4D0-4FD4-B72D-0AC5AF8C2CD5}"/>
              </a:ext>
            </a:extLst>
          </p:cNvPr>
          <p:cNvSpPr/>
          <p:nvPr/>
        </p:nvSpPr>
        <p:spPr>
          <a:xfrm>
            <a:off x="8446606" y="4273550"/>
            <a:ext cx="1155716" cy="736600"/>
          </a:xfrm>
          <a:prstGeom prst="donut">
            <a:avLst>
              <a:gd name="adj" fmla="val 1186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62723689-A754-A08C-A795-FB1B1D6AE0D6}"/>
              </a:ext>
            </a:extLst>
          </p:cNvPr>
          <p:cNvCxnSpPr>
            <a:cxnSpLocks/>
          </p:cNvCxnSpPr>
          <p:nvPr/>
        </p:nvCxnSpPr>
        <p:spPr>
          <a:xfrm flipH="1">
            <a:off x="3790934" y="4705350"/>
            <a:ext cx="450866" cy="4508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82D9F4E-E637-CC2E-CE34-01B3FAA99D8E}"/>
              </a:ext>
            </a:extLst>
          </p:cNvPr>
          <p:cNvSpPr txBox="1"/>
          <p:nvPr/>
        </p:nvSpPr>
        <p:spPr>
          <a:xfrm>
            <a:off x="4184650" y="4406384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오늘 종가</a:t>
            </a:r>
          </a:p>
        </p:txBody>
      </p:sp>
    </p:spTree>
    <p:extLst>
      <p:ext uri="{BB962C8B-B14F-4D97-AF65-F5344CB8AC3E}">
        <p14:creationId xmlns:p14="http://schemas.microsoft.com/office/powerpoint/2010/main" val="1846797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CD1086-6605-6F5C-512E-ACB474931C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150" y="247650"/>
            <a:ext cx="5137150" cy="928687"/>
          </a:xfrm>
        </p:spPr>
        <p:txBody>
          <a:bodyPr>
            <a:normAutofit/>
          </a:bodyPr>
          <a:lstStyle/>
          <a:p>
            <a:r>
              <a:rPr lang="ko-KR" altLang="en-US" dirty="0"/>
              <a:t>프로젝트 목표</a:t>
            </a: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9C88FD3C-A75A-7297-7C04-67D2DA487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283" y="1866678"/>
            <a:ext cx="4586569" cy="43998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74B1D2-EFFE-C6A1-1AB0-6BACCED98125}"/>
              </a:ext>
            </a:extLst>
          </p:cNvPr>
          <p:cNvSpPr txBox="1"/>
          <p:nvPr/>
        </p:nvSpPr>
        <p:spPr>
          <a:xfrm>
            <a:off x="4955666" y="2912435"/>
            <a:ext cx="7186583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다양한 메이저 증권사 리포트를 근거로 향후 주가의 방향성 예측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요청한 특정 날짜의 주식 데이터를 전달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양도소득세</a:t>
            </a:r>
            <a:r>
              <a:rPr lang="en-US" altLang="ko-KR" dirty="0"/>
              <a:t>, </a:t>
            </a:r>
            <a:r>
              <a:rPr lang="ko-KR" altLang="en-US" dirty="0"/>
              <a:t>배당소득세</a:t>
            </a:r>
            <a:r>
              <a:rPr lang="en-US" altLang="ko-KR" dirty="0"/>
              <a:t>, </a:t>
            </a:r>
            <a:r>
              <a:rPr lang="ko-KR" altLang="en-US" dirty="0" err="1"/>
              <a:t>주식증여세</a:t>
            </a:r>
            <a:r>
              <a:rPr lang="ko-KR" altLang="en-US" dirty="0"/>
              <a:t> 등 세금 계산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r>
              <a:rPr lang="en-US" altLang="ko-KR" dirty="0"/>
              <a:t>+ </a:t>
            </a:r>
            <a:r>
              <a:rPr lang="ko-KR" altLang="en-US" dirty="0"/>
              <a:t>주식 데이터를 활용할 수 있는 다양한 기능들</a:t>
            </a:r>
            <a:endParaRPr lang="en-US" altLang="ko-KR" dirty="0"/>
          </a:p>
          <a:p>
            <a:r>
              <a:rPr lang="en-US" altLang="ko-KR" dirty="0"/>
              <a:t> (</a:t>
            </a:r>
            <a:r>
              <a:rPr lang="ko-KR" altLang="en-US" dirty="0" err="1"/>
              <a:t>버핏지수</a:t>
            </a:r>
            <a:r>
              <a:rPr lang="ko-KR" altLang="en-US" dirty="0"/>
              <a:t> 등 특정 주식 매매 기법에 데이터 대입 등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+ </a:t>
            </a:r>
            <a:r>
              <a:rPr lang="ko-KR" altLang="en-US" dirty="0"/>
              <a:t>시간이 남는다면 위의 질문에 사용된 자료 첨부 기능 구현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73703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209ABB86-4544-EA68-6E2A-A86BB187CA8D}"/>
              </a:ext>
            </a:extLst>
          </p:cNvPr>
          <p:cNvSpPr txBox="1">
            <a:spLocks/>
          </p:cNvSpPr>
          <p:nvPr/>
        </p:nvSpPr>
        <p:spPr>
          <a:xfrm>
            <a:off x="311150" y="247650"/>
            <a:ext cx="5137150" cy="928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참고자료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A9F8AB8-7915-927A-2345-28ADC7DCC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150" y="1426322"/>
            <a:ext cx="11717130" cy="208219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954114E-F7B7-32ED-43F2-FBC0AE3132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719" r="7218"/>
          <a:stretch/>
        </p:blipFill>
        <p:spPr>
          <a:xfrm rot="5400000">
            <a:off x="6341580" y="2994578"/>
            <a:ext cx="3531703" cy="3227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362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CD1086-6605-6F5C-512E-ACB474931C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2750" y="247650"/>
            <a:ext cx="8969790" cy="928687"/>
          </a:xfrm>
        </p:spPr>
        <p:txBody>
          <a:bodyPr>
            <a:normAutofit/>
          </a:bodyPr>
          <a:lstStyle/>
          <a:p>
            <a:r>
              <a:rPr lang="ko-KR" altLang="en-US" dirty="0"/>
              <a:t>사용 언어</a:t>
            </a:r>
            <a:r>
              <a:rPr lang="en-US" altLang="ko-KR" dirty="0"/>
              <a:t>/</a:t>
            </a:r>
            <a:r>
              <a:rPr lang="ko-KR" altLang="en-US" dirty="0"/>
              <a:t>프레임워크</a:t>
            </a:r>
            <a:r>
              <a:rPr lang="en-US" altLang="ko-KR" dirty="0"/>
              <a:t>/DB</a:t>
            </a:r>
            <a:endParaRPr lang="ko-KR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7D58837-5761-51E3-7321-54B6C5EC4B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1729" y="3487943"/>
            <a:ext cx="3129203" cy="1738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98BE966D-FF45-166D-570C-3023E9FA8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03" y="1454608"/>
            <a:ext cx="2236688" cy="2114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파인콘 : 사용자 후기, 주요 기능, 가격">
            <a:extLst>
              <a:ext uri="{FF2B5EF4-FFF2-40B4-BE49-F238E27FC236}">
                <a16:creationId xmlns:a16="http://schemas.microsoft.com/office/drawing/2014/main" id="{71F33E39-8D60-6BFF-E851-B7E8517F35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5359" y="5548375"/>
            <a:ext cx="3341945" cy="840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Bootstrap | Custom Framework For Your Business">
            <a:extLst>
              <a:ext uri="{FF2B5EF4-FFF2-40B4-BE49-F238E27FC236}">
                <a16:creationId xmlns:a16="http://schemas.microsoft.com/office/drawing/2014/main" id="{26AE3E7C-FA87-4D62-755F-26B100A5BE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15" b="26947"/>
          <a:stretch/>
        </p:blipFill>
        <p:spPr bwMode="auto">
          <a:xfrm>
            <a:off x="3605351" y="2908031"/>
            <a:ext cx="3827486" cy="144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플라스크 (웹 프레임워크) - 위키백과, 우리 모두의 백과사전">
            <a:extLst>
              <a:ext uri="{FF2B5EF4-FFF2-40B4-BE49-F238E27FC236}">
                <a16:creationId xmlns:a16="http://schemas.microsoft.com/office/drawing/2014/main" id="{5A4E1F6A-A85E-8380-290A-385491560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9498" y="1595815"/>
            <a:ext cx="2771227" cy="1080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7CF5BC68-B19F-22CC-9F57-696DD66B4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0141" y="4638470"/>
            <a:ext cx="2409939" cy="587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LlamaIndex: AI 애플리케이션을 위한 데이터 통합 솔루">
            <a:extLst>
              <a:ext uri="{FF2B5EF4-FFF2-40B4-BE49-F238E27FC236}">
                <a16:creationId xmlns:a16="http://schemas.microsoft.com/office/drawing/2014/main" id="{C4E4E5D4-FD85-99A0-8FDA-39A218CD19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8706" y="5377731"/>
            <a:ext cx="2900776" cy="1182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IT 기본 지식] 웹 개발의 기본! HTML,CSS,Javascript | 인천일보아카데미">
            <a:extLst>
              <a:ext uri="{FF2B5EF4-FFF2-40B4-BE49-F238E27FC236}">
                <a16:creationId xmlns:a16="http://schemas.microsoft.com/office/drawing/2014/main" id="{D7BAAD78-35D1-4422-C870-5F3AE19C0F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782" y="3874612"/>
            <a:ext cx="2900776" cy="1608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A Warm Embrace: Exploring Hugging Face | by Zachary Raicik | Medium">
            <a:extLst>
              <a:ext uri="{FF2B5EF4-FFF2-40B4-BE49-F238E27FC236}">
                <a16:creationId xmlns:a16="http://schemas.microsoft.com/office/drawing/2014/main" id="{63200594-A786-4D2C-4A02-457E939333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4339" y="1274294"/>
            <a:ext cx="2588716" cy="1723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3231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CD1086-6605-6F5C-512E-ACB474931C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2750" y="247650"/>
            <a:ext cx="4591050" cy="928687"/>
          </a:xfrm>
        </p:spPr>
        <p:txBody>
          <a:bodyPr>
            <a:normAutofit/>
          </a:bodyPr>
          <a:lstStyle/>
          <a:p>
            <a:r>
              <a:rPr lang="ko-KR" altLang="en-US" dirty="0"/>
              <a:t>데이터 출처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DF8FF9-A7F5-C497-1297-DCB22DD01770}"/>
              </a:ext>
            </a:extLst>
          </p:cNvPr>
          <p:cNvSpPr txBox="1"/>
          <p:nvPr/>
        </p:nvSpPr>
        <p:spPr>
          <a:xfrm>
            <a:off x="927100" y="2806700"/>
            <a:ext cx="9918700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/>
              <a:t>증권사 리포트 데이터</a:t>
            </a:r>
            <a:r>
              <a:rPr lang="en-US" altLang="ko-KR" sz="2500" dirty="0"/>
              <a:t>: </a:t>
            </a:r>
            <a:r>
              <a:rPr lang="ko-KR" altLang="en-US" sz="2500" dirty="0"/>
              <a:t>네이버페이 증권</a:t>
            </a:r>
            <a:endParaRPr lang="en-US" altLang="ko-KR" sz="2500" dirty="0"/>
          </a:p>
          <a:p>
            <a:endParaRPr lang="en-US" altLang="ko-KR" sz="2500" dirty="0"/>
          </a:p>
          <a:p>
            <a:r>
              <a:rPr lang="ko-KR" altLang="en-US" sz="2500" dirty="0"/>
              <a:t>주식 데이터</a:t>
            </a:r>
            <a:r>
              <a:rPr lang="en-US" altLang="ko-KR" sz="2500" dirty="0"/>
              <a:t>: </a:t>
            </a:r>
            <a:r>
              <a:rPr lang="en-US" altLang="ko-KR" sz="25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FinanceDataReader</a:t>
            </a:r>
            <a:r>
              <a:rPr lang="en-US" altLang="ko-KR" sz="25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ko-KR" altLang="en-US" sz="2500" dirty="0">
                <a:solidFill>
                  <a:srgbClr val="3B3B3B"/>
                </a:solidFill>
                <a:latin typeface="Consolas" panose="020B0609020204030204" pitchFamily="49" charset="0"/>
              </a:rPr>
              <a:t>라이브러리</a:t>
            </a:r>
            <a:r>
              <a:rPr lang="en-US" altLang="ko-KR" sz="2500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ko-KR" altLang="en-US" sz="2500" dirty="0">
                <a:solidFill>
                  <a:srgbClr val="3B3B3B"/>
                </a:solidFill>
                <a:latin typeface="Consolas" panose="020B0609020204030204" pitchFamily="49" charset="0"/>
              </a:rPr>
              <a:t>한국거래소 </a:t>
            </a:r>
            <a:r>
              <a:rPr lang="en-US" altLang="ko-KR" sz="2500" dirty="0">
                <a:solidFill>
                  <a:srgbClr val="3B3B3B"/>
                </a:solidFill>
                <a:latin typeface="Consolas" panose="020B0609020204030204" pitchFamily="49" charset="0"/>
              </a:rPr>
              <a:t>API </a:t>
            </a:r>
            <a:r>
              <a:rPr lang="ko-KR" altLang="en-US" sz="25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endParaRPr lang="en-US" altLang="ko-KR" sz="25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endParaRPr lang="en-US" altLang="ko-KR" sz="25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25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LLM : </a:t>
            </a:r>
            <a:r>
              <a:rPr lang="en-US" altLang="ko-KR" sz="2500" dirty="0">
                <a:solidFill>
                  <a:srgbClr val="3B3B3B"/>
                </a:solidFill>
                <a:latin typeface="Consolas" panose="020B0609020204030204" pitchFamily="49" charset="0"/>
              </a:rPr>
              <a:t>GPT-4 Turbo</a:t>
            </a:r>
            <a:endParaRPr lang="en-US" altLang="ko-KR" sz="2500" dirty="0"/>
          </a:p>
        </p:txBody>
      </p:sp>
    </p:spTree>
    <p:extLst>
      <p:ext uri="{BB962C8B-B14F-4D97-AF65-F5344CB8AC3E}">
        <p14:creationId xmlns:p14="http://schemas.microsoft.com/office/powerpoint/2010/main" val="8935529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0" name="Picture 16" descr="더 저렴하고 더 강해진 ChatGPT-4 Turbo">
            <a:extLst>
              <a:ext uri="{FF2B5EF4-FFF2-40B4-BE49-F238E27FC236}">
                <a16:creationId xmlns:a16="http://schemas.microsoft.com/office/drawing/2014/main" id="{1D0CC260-D536-AD8C-76DF-46CA2F35F9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38" y="5702863"/>
            <a:ext cx="1279524" cy="787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9" name="TextBox 1028">
            <a:extLst>
              <a:ext uri="{FF2B5EF4-FFF2-40B4-BE49-F238E27FC236}">
                <a16:creationId xmlns:a16="http://schemas.microsoft.com/office/drawing/2014/main" id="{43EC4159-BE73-01E1-7B23-C32BDC752C7F}"/>
              </a:ext>
            </a:extLst>
          </p:cNvPr>
          <p:cNvSpPr txBox="1"/>
          <p:nvPr/>
        </p:nvSpPr>
        <p:spPr>
          <a:xfrm>
            <a:off x="-57360" y="4772283"/>
            <a:ext cx="151151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/>
              <a:t>자연어 데이터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FCD1086-6605-6F5C-512E-ACB474931C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4498" y="253869"/>
            <a:ext cx="4218704" cy="928687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서버 구성도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DE8649EF-D950-A9D7-F65A-E0F9652C44A3}"/>
              </a:ext>
            </a:extLst>
          </p:cNvPr>
          <p:cNvSpPr/>
          <p:nvPr/>
        </p:nvSpPr>
        <p:spPr>
          <a:xfrm>
            <a:off x="3744233" y="654778"/>
            <a:ext cx="7810500" cy="4895850"/>
          </a:xfrm>
          <a:prstGeom prst="round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886C55-D773-230F-6BB8-2BBC8D4411E7}"/>
              </a:ext>
            </a:extLst>
          </p:cNvPr>
          <p:cNvSpPr txBox="1"/>
          <p:nvPr/>
        </p:nvSpPr>
        <p:spPr>
          <a:xfrm>
            <a:off x="6436041" y="285446"/>
            <a:ext cx="2426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오라클 클라우드 </a:t>
            </a:r>
            <a:r>
              <a:rPr lang="en-US" altLang="ko-KR" dirty="0"/>
              <a:t>VCN</a:t>
            </a:r>
            <a:endParaRPr lang="ko-KR" altLang="en-US" dirty="0"/>
          </a:p>
        </p:txBody>
      </p:sp>
      <p:sp>
        <p:nvSpPr>
          <p:cNvPr id="20" name="순서도: 대체 처리 19">
            <a:extLst>
              <a:ext uri="{FF2B5EF4-FFF2-40B4-BE49-F238E27FC236}">
                <a16:creationId xmlns:a16="http://schemas.microsoft.com/office/drawing/2014/main" id="{31221ADF-1770-BD73-C303-86876E5501DA}"/>
              </a:ext>
            </a:extLst>
          </p:cNvPr>
          <p:cNvSpPr/>
          <p:nvPr/>
        </p:nvSpPr>
        <p:spPr>
          <a:xfrm>
            <a:off x="4049032" y="1157460"/>
            <a:ext cx="3600450" cy="4146550"/>
          </a:xfrm>
          <a:prstGeom prst="flowChartAlternate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순서도: 대체 처리 20">
            <a:extLst>
              <a:ext uri="{FF2B5EF4-FFF2-40B4-BE49-F238E27FC236}">
                <a16:creationId xmlns:a16="http://schemas.microsoft.com/office/drawing/2014/main" id="{CFB72D94-ADE9-1C26-B0E2-1D903145EA5D}"/>
              </a:ext>
            </a:extLst>
          </p:cNvPr>
          <p:cNvSpPr/>
          <p:nvPr/>
        </p:nvSpPr>
        <p:spPr>
          <a:xfrm>
            <a:off x="7954281" y="1157460"/>
            <a:ext cx="3263900" cy="4146550"/>
          </a:xfrm>
          <a:prstGeom prst="flowChartAlternate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7F57345-171E-0E98-40A3-226B93F65420}"/>
              </a:ext>
            </a:extLst>
          </p:cNvPr>
          <p:cNvSpPr/>
          <p:nvPr/>
        </p:nvSpPr>
        <p:spPr>
          <a:xfrm>
            <a:off x="5084082" y="1018276"/>
            <a:ext cx="1647827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퍼블릭 </a:t>
            </a:r>
            <a:r>
              <a:rPr lang="ko-KR" altLang="en-US" dirty="0" err="1">
                <a:solidFill>
                  <a:schemeClr val="tx1"/>
                </a:solidFill>
              </a:rPr>
              <a:t>서브넷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2A22884-0EA8-91E0-8289-21FDD2BD39D9}"/>
              </a:ext>
            </a:extLst>
          </p:cNvPr>
          <p:cNvSpPr/>
          <p:nvPr/>
        </p:nvSpPr>
        <p:spPr>
          <a:xfrm>
            <a:off x="8684532" y="1018276"/>
            <a:ext cx="1893892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프라이빗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ko-KR" altLang="en-US" dirty="0" err="1">
                <a:solidFill>
                  <a:schemeClr val="tx1"/>
                </a:solidFill>
              </a:rPr>
              <a:t>서브넷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4" name="순서도: 대체 처리 23">
            <a:extLst>
              <a:ext uri="{FF2B5EF4-FFF2-40B4-BE49-F238E27FC236}">
                <a16:creationId xmlns:a16="http://schemas.microsoft.com/office/drawing/2014/main" id="{1D092005-C0D4-281A-AE42-2C35A29CBA5D}"/>
              </a:ext>
            </a:extLst>
          </p:cNvPr>
          <p:cNvSpPr/>
          <p:nvPr/>
        </p:nvSpPr>
        <p:spPr>
          <a:xfrm>
            <a:off x="1393825" y="2286000"/>
            <a:ext cx="1406525" cy="667782"/>
          </a:xfrm>
          <a:prstGeom prst="flowChartAlternate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웹 </a:t>
            </a:r>
            <a:r>
              <a:rPr lang="ko-KR" altLang="en-US" dirty="0" err="1">
                <a:solidFill>
                  <a:schemeClr val="tx1"/>
                </a:solidFill>
              </a:rPr>
              <a:t>크롤러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E7767EAA-8DFB-6469-C2EF-1B51B943D4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770" y="1312056"/>
            <a:ext cx="1626795" cy="680984"/>
          </a:xfrm>
          <a:prstGeom prst="rect">
            <a:avLst/>
          </a:prstGeom>
        </p:spPr>
      </p:pic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3D7C2247-2D61-F8ED-431D-BAC1FDA85574}"/>
              </a:ext>
            </a:extLst>
          </p:cNvPr>
          <p:cNvCxnSpPr/>
          <p:nvPr/>
        </p:nvCxnSpPr>
        <p:spPr>
          <a:xfrm>
            <a:off x="1320800" y="1917700"/>
            <a:ext cx="203200" cy="279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ACEF0EB-1F1C-7F99-6671-A2996BDF44CD}"/>
              </a:ext>
            </a:extLst>
          </p:cNvPr>
          <p:cNvSpPr txBox="1"/>
          <p:nvPr/>
        </p:nvSpPr>
        <p:spPr>
          <a:xfrm>
            <a:off x="1454152" y="1873935"/>
            <a:ext cx="123528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/>
              <a:t>증권 데이터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379FB85-A28B-A718-9580-0A5286ED40E9}"/>
              </a:ext>
            </a:extLst>
          </p:cNvPr>
          <p:cNvSpPr txBox="1"/>
          <p:nvPr/>
        </p:nvSpPr>
        <p:spPr>
          <a:xfrm>
            <a:off x="7191814" y="1599423"/>
            <a:ext cx="123528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/>
              <a:t>Json </a:t>
            </a:r>
            <a:r>
              <a:rPr lang="ko-KR" altLang="en-US" sz="1500" dirty="0"/>
              <a:t>데이터</a:t>
            </a:r>
          </a:p>
        </p:txBody>
      </p:sp>
      <p:sp>
        <p:nvSpPr>
          <p:cNvPr id="37" name="순서도: 대체 처리 36">
            <a:extLst>
              <a:ext uri="{FF2B5EF4-FFF2-40B4-BE49-F238E27FC236}">
                <a16:creationId xmlns:a16="http://schemas.microsoft.com/office/drawing/2014/main" id="{8345730C-E2F5-B3D1-8D76-0B883F0EA5DD}"/>
              </a:ext>
            </a:extLst>
          </p:cNvPr>
          <p:cNvSpPr/>
          <p:nvPr/>
        </p:nvSpPr>
        <p:spPr>
          <a:xfrm>
            <a:off x="4803249" y="1662454"/>
            <a:ext cx="2009673" cy="922724"/>
          </a:xfrm>
          <a:prstGeom prst="flowChartAlternate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NAT </a:t>
            </a:r>
            <a:r>
              <a:rPr lang="ko-KR" altLang="en-US" dirty="0">
                <a:solidFill>
                  <a:schemeClr val="tx1"/>
                </a:solidFill>
              </a:rPr>
              <a:t>게이트웨이</a:t>
            </a:r>
          </a:p>
        </p:txBody>
      </p:sp>
      <p:sp>
        <p:nvSpPr>
          <p:cNvPr id="40" name="순서도: 대체 처리 39">
            <a:extLst>
              <a:ext uri="{FF2B5EF4-FFF2-40B4-BE49-F238E27FC236}">
                <a16:creationId xmlns:a16="http://schemas.microsoft.com/office/drawing/2014/main" id="{C2D41B1A-DDE1-D267-B69C-9171FD636680}"/>
              </a:ext>
            </a:extLst>
          </p:cNvPr>
          <p:cNvSpPr/>
          <p:nvPr/>
        </p:nvSpPr>
        <p:spPr>
          <a:xfrm>
            <a:off x="8654316" y="1556398"/>
            <a:ext cx="2009673" cy="2856852"/>
          </a:xfrm>
          <a:prstGeom prst="flowChartAlternate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1036" name="Picture 12" descr="오라클, AWS 환경에서 MySQL 히트웨이브 상용화 &lt; 솔루션가이드 &lt; IT·산업 &lt; 뉴스 &lt; 기사본문 - 지티티코리아">
            <a:extLst>
              <a:ext uri="{FF2B5EF4-FFF2-40B4-BE49-F238E27FC236}">
                <a16:creationId xmlns:a16="http://schemas.microsoft.com/office/drawing/2014/main" id="{4DA33CC5-C757-FA35-1352-FA103C27E4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5656" y="2452636"/>
            <a:ext cx="2108120" cy="150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24E98DD-98E7-D213-6943-F387688DFF5D}"/>
              </a:ext>
            </a:extLst>
          </p:cNvPr>
          <p:cNvSpPr txBox="1"/>
          <p:nvPr/>
        </p:nvSpPr>
        <p:spPr>
          <a:xfrm>
            <a:off x="8832359" y="2051230"/>
            <a:ext cx="165358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/>
              <a:t>  증권데이터 </a:t>
            </a:r>
            <a:r>
              <a:rPr lang="en-US" altLang="ko-KR" sz="1500" dirty="0"/>
              <a:t>DB</a:t>
            </a:r>
            <a:endParaRPr lang="ko-KR" altLang="en-US" sz="15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E3DB4C8-0053-FCD0-4D69-B4BF5B43587C}"/>
              </a:ext>
            </a:extLst>
          </p:cNvPr>
          <p:cNvSpPr txBox="1"/>
          <p:nvPr/>
        </p:nvSpPr>
        <p:spPr>
          <a:xfrm>
            <a:off x="2341137" y="3343901"/>
            <a:ext cx="123528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/>
              <a:t>Json </a:t>
            </a:r>
            <a:r>
              <a:rPr lang="ko-KR" altLang="en-US" sz="1500" dirty="0"/>
              <a:t>데이터</a:t>
            </a:r>
          </a:p>
        </p:txBody>
      </p:sp>
      <p:sp>
        <p:nvSpPr>
          <p:cNvPr id="52" name="순서도: 대체 처리 51">
            <a:extLst>
              <a:ext uri="{FF2B5EF4-FFF2-40B4-BE49-F238E27FC236}">
                <a16:creationId xmlns:a16="http://schemas.microsoft.com/office/drawing/2014/main" id="{9CE3C1DB-E291-C760-45F4-32AC3A76C9C8}"/>
              </a:ext>
            </a:extLst>
          </p:cNvPr>
          <p:cNvSpPr/>
          <p:nvPr/>
        </p:nvSpPr>
        <p:spPr>
          <a:xfrm>
            <a:off x="369831" y="3102703"/>
            <a:ext cx="2009673" cy="1632029"/>
          </a:xfrm>
          <a:prstGeom prst="flowChartAlternate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9291DDC-D788-C56C-67AA-793E9A319A9F}"/>
              </a:ext>
            </a:extLst>
          </p:cNvPr>
          <p:cNvSpPr txBox="1"/>
          <p:nvPr/>
        </p:nvSpPr>
        <p:spPr>
          <a:xfrm>
            <a:off x="926046" y="3267417"/>
            <a:ext cx="127952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/>
              <a:t>벡터 </a:t>
            </a:r>
            <a:r>
              <a:rPr lang="en-US" altLang="ko-KR" sz="1500" dirty="0"/>
              <a:t>DB</a:t>
            </a:r>
            <a:endParaRPr lang="ko-KR" altLang="en-US" sz="1500" dirty="0"/>
          </a:p>
        </p:txBody>
      </p:sp>
      <p:pic>
        <p:nvPicPr>
          <p:cNvPr id="54" name="Picture 6" descr="파인콘 : 사용자 후기, 주요 기능, 가격">
            <a:extLst>
              <a:ext uri="{FF2B5EF4-FFF2-40B4-BE49-F238E27FC236}">
                <a16:creationId xmlns:a16="http://schemas.microsoft.com/office/drawing/2014/main" id="{E9C87D9D-45E4-A360-4AFA-16D427C542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938" y="3822699"/>
            <a:ext cx="1682924" cy="423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순서도: 대체 처리 54">
            <a:extLst>
              <a:ext uri="{FF2B5EF4-FFF2-40B4-BE49-F238E27FC236}">
                <a16:creationId xmlns:a16="http://schemas.microsoft.com/office/drawing/2014/main" id="{6BD86C6D-0FD8-D09A-6E16-F08A4753A9CB}"/>
              </a:ext>
            </a:extLst>
          </p:cNvPr>
          <p:cNvSpPr/>
          <p:nvPr/>
        </p:nvSpPr>
        <p:spPr>
          <a:xfrm>
            <a:off x="4350810" y="2738603"/>
            <a:ext cx="3049279" cy="2196075"/>
          </a:xfrm>
          <a:prstGeom prst="flowChartAlternate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8" name="순서도: 대체 처리 57">
            <a:extLst>
              <a:ext uri="{FF2B5EF4-FFF2-40B4-BE49-F238E27FC236}">
                <a16:creationId xmlns:a16="http://schemas.microsoft.com/office/drawing/2014/main" id="{865CE442-11E5-9494-137E-923419F8F841}"/>
              </a:ext>
            </a:extLst>
          </p:cNvPr>
          <p:cNvSpPr/>
          <p:nvPr/>
        </p:nvSpPr>
        <p:spPr>
          <a:xfrm>
            <a:off x="390933" y="5095308"/>
            <a:ext cx="2009673" cy="1433263"/>
          </a:xfrm>
          <a:prstGeom prst="flowChartAlternate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5236054-BE5C-63BA-9CBC-7B1AE1805A95}"/>
              </a:ext>
            </a:extLst>
          </p:cNvPr>
          <p:cNvSpPr txBox="1"/>
          <p:nvPr/>
        </p:nvSpPr>
        <p:spPr>
          <a:xfrm>
            <a:off x="540880" y="5166600"/>
            <a:ext cx="1771955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dirty="0"/>
              <a:t>외부 </a:t>
            </a:r>
            <a:r>
              <a:rPr lang="en-US" altLang="ko-KR" sz="1500" dirty="0"/>
              <a:t>API,</a:t>
            </a:r>
            <a:br>
              <a:rPr lang="en-US" altLang="ko-KR" sz="1500" dirty="0"/>
            </a:br>
            <a:r>
              <a:rPr lang="ko-KR" altLang="en-US" sz="1600" dirty="0"/>
              <a:t>래퍼 라이브러리</a:t>
            </a:r>
            <a:endParaRPr lang="ko-KR" altLang="en-US" sz="1500" dirty="0"/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63FE3DC0-B09E-70C4-EE3B-ABFD22D1C0D3}"/>
              </a:ext>
            </a:extLst>
          </p:cNvPr>
          <p:cNvCxnSpPr>
            <a:cxnSpLocks/>
          </p:cNvCxnSpPr>
          <p:nvPr/>
        </p:nvCxnSpPr>
        <p:spPr>
          <a:xfrm>
            <a:off x="1286267" y="4734732"/>
            <a:ext cx="0" cy="3605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3" name="직선 화살표 연결선 1032">
            <a:extLst>
              <a:ext uri="{FF2B5EF4-FFF2-40B4-BE49-F238E27FC236}">
                <a16:creationId xmlns:a16="http://schemas.microsoft.com/office/drawing/2014/main" id="{8C0F0DB1-9821-93A1-FEAD-0A8C7E605247}"/>
              </a:ext>
            </a:extLst>
          </p:cNvPr>
          <p:cNvCxnSpPr>
            <a:cxnSpLocks/>
          </p:cNvCxnSpPr>
          <p:nvPr/>
        </p:nvCxnSpPr>
        <p:spPr>
          <a:xfrm flipV="1">
            <a:off x="1505344" y="4734732"/>
            <a:ext cx="0" cy="3605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39" name="TextBox 1038">
            <a:extLst>
              <a:ext uri="{FF2B5EF4-FFF2-40B4-BE49-F238E27FC236}">
                <a16:creationId xmlns:a16="http://schemas.microsoft.com/office/drawing/2014/main" id="{E3F9A572-E1CC-0A40-F835-B30FE6064FEF}"/>
              </a:ext>
            </a:extLst>
          </p:cNvPr>
          <p:cNvSpPr txBox="1"/>
          <p:nvPr/>
        </p:nvSpPr>
        <p:spPr>
          <a:xfrm>
            <a:off x="1527358" y="4761417"/>
            <a:ext cx="145079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 err="1"/>
              <a:t>임베딩</a:t>
            </a:r>
            <a:r>
              <a:rPr lang="ko-KR" altLang="en-US" sz="1500" dirty="0"/>
              <a:t> 데이터</a:t>
            </a:r>
          </a:p>
        </p:txBody>
      </p:sp>
      <p:sp>
        <p:nvSpPr>
          <p:cNvPr id="1041" name="직사각형 1040">
            <a:extLst>
              <a:ext uri="{FF2B5EF4-FFF2-40B4-BE49-F238E27FC236}">
                <a16:creationId xmlns:a16="http://schemas.microsoft.com/office/drawing/2014/main" id="{ECA162DF-EAB3-635C-E981-C5318DC8D03B}"/>
              </a:ext>
            </a:extLst>
          </p:cNvPr>
          <p:cNvSpPr/>
          <p:nvPr/>
        </p:nvSpPr>
        <p:spPr>
          <a:xfrm>
            <a:off x="5025343" y="2781911"/>
            <a:ext cx="1647827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웹 프로그램</a:t>
            </a:r>
          </a:p>
        </p:txBody>
      </p:sp>
      <p:pic>
        <p:nvPicPr>
          <p:cNvPr id="1042" name="Picture 8" descr="플라스크 (웹 프레임워크) - 위키백과, 우리 모두의 백과사전">
            <a:extLst>
              <a:ext uri="{FF2B5EF4-FFF2-40B4-BE49-F238E27FC236}">
                <a16:creationId xmlns:a16="http://schemas.microsoft.com/office/drawing/2014/main" id="{85E7C109-C9DC-AE8A-8FC1-17FB7FB262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1579" y="3188427"/>
            <a:ext cx="1376416" cy="536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3" name="Picture 10" descr="Bootstrap | Custom Framework For Your Business">
            <a:extLst>
              <a:ext uri="{FF2B5EF4-FFF2-40B4-BE49-F238E27FC236}">
                <a16:creationId xmlns:a16="http://schemas.microsoft.com/office/drawing/2014/main" id="{7F0BDFA7-57D9-FF0C-F164-88919DC63B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507" b="26946"/>
          <a:stretch/>
        </p:blipFill>
        <p:spPr bwMode="auto">
          <a:xfrm>
            <a:off x="5869494" y="3162237"/>
            <a:ext cx="1477072" cy="57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48" name="연결선: 꺾임 1047">
            <a:extLst>
              <a:ext uri="{FF2B5EF4-FFF2-40B4-BE49-F238E27FC236}">
                <a16:creationId xmlns:a16="http://schemas.microsoft.com/office/drawing/2014/main" id="{7622667E-D850-B660-E236-F865CBC240F9}"/>
              </a:ext>
            </a:extLst>
          </p:cNvPr>
          <p:cNvCxnSpPr>
            <a:cxnSpLocks/>
          </p:cNvCxnSpPr>
          <p:nvPr/>
        </p:nvCxnSpPr>
        <p:spPr>
          <a:xfrm flipV="1">
            <a:off x="2795178" y="1937797"/>
            <a:ext cx="5853966" cy="562491"/>
          </a:xfrm>
          <a:prstGeom prst="bentConnector3">
            <a:avLst>
              <a:gd name="adj1" fmla="val 5743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52" name="연결선: 꺾임 1051">
            <a:extLst>
              <a:ext uri="{FF2B5EF4-FFF2-40B4-BE49-F238E27FC236}">
                <a16:creationId xmlns:a16="http://schemas.microsoft.com/office/drawing/2014/main" id="{5A6B5DED-7E8E-C317-F91B-944D8C501CBC}"/>
              </a:ext>
            </a:extLst>
          </p:cNvPr>
          <p:cNvCxnSpPr>
            <a:cxnSpLocks/>
            <a:stCxn id="40" idx="1"/>
          </p:cNvCxnSpPr>
          <p:nvPr/>
        </p:nvCxnSpPr>
        <p:spPr>
          <a:xfrm rot="10800000" flipV="1">
            <a:off x="2386000" y="2984823"/>
            <a:ext cx="6268316" cy="70628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065" name="Picture 20" descr="사람 아이콘 일러스트 | PNG 아이콘 | Pngtree에 무료 다운로드">
            <a:extLst>
              <a:ext uri="{FF2B5EF4-FFF2-40B4-BE49-F238E27FC236}">
                <a16:creationId xmlns:a16="http://schemas.microsoft.com/office/drawing/2014/main" id="{9C5B4068-0458-2DA4-E1B3-8E6FBD5879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4382" y="6015734"/>
            <a:ext cx="824834" cy="824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69" name="직선 화살표 연결선 1068">
            <a:extLst>
              <a:ext uri="{FF2B5EF4-FFF2-40B4-BE49-F238E27FC236}">
                <a16:creationId xmlns:a16="http://schemas.microsoft.com/office/drawing/2014/main" id="{97819B0F-5266-7232-BD77-691441377310}"/>
              </a:ext>
            </a:extLst>
          </p:cNvPr>
          <p:cNvCxnSpPr>
            <a:cxnSpLocks/>
          </p:cNvCxnSpPr>
          <p:nvPr/>
        </p:nvCxnSpPr>
        <p:spPr>
          <a:xfrm flipH="1" flipV="1">
            <a:off x="6871870" y="4673894"/>
            <a:ext cx="849860" cy="13186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72" name="TextBox 1071">
            <a:extLst>
              <a:ext uri="{FF2B5EF4-FFF2-40B4-BE49-F238E27FC236}">
                <a16:creationId xmlns:a16="http://schemas.microsoft.com/office/drawing/2014/main" id="{65B47AE2-3C05-192A-400D-70B73D939D07}"/>
              </a:ext>
            </a:extLst>
          </p:cNvPr>
          <p:cNvSpPr txBox="1"/>
          <p:nvPr/>
        </p:nvSpPr>
        <p:spPr>
          <a:xfrm>
            <a:off x="8147694" y="6446837"/>
            <a:ext cx="82483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/>
              <a:t>사용자</a:t>
            </a:r>
          </a:p>
        </p:txBody>
      </p:sp>
      <p:pic>
        <p:nvPicPr>
          <p:cNvPr id="1076" name="Picture 4">
            <a:extLst>
              <a:ext uri="{FF2B5EF4-FFF2-40B4-BE49-F238E27FC236}">
                <a16:creationId xmlns:a16="http://schemas.microsoft.com/office/drawing/2014/main" id="{A515C4D5-A764-5D4F-2C02-D93C756022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4794" y="3911802"/>
            <a:ext cx="898576" cy="849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89" name="직선 화살표 연결선 1088">
            <a:extLst>
              <a:ext uri="{FF2B5EF4-FFF2-40B4-BE49-F238E27FC236}">
                <a16:creationId xmlns:a16="http://schemas.microsoft.com/office/drawing/2014/main" id="{925B782F-F66F-E232-CB51-E38A24C5C4E2}"/>
              </a:ext>
            </a:extLst>
          </p:cNvPr>
          <p:cNvCxnSpPr>
            <a:cxnSpLocks/>
          </p:cNvCxnSpPr>
          <p:nvPr/>
        </p:nvCxnSpPr>
        <p:spPr>
          <a:xfrm>
            <a:off x="2456734" y="4030208"/>
            <a:ext cx="182363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91" name="TextBox 1090">
            <a:extLst>
              <a:ext uri="{FF2B5EF4-FFF2-40B4-BE49-F238E27FC236}">
                <a16:creationId xmlns:a16="http://schemas.microsoft.com/office/drawing/2014/main" id="{2E3FFCCA-5950-B393-97FD-BDDA097FD6C6}"/>
              </a:ext>
            </a:extLst>
          </p:cNvPr>
          <p:cNvSpPr txBox="1"/>
          <p:nvPr/>
        </p:nvSpPr>
        <p:spPr>
          <a:xfrm>
            <a:off x="2395909" y="4056894"/>
            <a:ext cx="143697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/>
              <a:t>원하는 데이터 요청</a:t>
            </a:r>
            <a:r>
              <a:rPr lang="en-US" altLang="ko-KR" sz="1500" dirty="0"/>
              <a:t>&amp;</a:t>
            </a:r>
            <a:r>
              <a:rPr lang="ko-KR" altLang="en-US" sz="1500" dirty="0"/>
              <a:t>반환</a:t>
            </a:r>
          </a:p>
        </p:txBody>
      </p:sp>
      <p:sp>
        <p:nvSpPr>
          <p:cNvPr id="1092" name="TextBox 1091">
            <a:extLst>
              <a:ext uri="{FF2B5EF4-FFF2-40B4-BE49-F238E27FC236}">
                <a16:creationId xmlns:a16="http://schemas.microsoft.com/office/drawing/2014/main" id="{6AE8496C-6F67-CED7-5452-D2A04C3E0019}"/>
              </a:ext>
            </a:extLst>
          </p:cNvPr>
          <p:cNvSpPr txBox="1"/>
          <p:nvPr/>
        </p:nvSpPr>
        <p:spPr>
          <a:xfrm>
            <a:off x="7651499" y="5644024"/>
            <a:ext cx="12114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/>
              <a:t>자연어 질문</a:t>
            </a:r>
          </a:p>
        </p:txBody>
      </p:sp>
      <p:sp>
        <p:nvSpPr>
          <p:cNvPr id="1096" name="TextBox 1095">
            <a:extLst>
              <a:ext uri="{FF2B5EF4-FFF2-40B4-BE49-F238E27FC236}">
                <a16:creationId xmlns:a16="http://schemas.microsoft.com/office/drawing/2014/main" id="{D936AD3A-6C06-4B4D-A558-2D2C2CA2ECCD}"/>
              </a:ext>
            </a:extLst>
          </p:cNvPr>
          <p:cNvSpPr txBox="1"/>
          <p:nvPr/>
        </p:nvSpPr>
        <p:spPr>
          <a:xfrm>
            <a:off x="6222290" y="5759798"/>
            <a:ext cx="101923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/>
              <a:t>결과 반환</a:t>
            </a:r>
          </a:p>
        </p:txBody>
      </p:sp>
      <p:cxnSp>
        <p:nvCxnSpPr>
          <p:cNvPr id="1100" name="직선 화살표 연결선 1099">
            <a:extLst>
              <a:ext uri="{FF2B5EF4-FFF2-40B4-BE49-F238E27FC236}">
                <a16:creationId xmlns:a16="http://schemas.microsoft.com/office/drawing/2014/main" id="{AB0878D8-C655-9F01-D955-70FE9AEF184C}"/>
              </a:ext>
            </a:extLst>
          </p:cNvPr>
          <p:cNvCxnSpPr>
            <a:cxnSpLocks/>
          </p:cNvCxnSpPr>
          <p:nvPr/>
        </p:nvCxnSpPr>
        <p:spPr>
          <a:xfrm flipH="1">
            <a:off x="2521379" y="4565804"/>
            <a:ext cx="2110075" cy="8480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02" name="TextBox 1101">
            <a:extLst>
              <a:ext uri="{FF2B5EF4-FFF2-40B4-BE49-F238E27FC236}">
                <a16:creationId xmlns:a16="http://schemas.microsoft.com/office/drawing/2014/main" id="{F00305AB-CF30-B2EE-E21A-C9745CDF18DB}"/>
              </a:ext>
            </a:extLst>
          </p:cNvPr>
          <p:cNvSpPr txBox="1"/>
          <p:nvPr/>
        </p:nvSpPr>
        <p:spPr>
          <a:xfrm>
            <a:off x="2666489" y="5222071"/>
            <a:ext cx="145079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/>
              <a:t>사용자 질문 </a:t>
            </a:r>
            <a:r>
              <a:rPr lang="en-US" altLang="ko-KR" sz="1500" dirty="0"/>
              <a:t>+ </a:t>
            </a:r>
            <a:r>
              <a:rPr lang="ko-KR" altLang="en-US" sz="1500" dirty="0"/>
              <a:t>관련 데이터</a:t>
            </a:r>
          </a:p>
        </p:txBody>
      </p:sp>
      <p:cxnSp>
        <p:nvCxnSpPr>
          <p:cNvPr id="1128" name="직선 화살표 연결선 1127">
            <a:extLst>
              <a:ext uri="{FF2B5EF4-FFF2-40B4-BE49-F238E27FC236}">
                <a16:creationId xmlns:a16="http://schemas.microsoft.com/office/drawing/2014/main" id="{44C45A93-1AE2-C4BB-68CA-DC67FD62863C}"/>
              </a:ext>
            </a:extLst>
          </p:cNvPr>
          <p:cNvCxnSpPr>
            <a:cxnSpLocks/>
          </p:cNvCxnSpPr>
          <p:nvPr/>
        </p:nvCxnSpPr>
        <p:spPr>
          <a:xfrm>
            <a:off x="6544726" y="4658787"/>
            <a:ext cx="1000146" cy="15797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36" name="직선 연결선 1135">
            <a:extLst>
              <a:ext uri="{FF2B5EF4-FFF2-40B4-BE49-F238E27FC236}">
                <a16:creationId xmlns:a16="http://schemas.microsoft.com/office/drawing/2014/main" id="{FA2A172C-1069-7F68-C565-20723F537123}"/>
              </a:ext>
            </a:extLst>
          </p:cNvPr>
          <p:cNvCxnSpPr/>
          <p:nvPr/>
        </p:nvCxnSpPr>
        <p:spPr>
          <a:xfrm flipH="1">
            <a:off x="2395909" y="4673894"/>
            <a:ext cx="4148817" cy="147290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" name="Picture 8" descr="IT 기본 지식] 웹 개발의 기본! HTML,CSS,Javascript | 인천일보아카데미">
            <a:extLst>
              <a:ext uri="{FF2B5EF4-FFF2-40B4-BE49-F238E27FC236}">
                <a16:creationId xmlns:a16="http://schemas.microsoft.com/office/drawing/2014/main" id="{951FE1AE-FA22-BC93-5E89-B3E23C40BA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2161" y="3898891"/>
            <a:ext cx="1117025" cy="619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60222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원통형 16">
            <a:extLst>
              <a:ext uri="{FF2B5EF4-FFF2-40B4-BE49-F238E27FC236}">
                <a16:creationId xmlns:a16="http://schemas.microsoft.com/office/drawing/2014/main" id="{1A6628E7-F844-3265-72D5-3F8FB1B90C0B}"/>
              </a:ext>
            </a:extLst>
          </p:cNvPr>
          <p:cNvSpPr/>
          <p:nvPr/>
        </p:nvSpPr>
        <p:spPr>
          <a:xfrm>
            <a:off x="6509116" y="3225435"/>
            <a:ext cx="1242479" cy="1427051"/>
          </a:xfrm>
          <a:prstGeom prst="can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015E081-1768-4953-AB9A-C266A6AB41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096" y="245880"/>
            <a:ext cx="5304954" cy="928687"/>
          </a:xfrm>
        </p:spPr>
        <p:txBody>
          <a:bodyPr>
            <a:normAutofit/>
          </a:bodyPr>
          <a:lstStyle/>
          <a:p>
            <a:r>
              <a:rPr lang="ko-KR" altLang="en-US" dirty="0"/>
              <a:t>시스템 구성도 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BDB7710B-8C33-10B5-2C2B-2A6C201E35B7}"/>
              </a:ext>
            </a:extLst>
          </p:cNvPr>
          <p:cNvGrpSpPr/>
          <p:nvPr/>
        </p:nvGrpSpPr>
        <p:grpSpPr>
          <a:xfrm>
            <a:off x="864208" y="2333944"/>
            <a:ext cx="2217828" cy="3297580"/>
            <a:chOff x="629518" y="1657350"/>
            <a:chExt cx="3041318" cy="4464050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306738CA-AE62-CDD3-4F14-9FFDD5C0F53C}"/>
                </a:ext>
              </a:extLst>
            </p:cNvPr>
            <p:cNvSpPr/>
            <p:nvPr/>
          </p:nvSpPr>
          <p:spPr>
            <a:xfrm>
              <a:off x="697139" y="1657350"/>
              <a:ext cx="2756638" cy="4464050"/>
            </a:xfrm>
            <a:prstGeom prst="roundRect">
              <a:avLst/>
            </a:prstGeom>
            <a:noFill/>
            <a:ln w="952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6AE81AE-D956-A02A-FCE9-CDEE3AF97CCB}"/>
                </a:ext>
              </a:extLst>
            </p:cNvPr>
            <p:cNvSpPr txBox="1"/>
            <p:nvPr/>
          </p:nvSpPr>
          <p:spPr>
            <a:xfrm>
              <a:off x="1051087" y="3073421"/>
              <a:ext cx="2048742" cy="2833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sz="1300" dirty="0" err="1"/>
                <a:t>미래에셋증권</a:t>
              </a:r>
              <a:endParaRPr lang="en-US" altLang="ko-KR" sz="13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sz="1300" dirty="0"/>
                <a:t>신한투자증권</a:t>
              </a:r>
              <a:endParaRPr lang="en-US" altLang="ko-KR" sz="13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sz="1300" dirty="0"/>
                <a:t>하나증권</a:t>
              </a:r>
              <a:endParaRPr lang="en-US" altLang="ko-KR" sz="13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sz="1300" dirty="0" err="1"/>
                <a:t>유안타증권</a:t>
              </a:r>
              <a:endParaRPr lang="en-US" altLang="ko-KR" sz="13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sz="1300" dirty="0"/>
                <a:t>대신증권</a:t>
              </a:r>
              <a:endParaRPr lang="en-US" altLang="ko-KR" sz="13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300" dirty="0"/>
                <a:t>SK</a:t>
              </a:r>
              <a:r>
                <a:rPr lang="ko-KR" altLang="en-US" sz="1300" dirty="0"/>
                <a:t>증권</a:t>
              </a:r>
              <a:endParaRPr lang="en-US" altLang="ko-KR" sz="13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sz="1300" dirty="0"/>
                <a:t>삼성증권</a:t>
              </a:r>
              <a:endParaRPr lang="en-US" altLang="ko-KR" sz="13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sz="1300" dirty="0" err="1"/>
                <a:t>키움증권</a:t>
              </a:r>
              <a:endParaRPr lang="en-US" altLang="ko-KR" sz="13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300" dirty="0"/>
                <a:t>DS</a:t>
              </a:r>
              <a:r>
                <a:rPr lang="ko-KR" altLang="en-US" sz="1300" dirty="0"/>
                <a:t>투자증권</a:t>
              </a:r>
              <a:endParaRPr lang="en-US" altLang="ko-KR" sz="13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sz="1300" dirty="0"/>
                <a:t>한화투자증권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80E0300-1EE1-2D4C-D2B7-E6B8C6CEBD5B}"/>
                </a:ext>
              </a:extLst>
            </p:cNvPr>
            <p:cNvSpPr txBox="1"/>
            <p:nvPr/>
          </p:nvSpPr>
          <p:spPr>
            <a:xfrm>
              <a:off x="629518" y="2461576"/>
              <a:ext cx="3041318" cy="437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500" b="1" dirty="0">
                  <a:solidFill>
                    <a:schemeClr val="tx2">
                      <a:lumMod val="50000"/>
                      <a:lumOff val="50000"/>
                    </a:schemeClr>
                  </a:solidFill>
                </a:rPr>
                <a:t>유명 증권사 </a:t>
              </a:r>
              <a:r>
                <a:rPr lang="en-US" altLang="ko-KR" sz="1500" b="1" dirty="0">
                  <a:solidFill>
                    <a:schemeClr val="tx2">
                      <a:lumMod val="50000"/>
                      <a:lumOff val="50000"/>
                    </a:schemeClr>
                  </a:solidFill>
                </a:rPr>
                <a:t>10</a:t>
              </a:r>
              <a:r>
                <a:rPr lang="ko-KR" altLang="en-US" sz="1500" b="1" dirty="0">
                  <a:solidFill>
                    <a:schemeClr val="tx2">
                      <a:lumMod val="50000"/>
                      <a:lumOff val="50000"/>
                    </a:schemeClr>
                  </a:solidFill>
                </a:rPr>
                <a:t>개 지정</a:t>
              </a:r>
            </a:p>
          </p:txBody>
        </p:sp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02778A5A-6971-AF7D-B0DA-EA5EA68180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62059" y="1780592"/>
              <a:ext cx="1626795" cy="680984"/>
            </a:xfrm>
            <a:prstGeom prst="rect">
              <a:avLst/>
            </a:prstGeom>
          </p:spPr>
        </p:pic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5121686-1DA4-D034-3447-88BA7A3302FC}"/>
              </a:ext>
            </a:extLst>
          </p:cNvPr>
          <p:cNvGrpSpPr/>
          <p:nvPr/>
        </p:nvGrpSpPr>
        <p:grpSpPr>
          <a:xfrm>
            <a:off x="4457700" y="2681026"/>
            <a:ext cx="1641674" cy="2224455"/>
            <a:chOff x="3634862" y="1217250"/>
            <a:chExt cx="2028548" cy="266264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205A499-0C61-C847-40B7-57EB831105E3}"/>
                </a:ext>
              </a:extLst>
            </p:cNvPr>
            <p:cNvSpPr txBox="1"/>
            <p:nvPr/>
          </p:nvSpPr>
          <p:spPr>
            <a:xfrm>
              <a:off x="3634862" y="1217250"/>
              <a:ext cx="19506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/>
                <a:t>.JSON</a:t>
              </a:r>
              <a:endParaRPr lang="ko-KR" altLang="en-US" dirty="0"/>
            </a:p>
          </p:txBody>
        </p: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E3B731B7-862F-0C20-4712-93E8D4A15B1D}"/>
                </a:ext>
              </a:extLst>
            </p:cNvPr>
            <p:cNvGrpSpPr/>
            <p:nvPr/>
          </p:nvGrpSpPr>
          <p:grpSpPr>
            <a:xfrm>
              <a:off x="3771004" y="1659653"/>
              <a:ext cx="1892406" cy="2220238"/>
              <a:chOff x="3771004" y="1659653"/>
              <a:chExt cx="1892406" cy="2220238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07E9C37-4231-86FC-AD38-2991E032577F}"/>
                  </a:ext>
                </a:extLst>
              </p:cNvPr>
              <p:cNvSpPr txBox="1"/>
              <p:nvPr/>
            </p:nvSpPr>
            <p:spPr>
              <a:xfrm>
                <a:off x="3861598" y="1760188"/>
                <a:ext cx="1801812" cy="17081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500" dirty="0"/>
                  <a:t>{ </a:t>
                </a:r>
              </a:p>
              <a:p>
                <a:r>
                  <a:rPr lang="en-US" altLang="ko-KR" sz="1500" dirty="0"/>
                  <a:t>   "</a:t>
                </a:r>
                <a:r>
                  <a:rPr lang="ko-KR" altLang="en-US" sz="1500" dirty="0" err="1"/>
                  <a:t>종목명</a:t>
                </a:r>
                <a:r>
                  <a:rPr lang="en-US" altLang="ko-KR" sz="1500" dirty="0"/>
                  <a:t>": , </a:t>
                </a:r>
              </a:p>
              <a:p>
                <a:r>
                  <a:rPr lang="en-US" altLang="ko-KR" sz="1500" dirty="0"/>
                  <a:t>   "</a:t>
                </a:r>
                <a:r>
                  <a:rPr lang="ko-KR" altLang="en-US" sz="1500" dirty="0"/>
                  <a:t>제목</a:t>
                </a:r>
                <a:r>
                  <a:rPr lang="en-US" altLang="ko-KR" sz="1500" dirty="0"/>
                  <a:t>": , </a:t>
                </a:r>
              </a:p>
              <a:p>
                <a:r>
                  <a:rPr lang="en-US" altLang="ko-KR" sz="1500" dirty="0"/>
                  <a:t>   "</a:t>
                </a:r>
                <a:r>
                  <a:rPr lang="ko-KR" altLang="en-US" sz="1500" dirty="0"/>
                  <a:t>증권사</a:t>
                </a:r>
                <a:r>
                  <a:rPr lang="en-US" altLang="ko-KR" sz="1500" dirty="0"/>
                  <a:t>": ,</a:t>
                </a:r>
              </a:p>
              <a:p>
                <a:r>
                  <a:rPr lang="en-US" altLang="ko-KR" sz="1500" dirty="0"/>
                  <a:t>   "</a:t>
                </a:r>
                <a:r>
                  <a:rPr lang="ko-KR" altLang="en-US" sz="1500" dirty="0"/>
                  <a:t>날짜</a:t>
                </a:r>
                <a:r>
                  <a:rPr lang="en-US" altLang="ko-KR" sz="1500" dirty="0"/>
                  <a:t>": ,</a:t>
                </a:r>
              </a:p>
              <a:p>
                <a:r>
                  <a:rPr lang="en-US" altLang="ko-KR" sz="1500" dirty="0"/>
                  <a:t>   "</a:t>
                </a:r>
                <a:r>
                  <a:rPr lang="ko-KR" altLang="en-US" sz="1500" dirty="0"/>
                  <a:t>내용</a:t>
                </a:r>
                <a:r>
                  <a:rPr lang="en-US" altLang="ko-KR" sz="1500" dirty="0"/>
                  <a:t>":  </a:t>
                </a:r>
              </a:p>
              <a:p>
                <a:r>
                  <a:rPr lang="en-US" altLang="ko-KR" sz="1500" dirty="0"/>
                  <a:t>}</a:t>
                </a:r>
                <a:endParaRPr lang="ko-KR" altLang="en-US" sz="1500" dirty="0"/>
              </a:p>
            </p:txBody>
          </p:sp>
          <p:sp>
            <p:nvSpPr>
              <p:cNvPr id="13" name="사각형: 둥근 모서리 12">
                <a:extLst>
                  <a:ext uri="{FF2B5EF4-FFF2-40B4-BE49-F238E27FC236}">
                    <a16:creationId xmlns:a16="http://schemas.microsoft.com/office/drawing/2014/main" id="{99321035-EA7F-6E2E-5BF6-68DD6F3544BF}"/>
                  </a:ext>
                </a:extLst>
              </p:cNvPr>
              <p:cNvSpPr/>
              <p:nvPr/>
            </p:nvSpPr>
            <p:spPr>
              <a:xfrm>
                <a:off x="3771004" y="1659653"/>
                <a:ext cx="1678324" cy="2220238"/>
              </a:xfrm>
              <a:prstGeom prst="roundRect">
                <a:avLst/>
              </a:prstGeom>
              <a:noFill/>
              <a:ln w="9525" cap="flat" cmpd="sng" algn="ctr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4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pic>
        <p:nvPicPr>
          <p:cNvPr id="3" name="그림 2" descr="폰트, 그래픽, 로고, 그린이(가) 표시된 사진&#10;&#10;자동 생성된 설명">
            <a:extLst>
              <a:ext uri="{FF2B5EF4-FFF2-40B4-BE49-F238E27FC236}">
                <a16:creationId xmlns:a16="http://schemas.microsoft.com/office/drawing/2014/main" id="{34ACC5F5-30FB-D6EA-D295-FF7B8CB6BF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7065" y="3522961"/>
            <a:ext cx="1321165" cy="322306"/>
          </a:xfrm>
          <a:prstGeom prst="rect">
            <a:avLst/>
          </a:prstGeom>
        </p:spPr>
      </p:pic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6AD3FB9B-D9A8-BFD7-4B8B-6AC4F4838069}"/>
              </a:ext>
            </a:extLst>
          </p:cNvPr>
          <p:cNvCxnSpPr>
            <a:cxnSpLocks/>
          </p:cNvCxnSpPr>
          <p:nvPr/>
        </p:nvCxnSpPr>
        <p:spPr>
          <a:xfrm>
            <a:off x="2923749" y="3982734"/>
            <a:ext cx="153395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A1162480-5339-80E9-7224-FFF382927168}"/>
              </a:ext>
            </a:extLst>
          </p:cNvPr>
          <p:cNvCxnSpPr>
            <a:cxnSpLocks/>
          </p:cNvCxnSpPr>
          <p:nvPr/>
        </p:nvCxnSpPr>
        <p:spPr>
          <a:xfrm>
            <a:off x="5926121" y="3938961"/>
            <a:ext cx="5181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C6F3F1DA-748A-1167-C273-614611F8E3AD}"/>
              </a:ext>
            </a:extLst>
          </p:cNvPr>
          <p:cNvCxnSpPr>
            <a:cxnSpLocks/>
          </p:cNvCxnSpPr>
          <p:nvPr/>
        </p:nvCxnSpPr>
        <p:spPr>
          <a:xfrm flipV="1">
            <a:off x="7751595" y="3936384"/>
            <a:ext cx="1506705" cy="11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126" name="Picture 6" descr="OpenAI APIs with Python — Complete Guide | by Marc Bolle | Medium">
            <a:extLst>
              <a:ext uri="{FF2B5EF4-FFF2-40B4-BE49-F238E27FC236}">
                <a16:creationId xmlns:a16="http://schemas.microsoft.com/office/drawing/2014/main" id="{3423DA0A-5AE4-D965-F895-12BF68F349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9621" y="3304410"/>
            <a:ext cx="1185769" cy="510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47421494-ADA5-CF9D-BC66-31C090AB2CB5}"/>
              </a:ext>
            </a:extLst>
          </p:cNvPr>
          <p:cNvSpPr txBox="1"/>
          <p:nvPr/>
        </p:nvSpPr>
        <p:spPr>
          <a:xfrm>
            <a:off x="7751595" y="2939754"/>
            <a:ext cx="155707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/>
              <a:t>데이터 </a:t>
            </a:r>
            <a:r>
              <a:rPr lang="ko-KR" altLang="en-US" sz="1500" dirty="0" err="1"/>
              <a:t>임베딩</a:t>
            </a:r>
            <a:endParaRPr lang="ko-KR" altLang="en-US" sz="1500" dirty="0"/>
          </a:p>
        </p:txBody>
      </p:sp>
      <p:sp>
        <p:nvSpPr>
          <p:cNvPr id="31" name="원통형 30">
            <a:extLst>
              <a:ext uri="{FF2B5EF4-FFF2-40B4-BE49-F238E27FC236}">
                <a16:creationId xmlns:a16="http://schemas.microsoft.com/office/drawing/2014/main" id="{7791B003-36C8-FC7B-2C4E-6877AF827CDF}"/>
              </a:ext>
            </a:extLst>
          </p:cNvPr>
          <p:cNvSpPr/>
          <p:nvPr/>
        </p:nvSpPr>
        <p:spPr>
          <a:xfrm>
            <a:off x="9308670" y="3134614"/>
            <a:ext cx="1443628" cy="1432204"/>
          </a:xfrm>
          <a:prstGeom prst="can">
            <a:avLst/>
          </a:prstGeom>
          <a:solidFill>
            <a:schemeClr val="bg1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2" name="Picture 6" descr="파인콘 : 사용자 후기, 주요 기능, 가격">
            <a:extLst>
              <a:ext uri="{FF2B5EF4-FFF2-40B4-BE49-F238E27FC236}">
                <a16:creationId xmlns:a16="http://schemas.microsoft.com/office/drawing/2014/main" id="{6480273C-25D2-52FA-FCCB-5B2FAE4BCA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2001" y="3788750"/>
            <a:ext cx="1296966" cy="326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963D4FCC-5735-9BED-B7D0-C8B8B2B4DA31}"/>
              </a:ext>
            </a:extLst>
          </p:cNvPr>
          <p:cNvSpPr txBox="1"/>
          <p:nvPr/>
        </p:nvSpPr>
        <p:spPr>
          <a:xfrm>
            <a:off x="3167421" y="3240418"/>
            <a:ext cx="132116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/>
              <a:t>웹 </a:t>
            </a:r>
            <a:r>
              <a:rPr lang="ko-KR" altLang="en-US" sz="1500" dirty="0" err="1"/>
              <a:t>크롤링</a:t>
            </a:r>
            <a:endParaRPr lang="ko-KR" altLang="en-US" sz="1500" dirty="0"/>
          </a:p>
        </p:txBody>
      </p:sp>
      <p:pic>
        <p:nvPicPr>
          <p:cNvPr id="41" name="Picture 12" descr="오라클, AWS 환경에서 MySQL 히트웨이브 상용화 &lt; 솔루션가이드 &lt; IT·산업 &lt; 뉴스 &lt; 기사본문 - 지티티코리아">
            <a:extLst>
              <a:ext uri="{FF2B5EF4-FFF2-40B4-BE49-F238E27FC236}">
                <a16:creationId xmlns:a16="http://schemas.microsoft.com/office/drawing/2014/main" id="{F7D44255-F5AA-52CF-0189-7D28303362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1920" y="3591356"/>
            <a:ext cx="1244860" cy="889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24511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CD1086-6605-6F5C-512E-ACB474931C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096" y="245880"/>
            <a:ext cx="4771554" cy="928687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시스템 구성도</a:t>
            </a:r>
          </a:p>
        </p:txBody>
      </p:sp>
      <p:pic>
        <p:nvPicPr>
          <p:cNvPr id="1151" name="Picture 20" descr="사람 아이콘 일러스트 | PNG 아이콘 | Pngtree에 무료 다운로드">
            <a:extLst>
              <a:ext uri="{FF2B5EF4-FFF2-40B4-BE49-F238E27FC236}">
                <a16:creationId xmlns:a16="http://schemas.microsoft.com/office/drawing/2014/main" id="{CB107117-B500-20CB-3CEA-FBD08912C9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212" y="3348046"/>
            <a:ext cx="944829" cy="944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54" name="직선 화살표 연결선 1153">
            <a:extLst>
              <a:ext uri="{FF2B5EF4-FFF2-40B4-BE49-F238E27FC236}">
                <a16:creationId xmlns:a16="http://schemas.microsoft.com/office/drawing/2014/main" id="{23120624-D49F-DDA6-B5FA-DEA9A867D180}"/>
              </a:ext>
            </a:extLst>
          </p:cNvPr>
          <p:cNvCxnSpPr>
            <a:cxnSpLocks/>
          </p:cNvCxnSpPr>
          <p:nvPr/>
        </p:nvCxnSpPr>
        <p:spPr>
          <a:xfrm>
            <a:off x="1405639" y="3760484"/>
            <a:ext cx="14284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57" name="TextBox 1156">
            <a:extLst>
              <a:ext uri="{FF2B5EF4-FFF2-40B4-BE49-F238E27FC236}">
                <a16:creationId xmlns:a16="http://schemas.microsoft.com/office/drawing/2014/main" id="{22AA091F-7B18-C986-C229-64F83F5F70DE}"/>
              </a:ext>
            </a:extLst>
          </p:cNvPr>
          <p:cNvSpPr txBox="1"/>
          <p:nvPr/>
        </p:nvSpPr>
        <p:spPr>
          <a:xfrm>
            <a:off x="1491201" y="3391906"/>
            <a:ext cx="125730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/>
              <a:t>자연어 질문</a:t>
            </a:r>
          </a:p>
        </p:txBody>
      </p:sp>
      <p:pic>
        <p:nvPicPr>
          <p:cNvPr id="1162" name="Picture 10" descr="A Warm Embrace: Exploring Hugging Face | by Zachary Raicik | Medium">
            <a:extLst>
              <a:ext uri="{FF2B5EF4-FFF2-40B4-BE49-F238E27FC236}">
                <a16:creationId xmlns:a16="http://schemas.microsoft.com/office/drawing/2014/main" id="{EC2E0C73-D300-E110-B520-3443E2EFC6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4452" y="3188689"/>
            <a:ext cx="1469867" cy="978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63" name="TextBox 1162">
            <a:extLst>
              <a:ext uri="{FF2B5EF4-FFF2-40B4-BE49-F238E27FC236}">
                <a16:creationId xmlns:a16="http://schemas.microsoft.com/office/drawing/2014/main" id="{6308A445-2CE4-9322-F6F5-1426C60FBDF1}"/>
              </a:ext>
            </a:extLst>
          </p:cNvPr>
          <p:cNvSpPr txBox="1"/>
          <p:nvPr/>
        </p:nvSpPr>
        <p:spPr>
          <a:xfrm>
            <a:off x="2069206" y="4111576"/>
            <a:ext cx="28773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BERT </a:t>
            </a:r>
            <a:r>
              <a:rPr lang="en-US" altLang="ko-KR" sz="1500" dirty="0"/>
              <a:t>NLP</a:t>
            </a:r>
            <a:r>
              <a:rPr lang="ko-KR" altLang="en-US" sz="1500" dirty="0"/>
              <a:t>를 통한 자연어 처리</a:t>
            </a:r>
          </a:p>
        </p:txBody>
      </p:sp>
      <p:grpSp>
        <p:nvGrpSpPr>
          <p:cNvPr id="1180" name="그룹 1179">
            <a:extLst>
              <a:ext uri="{FF2B5EF4-FFF2-40B4-BE49-F238E27FC236}">
                <a16:creationId xmlns:a16="http://schemas.microsoft.com/office/drawing/2014/main" id="{B91BFA57-4C78-943D-FC9C-A05365DE597B}"/>
              </a:ext>
            </a:extLst>
          </p:cNvPr>
          <p:cNvGrpSpPr/>
          <p:nvPr/>
        </p:nvGrpSpPr>
        <p:grpSpPr>
          <a:xfrm>
            <a:off x="8829846" y="2463840"/>
            <a:ext cx="1443628" cy="1432204"/>
            <a:chOff x="6513873" y="1760429"/>
            <a:chExt cx="1443628" cy="1432204"/>
          </a:xfrm>
        </p:grpSpPr>
        <p:sp>
          <p:nvSpPr>
            <p:cNvPr id="1165" name="원통형 1164">
              <a:extLst>
                <a:ext uri="{FF2B5EF4-FFF2-40B4-BE49-F238E27FC236}">
                  <a16:creationId xmlns:a16="http://schemas.microsoft.com/office/drawing/2014/main" id="{89812004-FA00-8793-9CF4-B5D5F99B3FCE}"/>
                </a:ext>
              </a:extLst>
            </p:cNvPr>
            <p:cNvSpPr/>
            <p:nvPr/>
          </p:nvSpPr>
          <p:spPr>
            <a:xfrm>
              <a:off x="6513873" y="1760429"/>
              <a:ext cx="1443628" cy="1432204"/>
            </a:xfrm>
            <a:prstGeom prst="can">
              <a:avLst/>
            </a:prstGeom>
            <a:solidFill>
              <a:schemeClr val="bg1"/>
            </a:solidFill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1166" name="Picture 6" descr="파인콘 : 사용자 후기, 주요 기능, 가격">
              <a:extLst>
                <a:ext uri="{FF2B5EF4-FFF2-40B4-BE49-F238E27FC236}">
                  <a16:creationId xmlns:a16="http://schemas.microsoft.com/office/drawing/2014/main" id="{731CBB98-6CA4-E7CC-2AB5-94E8C6CEBC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87204" y="2414565"/>
              <a:ext cx="1296966" cy="3260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71" name="그룹 1170">
            <a:extLst>
              <a:ext uri="{FF2B5EF4-FFF2-40B4-BE49-F238E27FC236}">
                <a16:creationId xmlns:a16="http://schemas.microsoft.com/office/drawing/2014/main" id="{C46A7802-A378-071C-3AE0-FD7C9E8E517F}"/>
              </a:ext>
            </a:extLst>
          </p:cNvPr>
          <p:cNvGrpSpPr/>
          <p:nvPr/>
        </p:nvGrpSpPr>
        <p:grpSpPr>
          <a:xfrm>
            <a:off x="8329190" y="3991276"/>
            <a:ext cx="2444941" cy="751547"/>
            <a:chOff x="5289550" y="3626039"/>
            <a:chExt cx="2438400" cy="751547"/>
          </a:xfrm>
        </p:grpSpPr>
        <p:sp>
          <p:nvSpPr>
            <p:cNvPr id="1169" name="TextBox 1168">
              <a:extLst>
                <a:ext uri="{FF2B5EF4-FFF2-40B4-BE49-F238E27FC236}">
                  <a16:creationId xmlns:a16="http://schemas.microsoft.com/office/drawing/2014/main" id="{C009EF17-6493-824A-E886-7B6E9F0EC1B1}"/>
                </a:ext>
              </a:extLst>
            </p:cNvPr>
            <p:cNvSpPr txBox="1"/>
            <p:nvPr/>
          </p:nvSpPr>
          <p:spPr>
            <a:xfrm>
              <a:off x="5334148" y="3678646"/>
              <a:ext cx="234920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800" b="0" dirty="0" err="1">
                  <a:solidFill>
                    <a:srgbClr val="3B3B3B"/>
                  </a:solidFill>
                  <a:effectLst/>
                  <a:latin typeface="Consolas" panose="020B0609020204030204" pitchFamily="49" charset="0"/>
                </a:rPr>
                <a:t>FinanceDataReader</a:t>
              </a:r>
              <a:endParaRPr lang="en-US" altLang="ko-KR" sz="1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endParaRPr>
            </a:p>
            <a:p>
              <a:pPr algn="ctr"/>
              <a:r>
                <a:rPr lang="ko-KR" altLang="en-US" dirty="0"/>
                <a:t>라이브러리</a:t>
              </a:r>
            </a:p>
          </p:txBody>
        </p:sp>
        <p:sp>
          <p:nvSpPr>
            <p:cNvPr id="1170" name="순서도: 대체 처리 1169">
              <a:extLst>
                <a:ext uri="{FF2B5EF4-FFF2-40B4-BE49-F238E27FC236}">
                  <a16:creationId xmlns:a16="http://schemas.microsoft.com/office/drawing/2014/main" id="{7FBCB22D-A221-B11E-F921-5ACF9C1765C0}"/>
                </a:ext>
              </a:extLst>
            </p:cNvPr>
            <p:cNvSpPr/>
            <p:nvPr/>
          </p:nvSpPr>
          <p:spPr>
            <a:xfrm>
              <a:off x="5289550" y="3626039"/>
              <a:ext cx="2438400" cy="751547"/>
            </a:xfrm>
            <a:prstGeom prst="flowChartAlternateProcess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183" name="Picture 22" descr="GPT-4 Turbo: OpenAI's most powerful large language model | SuperAnnotate">
            <a:extLst>
              <a:ext uri="{FF2B5EF4-FFF2-40B4-BE49-F238E27FC236}">
                <a16:creationId xmlns:a16="http://schemas.microsoft.com/office/drawing/2014/main" id="{1F007089-0481-2821-9F3B-A306F1065B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81" t="13585" r="22536" b="24645"/>
          <a:stretch/>
        </p:blipFill>
        <p:spPr bwMode="auto">
          <a:xfrm>
            <a:off x="4946650" y="4989291"/>
            <a:ext cx="1503576" cy="1041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84" name="TextBox 1183">
            <a:extLst>
              <a:ext uri="{FF2B5EF4-FFF2-40B4-BE49-F238E27FC236}">
                <a16:creationId xmlns:a16="http://schemas.microsoft.com/office/drawing/2014/main" id="{EDE71160-D648-6A6B-22C4-37BB2A2FA1D3}"/>
              </a:ext>
            </a:extLst>
          </p:cNvPr>
          <p:cNvSpPr txBox="1"/>
          <p:nvPr/>
        </p:nvSpPr>
        <p:spPr>
          <a:xfrm>
            <a:off x="488388" y="4332952"/>
            <a:ext cx="80047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/>
              <a:t>사용자</a:t>
            </a:r>
            <a:endParaRPr lang="ko-KR" altLang="en-US" sz="1500" dirty="0"/>
          </a:p>
        </p:txBody>
      </p:sp>
      <p:cxnSp>
        <p:nvCxnSpPr>
          <p:cNvPr id="1186" name="직선 화살표 연결선 1185">
            <a:extLst>
              <a:ext uri="{FF2B5EF4-FFF2-40B4-BE49-F238E27FC236}">
                <a16:creationId xmlns:a16="http://schemas.microsoft.com/office/drawing/2014/main" id="{0F271CFD-8278-8909-DB52-1D9A18DCAF28}"/>
              </a:ext>
            </a:extLst>
          </p:cNvPr>
          <p:cNvCxnSpPr>
            <a:cxnSpLocks/>
          </p:cNvCxnSpPr>
          <p:nvPr/>
        </p:nvCxnSpPr>
        <p:spPr>
          <a:xfrm>
            <a:off x="3994440" y="3678058"/>
            <a:ext cx="62201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193" name="Picture 4" descr="LlamaIndex: AI 애플리케이션을 위한 데이터 통합 솔루">
            <a:extLst>
              <a:ext uri="{FF2B5EF4-FFF2-40B4-BE49-F238E27FC236}">
                <a16:creationId xmlns:a16="http://schemas.microsoft.com/office/drawing/2014/main" id="{D57EB71B-6E29-9050-6808-D48D844A6B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4120" y="3190097"/>
            <a:ext cx="2024636" cy="825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67" name="TextBox 1166">
            <a:extLst>
              <a:ext uri="{FF2B5EF4-FFF2-40B4-BE49-F238E27FC236}">
                <a16:creationId xmlns:a16="http://schemas.microsoft.com/office/drawing/2014/main" id="{9DB6D1C0-4E82-838A-BA16-C16DF68CEA31}"/>
              </a:ext>
            </a:extLst>
          </p:cNvPr>
          <p:cNvSpPr txBox="1"/>
          <p:nvPr/>
        </p:nvSpPr>
        <p:spPr>
          <a:xfrm>
            <a:off x="6923089" y="3108453"/>
            <a:ext cx="190675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dirty="0"/>
              <a:t>질문과 연관된</a:t>
            </a:r>
            <a:endParaRPr lang="en-US" altLang="ko-KR" sz="1500" dirty="0"/>
          </a:p>
          <a:p>
            <a:pPr algn="ctr"/>
            <a:r>
              <a:rPr lang="ko-KR" altLang="en-US" sz="1500" dirty="0"/>
              <a:t>자료 요청 </a:t>
            </a:r>
            <a:r>
              <a:rPr lang="en-US" altLang="ko-KR" sz="1500" dirty="0"/>
              <a:t>&amp; </a:t>
            </a:r>
            <a:r>
              <a:rPr lang="ko-KR" altLang="en-US" sz="1500" dirty="0"/>
              <a:t>제공</a:t>
            </a:r>
          </a:p>
        </p:txBody>
      </p:sp>
      <p:cxnSp>
        <p:nvCxnSpPr>
          <p:cNvPr id="1206" name="직선 화살표 연결선 1205">
            <a:extLst>
              <a:ext uri="{FF2B5EF4-FFF2-40B4-BE49-F238E27FC236}">
                <a16:creationId xmlns:a16="http://schemas.microsoft.com/office/drawing/2014/main" id="{4187E106-DC20-6CA7-4919-FC8D673A7BE5}"/>
              </a:ext>
            </a:extLst>
          </p:cNvPr>
          <p:cNvCxnSpPr/>
          <p:nvPr/>
        </p:nvCxnSpPr>
        <p:spPr>
          <a:xfrm>
            <a:off x="7212258" y="3692166"/>
            <a:ext cx="14097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09" name="직선 화살표 연결선 1208">
            <a:extLst>
              <a:ext uri="{FF2B5EF4-FFF2-40B4-BE49-F238E27FC236}">
                <a16:creationId xmlns:a16="http://schemas.microsoft.com/office/drawing/2014/main" id="{57D0153A-A1B3-1682-8BE7-67D5D08708DA}"/>
              </a:ext>
            </a:extLst>
          </p:cNvPr>
          <p:cNvCxnSpPr>
            <a:cxnSpLocks/>
          </p:cNvCxnSpPr>
          <p:nvPr/>
        </p:nvCxnSpPr>
        <p:spPr>
          <a:xfrm>
            <a:off x="6030462" y="4015157"/>
            <a:ext cx="0" cy="8287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11" name="TextBox 1210">
            <a:extLst>
              <a:ext uri="{FF2B5EF4-FFF2-40B4-BE49-F238E27FC236}">
                <a16:creationId xmlns:a16="http://schemas.microsoft.com/office/drawing/2014/main" id="{50C078F2-E3E9-252F-754B-F3A6BBDCD404}"/>
              </a:ext>
            </a:extLst>
          </p:cNvPr>
          <p:cNvSpPr txBox="1"/>
          <p:nvPr/>
        </p:nvSpPr>
        <p:spPr>
          <a:xfrm>
            <a:off x="6102640" y="4116099"/>
            <a:ext cx="15985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/>
              <a:t>사용자의 질문</a:t>
            </a:r>
            <a:endParaRPr lang="en-US" altLang="ko-KR" sz="1500" dirty="0"/>
          </a:p>
          <a:p>
            <a:r>
              <a:rPr lang="en-US" altLang="ko-KR" sz="1500" dirty="0"/>
              <a:t>+</a:t>
            </a:r>
            <a:r>
              <a:rPr lang="ko-KR" altLang="en-US" sz="1500" dirty="0"/>
              <a:t>관련 자료 제공</a:t>
            </a:r>
          </a:p>
        </p:txBody>
      </p:sp>
      <p:cxnSp>
        <p:nvCxnSpPr>
          <p:cNvPr id="1212" name="직선 화살표 연결선 1211">
            <a:extLst>
              <a:ext uri="{FF2B5EF4-FFF2-40B4-BE49-F238E27FC236}">
                <a16:creationId xmlns:a16="http://schemas.microsoft.com/office/drawing/2014/main" id="{5834EAD5-C841-CF70-0BBC-4FAF8E896827}"/>
              </a:ext>
            </a:extLst>
          </p:cNvPr>
          <p:cNvCxnSpPr>
            <a:cxnSpLocks/>
          </p:cNvCxnSpPr>
          <p:nvPr/>
        </p:nvCxnSpPr>
        <p:spPr>
          <a:xfrm flipH="1" flipV="1">
            <a:off x="1242201" y="4661323"/>
            <a:ext cx="3585609" cy="8538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16" name="TextBox 1215">
            <a:extLst>
              <a:ext uri="{FF2B5EF4-FFF2-40B4-BE49-F238E27FC236}">
                <a16:creationId xmlns:a16="http://schemas.microsoft.com/office/drawing/2014/main" id="{1FA66BE6-85D9-0DDA-BB94-0F1BD85EF025}"/>
              </a:ext>
            </a:extLst>
          </p:cNvPr>
          <p:cNvSpPr txBox="1"/>
          <p:nvPr/>
        </p:nvSpPr>
        <p:spPr>
          <a:xfrm>
            <a:off x="2458065" y="5283162"/>
            <a:ext cx="71277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/>
              <a:t>답변</a:t>
            </a:r>
          </a:p>
        </p:txBody>
      </p:sp>
    </p:spTree>
    <p:extLst>
      <p:ext uri="{BB962C8B-B14F-4D97-AF65-F5344CB8AC3E}">
        <p14:creationId xmlns:p14="http://schemas.microsoft.com/office/powerpoint/2010/main" val="2207739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73C95B71A255134FBCB19D8C7AD09262" ma:contentTypeVersion="5" ma:contentTypeDescription="새 문서를 만듭니다." ma:contentTypeScope="" ma:versionID="59a51cef544f4c04ac2f0d9cce06fec7">
  <xsd:schema xmlns:xsd="http://www.w3.org/2001/XMLSchema" xmlns:xs="http://www.w3.org/2001/XMLSchema" xmlns:p="http://schemas.microsoft.com/office/2006/metadata/properties" xmlns:ns3="c6c38752-79b7-4e2d-96fb-e6bb76eed862" targetNamespace="http://schemas.microsoft.com/office/2006/metadata/properties" ma:root="true" ma:fieldsID="5539c4b01cf0b9aa9c73a2c925e8c12a" ns3:_="">
    <xsd:import namespace="c6c38752-79b7-4e2d-96fb-e6bb76eed86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c38752-79b7-4e2d-96fb-e6bb76eed86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2EB9D00-D0AB-45E4-B0D9-327055E500A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00657AA-2E41-4AA9-B977-03F0FA4F10B6}">
  <ds:schemaRefs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c6c38752-79b7-4e2d-96fb-e6bb76eed862"/>
    <ds:schemaRef ds:uri="http://purl.org/dc/terms/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FCDABDA-2828-45B7-B359-A276555234A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6c38752-79b7-4e2d-96fb-e6bb76eed86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2420</TotalTime>
  <Words>396</Words>
  <Application>Microsoft Office PowerPoint</Application>
  <PresentationFormat>와이드스크린</PresentationFormat>
  <Paragraphs>99</Paragraphs>
  <Slides>12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Arial</vt:lpstr>
      <vt:lpstr>Consolas</vt:lpstr>
      <vt:lpstr>Office 테마</vt:lpstr>
      <vt:lpstr>컴파일의 정상화</vt:lpstr>
      <vt:lpstr>기존 GPT의 한계</vt:lpstr>
      <vt:lpstr>기존 GPT의 한계</vt:lpstr>
      <vt:lpstr>밴치마크 모델</vt:lpstr>
      <vt:lpstr>밴치마크 모델의 한계</vt:lpstr>
      <vt:lpstr>프로젝트 목표</vt:lpstr>
      <vt:lpstr>PowerPoint 프레젠테이션</vt:lpstr>
      <vt:lpstr>사용 언어/프레임워크/DB</vt:lpstr>
      <vt:lpstr>데이터 출처</vt:lpstr>
      <vt:lpstr>서버 구성도</vt:lpstr>
      <vt:lpstr>시스템 구성도 </vt:lpstr>
      <vt:lpstr>시스템 구성도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정찬우</dc:creator>
  <cp:lastModifiedBy>정찬우</cp:lastModifiedBy>
  <cp:revision>4</cp:revision>
  <dcterms:created xsi:type="dcterms:W3CDTF">2024-09-27T12:18:17Z</dcterms:created>
  <dcterms:modified xsi:type="dcterms:W3CDTF">2024-10-01T13:33:19Z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0x01010073C95B71A255134FBCB19D8C7AD09262</vt:lpwstr>
  </property>
</Properties>
</file>