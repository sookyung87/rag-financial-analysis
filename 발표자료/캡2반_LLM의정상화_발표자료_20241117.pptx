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2" r:id="rId3"/>
    <p:sldId id="261" r:id="rId4"/>
    <p:sldId id="257" r:id="rId5"/>
    <p:sldId id="264" r:id="rId6"/>
    <p:sldId id="270" r:id="rId7"/>
    <p:sldId id="267" r:id="rId8"/>
    <p:sldId id="260" r:id="rId9"/>
    <p:sldId id="268" r:id="rId10"/>
    <p:sldId id="269" r:id="rId11"/>
    <p:sldId id="258" r:id="rId12"/>
    <p:sldId id="265" r:id="rId13"/>
    <p:sldId id="263" r:id="rId14"/>
    <p:sldId id="271" r:id="rId15"/>
    <p:sldId id="266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77AEFE-9E19-4FB0-97BB-C454F66C2F34}" v="2" dt="2024-11-27T01:23:33.4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dirty="0" err="1"/>
              <a:t>진도율</a:t>
            </a:r>
            <a:endParaRPr lang="ko-KR" alt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완료</c:v>
                </c:pt>
              </c:strCache>
            </c:strRef>
          </c:tx>
          <c:spPr>
            <a:solidFill>
              <a:schemeClr val="dk1">
                <a:tint val="885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정보 수집</c:v>
                </c:pt>
                <c:pt idx="1">
                  <c:v>자료 임베딩</c:v>
                </c:pt>
                <c:pt idx="2">
                  <c:v>질문처리 &amp; 답변생성</c:v>
                </c:pt>
                <c:pt idx="3">
                  <c:v>서버 구축</c:v>
                </c:pt>
                <c:pt idx="4">
                  <c:v>API 서비스 개발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59</c:v>
                </c:pt>
                <c:pt idx="1">
                  <c:v>89</c:v>
                </c:pt>
                <c:pt idx="2">
                  <c:v>26.4</c:v>
                </c:pt>
                <c:pt idx="3">
                  <c:v>88</c:v>
                </c:pt>
                <c:pt idx="4">
                  <c:v>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8E-4CDA-B5B6-7B6DE48CCE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미완료</c:v>
                </c:pt>
              </c:strCache>
            </c:strRef>
          </c:tx>
          <c:spPr>
            <a:solidFill>
              <a:schemeClr val="dk1">
                <a:tint val="5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정보 수집</c:v>
                </c:pt>
                <c:pt idx="1">
                  <c:v>자료 임베딩</c:v>
                </c:pt>
                <c:pt idx="2">
                  <c:v>질문처리 &amp; 답변생성</c:v>
                </c:pt>
                <c:pt idx="3">
                  <c:v>서버 구축</c:v>
                </c:pt>
                <c:pt idx="4">
                  <c:v>API 서비스 개발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41</c:v>
                </c:pt>
                <c:pt idx="1">
                  <c:v>11</c:v>
                </c:pt>
                <c:pt idx="2">
                  <c:v>73.599999999999994</c:v>
                </c:pt>
                <c:pt idx="3">
                  <c:v>12</c:v>
                </c:pt>
                <c:pt idx="4">
                  <c:v>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48E-4CDA-B5B6-7B6DE48CCE8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열1</c:v>
                </c:pt>
              </c:strCache>
            </c:strRef>
          </c:tx>
          <c:spPr>
            <a:solidFill>
              <a:schemeClr val="dk1">
                <a:tint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정보 수집</c:v>
                </c:pt>
                <c:pt idx="1">
                  <c:v>자료 임베딩</c:v>
                </c:pt>
                <c:pt idx="2">
                  <c:v>질문처리 &amp; 답변생성</c:v>
                </c:pt>
                <c:pt idx="3">
                  <c:v>서버 구축</c:v>
                </c:pt>
                <c:pt idx="4">
                  <c:v>API 서비스 개발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2-C48E-4CDA-B5B6-7B6DE48CCE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95286415"/>
        <c:axId val="895284975"/>
      </c:barChart>
      <c:catAx>
        <c:axId val="8952864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95284975"/>
        <c:crosses val="autoZero"/>
        <c:auto val="1"/>
        <c:lblAlgn val="ctr"/>
        <c:lblOffset val="100"/>
        <c:noMultiLvlLbl val="0"/>
      </c:catAx>
      <c:valAx>
        <c:axId val="8952849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952864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layout>
        <c:manualLayout>
          <c:xMode val="edge"/>
          <c:yMode val="edge"/>
          <c:x val="0.44201710137795275"/>
          <c:y val="0.93258028219855549"/>
          <c:w val="0.16596567421259842"/>
          <c:h val="5.101346881068720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62A169-2AA8-42AE-A5C9-4F6ABDF5B980}" type="datetimeFigureOut">
              <a:rPr lang="ko-KR" altLang="en-US" smtClean="0"/>
              <a:t>2024-11-27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CBEBD-5420-49A3-A78A-B5ED128AA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9978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연결하여 </a:t>
            </a:r>
            <a:r>
              <a:rPr lang="en-US" altLang="ko-KR" dirty="0" err="1"/>
              <a:t>llm</a:t>
            </a:r>
            <a:r>
              <a:rPr lang="ko-KR" altLang="en-US" dirty="0"/>
              <a:t>이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CBEBD-5420-49A3-A78A-B5ED128AAEC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64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81D3DA-24B1-CD9B-20C4-279E3AB31C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FFD67B8-106B-739A-A4D1-B9F54B0F25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0BB49A-780A-9B95-BB5E-C9127907E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203D1-96C5-44EB-8995-31E45C8F5713}" type="datetimeFigureOut">
              <a:rPr lang="ko-KR" altLang="en-US" smtClean="0"/>
              <a:t>2024-11-27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BD8AFF-8B4E-18D6-11C8-9AC2007E5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3E05E8-E355-D377-2F06-0364B4F3D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4BAF-3ACC-429E-BF4A-EC39F55BA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4532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3F0248-0C7B-4B55-0709-AE99ABE84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EBB4BD-DE00-D98A-59A4-AD544F2FC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263AA6-D29C-A641-D7BB-1925D6ABA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203D1-96C5-44EB-8995-31E45C8F5713}" type="datetimeFigureOut">
              <a:rPr lang="ko-KR" altLang="en-US" smtClean="0"/>
              <a:t>2024-11-27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482314-AFFF-FF2C-6725-FF6E4880E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1670E2-F45C-7CB5-44A0-8F4174484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4BAF-3ACC-429E-BF4A-EC39F55BA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314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4F35FF-C8A2-54DC-D57A-2DBE3E484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0C2B45-7766-202B-5E5B-90271EF037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E6D337-1762-1729-D601-FF5B86868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203D1-96C5-44EB-8995-31E45C8F5713}" type="datetimeFigureOut">
              <a:rPr lang="ko-KR" altLang="en-US" smtClean="0"/>
              <a:t>2024-11-27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A7D2C1-7372-7639-DC3E-BF1007A2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2F0D8A-01EF-04CF-3242-7BF03458B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4BAF-3ACC-429E-BF4A-EC39F55BA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7970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473A24-E222-E7E3-3B0A-E396B5CC8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EB2921-75C4-85E6-6911-8DD85D38C7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37F82D3-46AE-7535-90A0-DB4393CE1A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4E9EC8-1B03-8E0C-E169-24ED4112E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203D1-96C5-44EB-8995-31E45C8F5713}" type="datetimeFigureOut">
              <a:rPr lang="ko-KR" altLang="en-US" smtClean="0"/>
              <a:t>2024-11-27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BAAD3FE-9319-3D00-ECC5-F3EE3E089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274FE2-4074-844D-835F-4A40301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4BAF-3ACC-429E-BF4A-EC39F55BA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3633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3FB5E1-671D-42D8-EE78-E84304C09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1DEBEB-A452-D41B-D8A1-1DD8C2F14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3128A26-ACDC-D7E6-9913-FF8557595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D032470-9B6F-1374-02F5-17F45A5EF6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0427FB5-E91C-6670-6F5B-490F6922E6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A8ACD91-B86E-92F2-3C23-0813FBD29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203D1-96C5-44EB-8995-31E45C8F5713}" type="datetimeFigureOut">
              <a:rPr lang="ko-KR" altLang="en-US" smtClean="0"/>
              <a:t>2024-11-27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52CB8C9-AF9C-AF37-9552-512BE3C9E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47DE48D-FC6F-0C46-777F-D55C70562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4BAF-3ACC-429E-BF4A-EC39F55BA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640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CF1EA5-2699-2802-9033-742C19B2F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F0975D4-2593-5681-01B4-82C447DF9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203D1-96C5-44EB-8995-31E45C8F5713}" type="datetimeFigureOut">
              <a:rPr lang="ko-KR" altLang="en-US" smtClean="0"/>
              <a:t>2024-11-27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0DD8DFB-4D3B-5707-50BF-5F69B631C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0F1330C-0A02-3575-E9E7-06FE1BC49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4BAF-3ACC-429E-BF4A-EC39F55BA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715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6A48429-E582-124A-F645-22930218F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203D1-96C5-44EB-8995-31E45C8F5713}" type="datetimeFigureOut">
              <a:rPr lang="ko-KR" altLang="en-US" smtClean="0"/>
              <a:t>2024-11-27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18F9700-990D-1B6A-60C9-9999B41A7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4457EE-4AEA-600E-DD17-520FFC79E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4BAF-3ACC-429E-BF4A-EC39F55BA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456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3AA12C-5175-D5F5-294E-0F645401D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77E36C-DE1A-F6DD-B10C-0ECA756C1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9184B6-E9B5-380E-ED18-4517997B97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EE35F51-5954-5353-DB91-EBAB01DBD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203D1-96C5-44EB-8995-31E45C8F5713}" type="datetimeFigureOut">
              <a:rPr lang="ko-KR" altLang="en-US" smtClean="0"/>
              <a:t>2024-11-27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242A47B-2EA8-DBC6-EBFD-2771CE728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ABD8DF-EF24-3457-52F4-987F2D5D3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4BAF-3ACC-429E-BF4A-EC39F55BA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13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9ED159-DF1C-4EB3-1521-DDF434C37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27CD853-39BD-126A-8923-9804D93AEC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A867B2E-F106-84D1-8AE6-E876F0A23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EC5A397-BF02-0711-F015-CCD4D058F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203D1-96C5-44EB-8995-31E45C8F5713}" type="datetimeFigureOut">
              <a:rPr lang="ko-KR" altLang="en-US" smtClean="0"/>
              <a:t>2024-11-27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0FE04E-A28F-1FA2-62F1-109106978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0379B13-475F-FF2F-9716-5734F0754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4BAF-3ACC-429E-BF4A-EC39F55BA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4774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68CD82-AD43-A827-66D7-3388AC1D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B5228FF-C694-7DEA-645F-2946D77B95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810FF3-DA8B-3E2D-19FE-806DE8AFE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203D1-96C5-44EB-8995-31E45C8F5713}" type="datetimeFigureOut">
              <a:rPr lang="ko-KR" altLang="en-US" smtClean="0"/>
              <a:t>2024-11-27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423C73-FD96-8E6C-9596-F9BF8770A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CCBCA6-560E-F7AA-F429-67EFCB4F0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4BAF-3ACC-429E-BF4A-EC39F55BA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8653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674334D-F01C-4465-ACB1-6FF7C3BC11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C424F27-25B3-E78D-F65C-FABA09FB48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E7218F-29C0-9342-E6D8-8798BAC3C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203D1-96C5-44EB-8995-31E45C8F5713}" type="datetimeFigureOut">
              <a:rPr lang="ko-KR" altLang="en-US" smtClean="0"/>
              <a:t>2024-11-27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169459-DACD-1F6F-C27B-852056707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8F8A94-947A-29F8-DCA5-31CE0DF18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4BAF-3ACC-429E-BF4A-EC39F55BA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4494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2797258-59C0-A4C3-53D6-80366A766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1D8E5D1-29A6-5EAB-032B-D666E16A1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0C9DEB-FD87-3186-3077-F44979C52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2203D1-96C5-44EB-8995-31E45C8F5713}" type="datetimeFigureOut">
              <a:rPr lang="ko-KR" altLang="en-US" smtClean="0"/>
              <a:t>2024-11-27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91F323-7FD6-97C2-11E0-A8BD2EB81C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9BA320-B805-A340-23D2-3863613F2F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5C4BAF-3ACC-429E-BF4A-EC39F55BA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870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KNXDS9mBUi4kyI2kO7SuPK2vKGNewvcYe1UZ2p10uBs/edit?gid=1291090851#gid=1291090851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8B5586-1D5A-A2D5-6061-35102EB6B0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LLM</a:t>
            </a:r>
            <a:r>
              <a:rPr lang="ko-KR" altLang="en-US" dirty="0"/>
              <a:t>의 정상화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44B8892-1524-184D-B24B-D257AF7CB8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정찬우</a:t>
            </a:r>
            <a:r>
              <a:rPr lang="en-US" altLang="ko-KR" dirty="0"/>
              <a:t>, </a:t>
            </a:r>
            <a:r>
              <a:rPr lang="ko-KR" altLang="en-US" dirty="0"/>
              <a:t>김현우</a:t>
            </a:r>
            <a:r>
              <a:rPr lang="en-US" altLang="ko-KR" dirty="0"/>
              <a:t>, </a:t>
            </a:r>
            <a:r>
              <a:rPr lang="ko-KR" altLang="en-US" dirty="0"/>
              <a:t>이승준</a:t>
            </a:r>
            <a:r>
              <a:rPr lang="en-US" altLang="ko-KR" dirty="0"/>
              <a:t>, </a:t>
            </a:r>
            <a:r>
              <a:rPr lang="ko-KR" altLang="en-US" dirty="0"/>
              <a:t>이수경</a:t>
            </a:r>
          </a:p>
        </p:txBody>
      </p:sp>
    </p:spTree>
    <p:extLst>
      <p:ext uri="{BB962C8B-B14F-4D97-AF65-F5344CB8AC3E}">
        <p14:creationId xmlns:p14="http://schemas.microsoft.com/office/powerpoint/2010/main" val="2284187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ECE1CE-6425-91EF-7566-639B44E844F2}"/>
              </a:ext>
            </a:extLst>
          </p:cNvPr>
          <p:cNvSpPr txBox="1"/>
          <p:nvPr/>
        </p:nvSpPr>
        <p:spPr>
          <a:xfrm>
            <a:off x="679450" y="355600"/>
            <a:ext cx="5187950" cy="3360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목차</a:t>
            </a:r>
            <a:endParaRPr lang="en-US" altLang="ko-KR" sz="1400" dirty="0"/>
          </a:p>
          <a:p>
            <a:pPr>
              <a:lnSpc>
                <a:spcPct val="200000"/>
              </a:lnSpc>
            </a:pPr>
            <a:r>
              <a:rPr lang="en-US" altLang="ko-KR" sz="2400" dirty="0"/>
              <a:t>1. </a:t>
            </a:r>
            <a:r>
              <a:rPr lang="ko-KR" altLang="en-US" sz="2400" dirty="0"/>
              <a:t>파트별 진행사항</a:t>
            </a:r>
            <a:endParaRPr lang="en-US" altLang="ko-KR" sz="2400" dirty="0"/>
          </a:p>
          <a:p>
            <a:pPr>
              <a:lnSpc>
                <a:spcPct val="200000"/>
              </a:lnSpc>
            </a:pPr>
            <a:r>
              <a:rPr lang="en-US" altLang="ko-KR" sz="2400" dirty="0"/>
              <a:t>2. </a:t>
            </a:r>
            <a:r>
              <a:rPr lang="ko-KR" altLang="en-US" sz="2400" dirty="0"/>
              <a:t>오류발생 및 해결방안</a:t>
            </a:r>
            <a:endParaRPr lang="en-US" altLang="ko-KR" sz="2400" dirty="0"/>
          </a:p>
          <a:p>
            <a:pPr>
              <a:lnSpc>
                <a:spcPct val="200000"/>
              </a:lnSpc>
            </a:pPr>
            <a:r>
              <a:rPr lang="en-US" altLang="ko-KR" sz="2400" dirty="0"/>
              <a:t>3. WBS </a:t>
            </a:r>
            <a:r>
              <a:rPr lang="ko-KR" altLang="en-US" sz="2400" dirty="0"/>
              <a:t>업데이트</a:t>
            </a:r>
            <a:endParaRPr lang="en-US" altLang="ko-KR" sz="2400" dirty="0"/>
          </a:p>
          <a:p>
            <a:pPr>
              <a:lnSpc>
                <a:spcPct val="200000"/>
              </a:lnSpc>
            </a:pPr>
            <a:r>
              <a:rPr lang="en-US" altLang="ko-KR" sz="2400" dirty="0"/>
              <a:t>4. </a:t>
            </a:r>
            <a:r>
              <a:rPr lang="ko-KR" altLang="en-US" sz="2400" dirty="0"/>
              <a:t>다음주까지 진행 목표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18219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CAC9D4-2C12-0122-ED79-A23A4363DD2E}"/>
              </a:ext>
            </a:extLst>
          </p:cNvPr>
          <p:cNvSpPr txBox="1"/>
          <p:nvPr/>
        </p:nvSpPr>
        <p:spPr>
          <a:xfrm>
            <a:off x="350921" y="691167"/>
            <a:ext cx="3563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이승준 </a:t>
            </a:r>
            <a:r>
              <a:rPr lang="en-US" altLang="ko-KR" dirty="0"/>
              <a:t>: </a:t>
            </a:r>
            <a:r>
              <a:rPr lang="ko-KR" altLang="en-US" dirty="0" err="1"/>
              <a:t>크롤링</a:t>
            </a:r>
            <a:r>
              <a:rPr lang="ko-KR" altLang="en-US" dirty="0"/>
              <a:t> 자동화 프로그램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CB6D3E-74BD-227D-9752-669F4442D13E}"/>
              </a:ext>
            </a:extLst>
          </p:cNvPr>
          <p:cNvSpPr txBox="1"/>
          <p:nvPr/>
        </p:nvSpPr>
        <p:spPr>
          <a:xfrm>
            <a:off x="350921" y="1722972"/>
            <a:ext cx="1076896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err="1"/>
              <a:t>크롤링</a:t>
            </a:r>
            <a:r>
              <a:rPr lang="ko-KR" altLang="en-US" dirty="0"/>
              <a:t> 방법 변경</a:t>
            </a:r>
            <a:br>
              <a:rPr lang="en-US" altLang="ko-KR" dirty="0"/>
            </a:br>
            <a:r>
              <a:rPr lang="ko-KR" altLang="en-US" dirty="0"/>
              <a:t>기존</a:t>
            </a:r>
            <a:r>
              <a:rPr lang="en-US" altLang="ko-KR" dirty="0"/>
              <a:t>: </a:t>
            </a:r>
            <a:r>
              <a:rPr lang="ko-KR" altLang="en-US" dirty="0"/>
              <a:t>설정한 증권사의 최근 </a:t>
            </a:r>
            <a:r>
              <a:rPr lang="en-US" altLang="ko-KR" dirty="0"/>
              <a:t>10</a:t>
            </a:r>
            <a:r>
              <a:rPr lang="ko-KR" altLang="en-US" dirty="0"/>
              <a:t>개 기업 리서치를 </a:t>
            </a:r>
            <a:r>
              <a:rPr lang="ko-KR" altLang="en-US" dirty="0" err="1"/>
              <a:t>크롤링</a:t>
            </a:r>
            <a:br>
              <a:rPr lang="en-US" altLang="ko-KR" dirty="0"/>
            </a:br>
            <a:r>
              <a:rPr lang="ko-KR" altLang="en-US" dirty="0"/>
              <a:t>변경</a:t>
            </a:r>
            <a:r>
              <a:rPr lang="en-US" altLang="ko-KR" dirty="0"/>
              <a:t>: </a:t>
            </a:r>
            <a:r>
              <a:rPr lang="ko-KR" altLang="en-US" dirty="0"/>
              <a:t>설정한 기업의 최근 </a:t>
            </a:r>
            <a:r>
              <a:rPr lang="en-US" altLang="ko-KR" dirty="0"/>
              <a:t>10</a:t>
            </a:r>
            <a:r>
              <a:rPr lang="ko-KR" altLang="en-US" dirty="0"/>
              <a:t>개 증권사 기업 리서치를 </a:t>
            </a:r>
            <a:r>
              <a:rPr lang="ko-KR" altLang="en-US" dirty="0" err="1"/>
              <a:t>크롤링</a:t>
            </a:r>
            <a:endParaRPr lang="en-US" altLang="ko-KR" dirty="0">
              <a:latin typeface="gg sans"/>
            </a:endParaRPr>
          </a:p>
          <a:p>
            <a:pPr marL="342900" indent="-342900">
              <a:buAutoNum type="arabicPeriod"/>
            </a:pPr>
            <a:endParaRPr lang="en-US" altLang="ko-KR" b="0" i="0" dirty="0">
              <a:solidFill>
                <a:srgbClr val="000000"/>
              </a:solidFill>
              <a:effectLst/>
              <a:latin typeface="gg sans"/>
            </a:endParaRPr>
          </a:p>
          <a:p>
            <a:pPr marL="342900" indent="-342900">
              <a:buAutoNum type="arabicPeriod"/>
            </a:pPr>
            <a:endParaRPr lang="en-US" altLang="ko-KR" dirty="0">
              <a:solidFill>
                <a:srgbClr val="000000"/>
              </a:solidFill>
              <a:latin typeface="gg sans"/>
            </a:endParaRPr>
          </a:p>
          <a:p>
            <a:pPr marL="342900" indent="-342900"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  <a:latin typeface="inherit"/>
              </a:rPr>
              <a:t>DART API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inherit"/>
              </a:rPr>
              <a:t>를 통한 공시를 가져오는 방법을 분석 중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29349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CAC9D4-2C12-0122-ED79-A23A4363DD2E}"/>
              </a:ext>
            </a:extLst>
          </p:cNvPr>
          <p:cNvSpPr txBox="1"/>
          <p:nvPr/>
        </p:nvSpPr>
        <p:spPr>
          <a:xfrm>
            <a:off x="336550" y="584200"/>
            <a:ext cx="8451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이수경 </a:t>
            </a:r>
            <a:r>
              <a:rPr lang="en-US" altLang="ko-KR" dirty="0"/>
              <a:t>: </a:t>
            </a:r>
            <a:r>
              <a:rPr lang="ko-KR" altLang="en-US" dirty="0" err="1"/>
              <a:t>크롤링</a:t>
            </a:r>
            <a:r>
              <a:rPr lang="ko-KR" altLang="en-US" dirty="0"/>
              <a:t> 자료 </a:t>
            </a:r>
            <a:r>
              <a:rPr lang="ko-KR" altLang="en-US" dirty="0" err="1"/>
              <a:t>임베딩</a:t>
            </a:r>
            <a:r>
              <a:rPr lang="ko-KR" altLang="en-US" dirty="0"/>
              <a:t> </a:t>
            </a:r>
            <a:r>
              <a:rPr lang="en-US" altLang="ko-KR" dirty="0"/>
              <a:t>+ </a:t>
            </a:r>
            <a:r>
              <a:rPr lang="ko-KR" altLang="en-US" dirty="0" err="1"/>
              <a:t>파인콘</a:t>
            </a:r>
            <a:r>
              <a:rPr lang="ko-KR" altLang="en-US" dirty="0"/>
              <a:t> 벡터데이터베이스 서버 구축 완료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추가적으로 자연어 처리와 </a:t>
            </a:r>
            <a:r>
              <a:rPr lang="en-US" altLang="ko-KR" dirty="0"/>
              <a:t>open ai API</a:t>
            </a:r>
            <a:r>
              <a:rPr lang="ko-KR" altLang="en-US" dirty="0"/>
              <a:t>를 연결 완료</a:t>
            </a:r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456B90-7694-EDF5-394C-9AFE9141479D}"/>
              </a:ext>
            </a:extLst>
          </p:cNvPr>
          <p:cNvSpPr txBox="1"/>
          <p:nvPr/>
        </p:nvSpPr>
        <p:spPr>
          <a:xfrm>
            <a:off x="397965" y="1293176"/>
            <a:ext cx="10470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카카오뱅크에서 개발한 </a:t>
            </a:r>
            <a:r>
              <a:rPr lang="en-US" altLang="ko-KR" dirty="0" err="1"/>
              <a:t>kakaobank</a:t>
            </a:r>
            <a:r>
              <a:rPr lang="en-US" altLang="ko-KR" dirty="0"/>
              <a:t>/</a:t>
            </a:r>
            <a:r>
              <a:rPr lang="en-US" altLang="ko-KR" dirty="0" err="1"/>
              <a:t>kf</a:t>
            </a:r>
            <a:r>
              <a:rPr lang="en-US" altLang="ko-KR" dirty="0"/>
              <a:t>-</a:t>
            </a:r>
            <a:r>
              <a:rPr lang="en-US" altLang="ko-KR" dirty="0" err="1"/>
              <a:t>deberta</a:t>
            </a:r>
            <a:r>
              <a:rPr lang="en-US" altLang="ko-KR" dirty="0"/>
              <a:t>-base </a:t>
            </a:r>
            <a:r>
              <a:rPr lang="ko-KR" altLang="en-US" dirty="0" err="1"/>
              <a:t>임베딩</a:t>
            </a:r>
            <a:r>
              <a:rPr lang="ko-KR" altLang="en-US" dirty="0"/>
              <a:t> 모델을 사용하여 </a:t>
            </a:r>
            <a:r>
              <a:rPr lang="ko-KR" altLang="en-US" dirty="0" err="1"/>
              <a:t>크롤링</a:t>
            </a:r>
            <a:r>
              <a:rPr lang="ko-KR" altLang="en-US" dirty="0"/>
              <a:t> 데이터 </a:t>
            </a:r>
            <a:r>
              <a:rPr lang="ko-KR" altLang="en-US" dirty="0" err="1"/>
              <a:t>임베딩</a:t>
            </a:r>
            <a:endParaRPr lang="en-US" altLang="ko-K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C189C-730C-A641-2039-606FF92D3410}"/>
              </a:ext>
            </a:extLst>
          </p:cNvPr>
          <p:cNvSpPr txBox="1"/>
          <p:nvPr/>
        </p:nvSpPr>
        <p:spPr>
          <a:xfrm>
            <a:off x="565150" y="2086925"/>
            <a:ext cx="411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자연어 처리 흐름도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6819417-0912-0A39-1C60-9674812562B3}"/>
              </a:ext>
            </a:extLst>
          </p:cNvPr>
          <p:cNvSpPr/>
          <p:nvPr/>
        </p:nvSpPr>
        <p:spPr>
          <a:xfrm>
            <a:off x="641349" y="2692399"/>
            <a:ext cx="3104967" cy="1278021"/>
          </a:xfrm>
          <a:prstGeom prst="rect">
            <a:avLst/>
          </a:prstGeom>
          <a:noFill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텍스트 입력</a:t>
            </a:r>
            <a:endParaRPr lang="en-US" altLang="ko-KR" b="1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예</a:t>
            </a:r>
            <a:r>
              <a:rPr lang="en-US" altLang="ko-KR" dirty="0">
                <a:solidFill>
                  <a:schemeClr val="tx1"/>
                </a:solidFill>
              </a:rPr>
              <a:t>: “DL</a:t>
            </a:r>
            <a:r>
              <a:rPr lang="ko-KR" altLang="en-US" dirty="0">
                <a:solidFill>
                  <a:schemeClr val="tx1"/>
                </a:solidFill>
              </a:rPr>
              <a:t>건설의 영업손실 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원인은 무엇인가요</a:t>
            </a:r>
            <a:r>
              <a:rPr lang="en-US" altLang="ko-KR" dirty="0">
                <a:solidFill>
                  <a:schemeClr val="tx1"/>
                </a:solidFill>
              </a:rPr>
              <a:t>?”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D868CB-609E-0AB9-EFF0-AE58664A137F}"/>
              </a:ext>
            </a:extLst>
          </p:cNvPr>
          <p:cNvSpPr/>
          <p:nvPr/>
        </p:nvSpPr>
        <p:spPr>
          <a:xfrm>
            <a:off x="4174137" y="2692399"/>
            <a:ext cx="3333568" cy="1278021"/>
          </a:xfrm>
          <a:prstGeom prst="rect">
            <a:avLst/>
          </a:prstGeom>
          <a:noFill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형태소 분석 및 </a:t>
            </a:r>
            <a:r>
              <a:rPr lang="ko-KR" altLang="en-US" b="1" dirty="0" err="1">
                <a:solidFill>
                  <a:schemeClr val="tx1"/>
                </a:solidFill>
              </a:rPr>
              <a:t>불용어</a:t>
            </a:r>
            <a:r>
              <a:rPr lang="ko-KR" altLang="en-US" b="1" dirty="0">
                <a:solidFill>
                  <a:schemeClr val="tx1"/>
                </a:solidFill>
              </a:rPr>
              <a:t> 제거</a:t>
            </a:r>
            <a:endParaRPr lang="en-US" altLang="ko-KR" b="1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명사 추출 및 </a:t>
            </a:r>
            <a:r>
              <a:rPr lang="ko-KR" altLang="en-US" dirty="0" err="1">
                <a:solidFill>
                  <a:schemeClr val="tx1"/>
                </a:solidFill>
              </a:rPr>
              <a:t>불용어</a:t>
            </a:r>
            <a:r>
              <a:rPr lang="ko-KR" altLang="en-US" dirty="0">
                <a:solidFill>
                  <a:schemeClr val="tx1"/>
                </a:solidFill>
              </a:rPr>
              <a:t> 제거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결과</a:t>
            </a:r>
            <a:r>
              <a:rPr lang="en-US" altLang="ko-KR" dirty="0">
                <a:solidFill>
                  <a:schemeClr val="tx1"/>
                </a:solidFill>
              </a:rPr>
              <a:t>: “DL</a:t>
            </a:r>
            <a:r>
              <a:rPr lang="ko-KR" altLang="en-US" dirty="0">
                <a:solidFill>
                  <a:schemeClr val="tx1"/>
                </a:solidFill>
              </a:rPr>
              <a:t>건설 영업손실 원인</a:t>
            </a:r>
            <a:r>
              <a:rPr lang="en-US" altLang="ko-KR" dirty="0">
                <a:solidFill>
                  <a:schemeClr val="tx1"/>
                </a:solidFill>
              </a:rPr>
              <a:t>”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941752E-800A-9E0F-EE44-0146A4D161BC}"/>
              </a:ext>
            </a:extLst>
          </p:cNvPr>
          <p:cNvSpPr/>
          <p:nvPr/>
        </p:nvSpPr>
        <p:spPr>
          <a:xfrm>
            <a:off x="7935526" y="2692399"/>
            <a:ext cx="3104967" cy="1278021"/>
          </a:xfrm>
          <a:prstGeom prst="rect">
            <a:avLst/>
          </a:prstGeom>
          <a:noFill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텍스트 토큰화</a:t>
            </a:r>
            <a:endParaRPr lang="en-US" altLang="ko-KR" b="1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Tokenizer </a:t>
            </a:r>
            <a:r>
              <a:rPr lang="ko-KR" altLang="en-US" dirty="0">
                <a:solidFill>
                  <a:schemeClr val="tx1"/>
                </a:solidFill>
              </a:rPr>
              <a:t>활용해 토큰화 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및 패딩 처리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DCFBF84-A349-A11C-E1A5-EDE1514438E7}"/>
              </a:ext>
            </a:extLst>
          </p:cNvPr>
          <p:cNvSpPr/>
          <p:nvPr/>
        </p:nvSpPr>
        <p:spPr>
          <a:xfrm>
            <a:off x="6054831" y="4394837"/>
            <a:ext cx="3333568" cy="1449806"/>
          </a:xfrm>
          <a:prstGeom prst="rect">
            <a:avLst/>
          </a:prstGeom>
          <a:noFill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err="1">
                <a:solidFill>
                  <a:schemeClr val="tx1"/>
                </a:solidFill>
              </a:rPr>
              <a:t>임베딩</a:t>
            </a:r>
            <a:r>
              <a:rPr lang="ko-KR" altLang="en-US" b="1" dirty="0">
                <a:solidFill>
                  <a:schemeClr val="tx1"/>
                </a:solidFill>
              </a:rPr>
              <a:t> 생성</a:t>
            </a:r>
            <a:endParaRPr lang="en-US" altLang="ko-KR" b="1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KF-</a:t>
            </a:r>
            <a:r>
              <a:rPr lang="en-US" altLang="ko-KR" dirty="0" err="1">
                <a:solidFill>
                  <a:schemeClr val="tx1"/>
                </a:solidFill>
              </a:rPr>
              <a:t>DeBERTa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모델의 </a:t>
            </a:r>
            <a:r>
              <a:rPr lang="en-US" altLang="ko-KR" dirty="0" err="1">
                <a:solidFill>
                  <a:schemeClr val="tx1"/>
                </a:solidFill>
              </a:rPr>
              <a:t>last_hidden_state</a:t>
            </a:r>
            <a:r>
              <a:rPr lang="ko-KR" altLang="en-US" dirty="0">
                <a:solidFill>
                  <a:schemeClr val="tx1"/>
                </a:solidFill>
              </a:rPr>
              <a:t>를 평균화해 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임베딩</a:t>
            </a:r>
            <a:r>
              <a:rPr lang="ko-KR" altLang="en-US" dirty="0">
                <a:solidFill>
                  <a:schemeClr val="tx1"/>
                </a:solidFill>
              </a:rPr>
              <a:t> 벡터 생성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8D1BC89-9FE2-89AB-9274-876A5FB9E0BC}"/>
              </a:ext>
            </a:extLst>
          </p:cNvPr>
          <p:cNvSpPr/>
          <p:nvPr/>
        </p:nvSpPr>
        <p:spPr>
          <a:xfrm>
            <a:off x="2293442" y="4394837"/>
            <a:ext cx="3333568" cy="1449806"/>
          </a:xfrm>
          <a:prstGeom prst="rect">
            <a:avLst/>
          </a:prstGeom>
          <a:noFill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err="1">
                <a:solidFill>
                  <a:schemeClr val="tx1"/>
                </a:solidFill>
              </a:rPr>
              <a:t>임베딩</a:t>
            </a:r>
            <a:r>
              <a:rPr lang="ko-KR" altLang="en-US" b="1" dirty="0">
                <a:solidFill>
                  <a:schemeClr val="tx1"/>
                </a:solidFill>
              </a:rPr>
              <a:t> 결과 반환</a:t>
            </a:r>
            <a:endParaRPr lang="en-US" altLang="ko-KR" b="1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최종 벡터 데이터 반환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BB175769-5326-AFFB-3323-35D666EB1E4E}"/>
              </a:ext>
            </a:extLst>
          </p:cNvPr>
          <p:cNvCxnSpPr>
            <a:stCxn id="3" idx="3"/>
            <a:endCxn id="6" idx="1"/>
          </p:cNvCxnSpPr>
          <p:nvPr/>
        </p:nvCxnSpPr>
        <p:spPr>
          <a:xfrm>
            <a:off x="3746316" y="3331410"/>
            <a:ext cx="4278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5A141F90-6DA1-299B-CFF1-809A760BD6D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7507705" y="3331410"/>
            <a:ext cx="4278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01B1A76A-35DC-BB4A-1069-80AE3D753E85}"/>
              </a:ext>
            </a:extLst>
          </p:cNvPr>
          <p:cNvCxnSpPr>
            <a:stCxn id="7" idx="3"/>
            <a:endCxn id="10" idx="3"/>
          </p:cNvCxnSpPr>
          <p:nvPr/>
        </p:nvCxnSpPr>
        <p:spPr>
          <a:xfrm flipH="1">
            <a:off x="9388399" y="3331410"/>
            <a:ext cx="1652094" cy="1788330"/>
          </a:xfrm>
          <a:prstGeom prst="bentConnector3">
            <a:avLst>
              <a:gd name="adj1" fmla="val -13837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64A67FC3-8C4A-2D0F-6848-CB84E89298AC}"/>
              </a:ext>
            </a:extLst>
          </p:cNvPr>
          <p:cNvCxnSpPr>
            <a:stCxn id="10" idx="1"/>
            <a:endCxn id="12" idx="3"/>
          </p:cNvCxnSpPr>
          <p:nvPr/>
        </p:nvCxnSpPr>
        <p:spPr>
          <a:xfrm flipH="1">
            <a:off x="5627010" y="5119740"/>
            <a:ext cx="4278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2821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AB6F9659-DC81-1BE3-A760-8C0E42515955}"/>
              </a:ext>
            </a:extLst>
          </p:cNvPr>
          <p:cNvGrpSpPr/>
          <p:nvPr/>
        </p:nvGrpSpPr>
        <p:grpSpPr>
          <a:xfrm>
            <a:off x="0" y="1553232"/>
            <a:ext cx="12192000" cy="1218661"/>
            <a:chOff x="0" y="3235982"/>
            <a:chExt cx="12192000" cy="1218661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FD925C0E-32CE-7E8F-95EB-527AA0176E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235982"/>
              <a:ext cx="12192000" cy="1218661"/>
            </a:xfrm>
            <a:prstGeom prst="rect">
              <a:avLst/>
            </a:prstGeom>
          </p:spPr>
        </p:pic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1B1C956D-858C-495C-31FB-213D729D483D}"/>
                </a:ext>
              </a:extLst>
            </p:cNvPr>
            <p:cNvCxnSpPr>
              <a:cxnSpLocks/>
            </p:cNvCxnSpPr>
            <p:nvPr/>
          </p:nvCxnSpPr>
          <p:spPr>
            <a:xfrm>
              <a:off x="7823200" y="3552943"/>
              <a:ext cx="421005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64D19124-72DA-CDB4-BBFF-01F07DE2C6E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705343"/>
              <a:ext cx="305435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75DA7AA4-BA99-2F5B-2F0D-1DB5DE5F3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03428"/>
            <a:ext cx="7506748" cy="78115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8708AE51-DC73-C078-FECB-3509BD4C9555}"/>
              </a:ext>
            </a:extLst>
          </p:cNvPr>
          <p:cNvSpPr/>
          <p:nvPr/>
        </p:nvSpPr>
        <p:spPr>
          <a:xfrm>
            <a:off x="0" y="2197100"/>
            <a:ext cx="4171950" cy="57478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F0638905-98EB-ADE0-9D4B-D082BA7EC7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33" y="3429000"/>
            <a:ext cx="7746228" cy="3003513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D4D470B6-6F4A-686F-FA21-B0E599F43C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6283" y="3071921"/>
            <a:ext cx="4446967" cy="3769408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89DA49F0-BC4C-CC29-2D68-6C02658860A9}"/>
              </a:ext>
            </a:extLst>
          </p:cNvPr>
          <p:cNvSpPr/>
          <p:nvPr/>
        </p:nvSpPr>
        <p:spPr>
          <a:xfrm>
            <a:off x="7717891" y="4631266"/>
            <a:ext cx="1502309" cy="2376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AF8563E-9F47-FF64-C0F0-6D1B68870929}"/>
              </a:ext>
            </a:extLst>
          </p:cNvPr>
          <p:cNvSpPr/>
          <p:nvPr/>
        </p:nvSpPr>
        <p:spPr>
          <a:xfrm>
            <a:off x="7760426" y="6070599"/>
            <a:ext cx="1290441" cy="2201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582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CAC9D4-2C12-0122-ED79-A23A4363DD2E}"/>
              </a:ext>
            </a:extLst>
          </p:cNvPr>
          <p:cNvSpPr txBox="1"/>
          <p:nvPr/>
        </p:nvSpPr>
        <p:spPr>
          <a:xfrm>
            <a:off x="336550" y="584200"/>
            <a:ext cx="6280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김현우 </a:t>
            </a:r>
            <a:r>
              <a:rPr lang="en-US" altLang="ko-KR" dirty="0"/>
              <a:t>: </a:t>
            </a:r>
            <a:r>
              <a:rPr lang="ko-KR" altLang="en-US" dirty="0"/>
              <a:t>질문을 코사인 유사도 분석을 통해 관련 자료 출력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B80399-6E24-1E34-7267-3F099FB478FB}"/>
              </a:ext>
            </a:extLst>
          </p:cNvPr>
          <p:cNvSpPr txBox="1"/>
          <p:nvPr/>
        </p:nvSpPr>
        <p:spPr>
          <a:xfrm>
            <a:off x="458078" y="5123007"/>
            <a:ext cx="112758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자연어 질문에 맞는 데이터를 출력해주지만</a:t>
            </a:r>
            <a:r>
              <a:rPr lang="en-US" altLang="ko-KR" dirty="0"/>
              <a:t>, </a:t>
            </a:r>
            <a:r>
              <a:rPr lang="ko-KR" altLang="en-US" dirty="0"/>
              <a:t>가끔 이상한 데이터를 출력하거나 데이터를 못 찾을 때가 있음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자연어 분석 필터 조건 함수에 문제가 있어 보이며</a:t>
            </a:r>
            <a:r>
              <a:rPr lang="en-US" altLang="ko-KR" dirty="0"/>
              <a:t>, </a:t>
            </a:r>
            <a:r>
              <a:rPr lang="ko-KR" altLang="en-US" dirty="0"/>
              <a:t> 코드 수정이 </a:t>
            </a:r>
            <a:r>
              <a:rPr lang="ko-KR" altLang="en-US" dirty="0" err="1"/>
              <a:t>필요해보임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532FF9A-D21D-6236-81FB-AE0589D7D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09" y="3202198"/>
            <a:ext cx="11371402" cy="176696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9CFB8D3-2C33-8BA0-0F17-9B7512D84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50" y="1411827"/>
            <a:ext cx="4153480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078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CAC9D4-2C12-0122-ED79-A23A4363DD2E}"/>
              </a:ext>
            </a:extLst>
          </p:cNvPr>
          <p:cNvSpPr txBox="1"/>
          <p:nvPr/>
        </p:nvSpPr>
        <p:spPr>
          <a:xfrm>
            <a:off x="336550" y="584200"/>
            <a:ext cx="5634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정찬우 </a:t>
            </a:r>
            <a:r>
              <a:rPr lang="en-US" altLang="ko-KR" dirty="0"/>
              <a:t>: </a:t>
            </a:r>
            <a:r>
              <a:rPr lang="ko-KR" altLang="en-US" dirty="0"/>
              <a:t>회원가입 알고리즘 설계 </a:t>
            </a:r>
            <a:r>
              <a:rPr lang="en-US" altLang="ko-KR" dirty="0"/>
              <a:t>+ API </a:t>
            </a:r>
            <a:r>
              <a:rPr lang="ko-KR" altLang="en-US" dirty="0"/>
              <a:t>뼈대 제작 중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00388E2B-F6BE-A621-FDDE-6492AE625556}"/>
              </a:ext>
            </a:extLst>
          </p:cNvPr>
          <p:cNvCxnSpPr/>
          <p:nvPr/>
        </p:nvCxnSpPr>
        <p:spPr>
          <a:xfrm>
            <a:off x="2218922" y="2132031"/>
            <a:ext cx="685800" cy="0"/>
          </a:xfrm>
          <a:prstGeom prst="straightConnector1">
            <a:avLst/>
          </a:prstGeom>
          <a:ln w="38100">
            <a:solidFill>
              <a:srgbClr val="747EA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순서도: 데이터 31">
            <a:extLst>
              <a:ext uri="{FF2B5EF4-FFF2-40B4-BE49-F238E27FC236}">
                <a16:creationId xmlns:a16="http://schemas.microsoft.com/office/drawing/2014/main" id="{EA1A07A3-071B-2816-03E6-BA7783954CC7}"/>
              </a:ext>
            </a:extLst>
          </p:cNvPr>
          <p:cNvSpPr/>
          <p:nvPr/>
        </p:nvSpPr>
        <p:spPr>
          <a:xfrm>
            <a:off x="2754086" y="1782781"/>
            <a:ext cx="1638882" cy="847672"/>
          </a:xfrm>
          <a:prstGeom prst="flowChartInputOutput">
            <a:avLst/>
          </a:prstGeom>
          <a:solidFill>
            <a:srgbClr val="C1C7E1"/>
          </a:solidFill>
          <a:ln>
            <a:solidFill>
              <a:srgbClr val="747E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chemeClr val="tx1"/>
                </a:solidFill>
              </a:rPr>
              <a:t>Username, password,</a:t>
            </a:r>
          </a:p>
          <a:p>
            <a:pPr algn="ctr"/>
            <a:r>
              <a:rPr lang="en-US" altLang="ko-KR" sz="1300" dirty="0">
                <a:solidFill>
                  <a:schemeClr val="tx1"/>
                </a:solidFill>
              </a:rPr>
              <a:t>message </a:t>
            </a:r>
            <a:r>
              <a:rPr lang="ko-KR" altLang="en-US" sz="1300" dirty="0">
                <a:solidFill>
                  <a:schemeClr val="tx1"/>
                </a:solidFill>
              </a:rPr>
              <a:t>입력</a:t>
            </a:r>
          </a:p>
        </p:txBody>
      </p:sp>
      <p:sp>
        <p:nvSpPr>
          <p:cNvPr id="33" name="순서도: 판단 32">
            <a:extLst>
              <a:ext uri="{FF2B5EF4-FFF2-40B4-BE49-F238E27FC236}">
                <a16:creationId xmlns:a16="http://schemas.microsoft.com/office/drawing/2014/main" id="{DEC74622-42ED-DD70-55E1-C75EFCC894F6}"/>
              </a:ext>
            </a:extLst>
          </p:cNvPr>
          <p:cNvSpPr/>
          <p:nvPr/>
        </p:nvSpPr>
        <p:spPr>
          <a:xfrm>
            <a:off x="4963886" y="1651216"/>
            <a:ext cx="1895535" cy="979237"/>
          </a:xfrm>
          <a:prstGeom prst="flowChartDecision">
            <a:avLst/>
          </a:prstGeom>
          <a:solidFill>
            <a:srgbClr val="C1C7E1"/>
          </a:solidFill>
          <a:ln>
            <a:solidFill>
              <a:srgbClr val="747E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chemeClr val="tx1"/>
                </a:solidFill>
              </a:rPr>
              <a:t>Username</a:t>
            </a:r>
            <a:r>
              <a:rPr lang="ko-KR" altLang="en-US" sz="1300" dirty="0">
                <a:solidFill>
                  <a:schemeClr val="tx1"/>
                </a:solidFill>
              </a:rPr>
              <a:t> 중복여부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84AFA6-26AD-FE82-0E18-39658050C0F5}"/>
              </a:ext>
            </a:extLst>
          </p:cNvPr>
          <p:cNvSpPr txBox="1"/>
          <p:nvPr/>
        </p:nvSpPr>
        <p:spPr>
          <a:xfrm>
            <a:off x="5954486" y="2585387"/>
            <a:ext cx="380232" cy="29238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300" dirty="0"/>
              <a:t>no</a:t>
            </a:r>
            <a:endParaRPr lang="ko-KR" altLang="en-US" sz="1300" dirty="0"/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A816B6EB-748F-2992-8680-D15A3CFAF997}"/>
              </a:ext>
            </a:extLst>
          </p:cNvPr>
          <p:cNvCxnSpPr>
            <a:cxnSpLocks/>
            <a:stCxn id="33" idx="2"/>
            <a:endCxn id="55" idx="0"/>
          </p:cNvCxnSpPr>
          <p:nvPr/>
        </p:nvCxnSpPr>
        <p:spPr>
          <a:xfrm>
            <a:off x="5911654" y="2630453"/>
            <a:ext cx="8794" cy="40422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4568E27-23B7-A844-D4E9-C14856DCF753}"/>
              </a:ext>
            </a:extLst>
          </p:cNvPr>
          <p:cNvSpPr txBox="1"/>
          <p:nvPr/>
        </p:nvSpPr>
        <p:spPr>
          <a:xfrm>
            <a:off x="6901546" y="1865476"/>
            <a:ext cx="427425" cy="29238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300" dirty="0"/>
              <a:t>yes</a:t>
            </a:r>
            <a:endParaRPr lang="ko-KR" altLang="en-US" sz="1300" dirty="0"/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AA781C10-01F5-02C8-5149-F6A4199ACDC6}"/>
              </a:ext>
            </a:extLst>
          </p:cNvPr>
          <p:cNvCxnSpPr/>
          <p:nvPr/>
        </p:nvCxnSpPr>
        <p:spPr>
          <a:xfrm>
            <a:off x="9443825" y="2132031"/>
            <a:ext cx="6858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43596C2-4362-BF45-092A-1A1F12DE744E}"/>
              </a:ext>
            </a:extLst>
          </p:cNvPr>
          <p:cNvSpPr txBox="1"/>
          <p:nvPr/>
        </p:nvSpPr>
        <p:spPr>
          <a:xfrm>
            <a:off x="9532295" y="1849604"/>
            <a:ext cx="380232" cy="29238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300" dirty="0"/>
              <a:t>no</a:t>
            </a:r>
            <a:endParaRPr lang="ko-KR" altLang="en-US" sz="13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F578027-7D6E-B84C-682B-E9BC771D8A95}"/>
              </a:ext>
            </a:extLst>
          </p:cNvPr>
          <p:cNvSpPr txBox="1"/>
          <p:nvPr/>
        </p:nvSpPr>
        <p:spPr>
          <a:xfrm>
            <a:off x="8458265" y="2602210"/>
            <a:ext cx="427425" cy="29238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300" dirty="0"/>
              <a:t>yes</a:t>
            </a:r>
            <a:endParaRPr lang="ko-KR" altLang="en-US" sz="1300" dirty="0"/>
          </a:p>
        </p:txBody>
      </p:sp>
      <p:sp>
        <p:nvSpPr>
          <p:cNvPr id="40" name="순서도: 문서 39">
            <a:extLst>
              <a:ext uri="{FF2B5EF4-FFF2-40B4-BE49-F238E27FC236}">
                <a16:creationId xmlns:a16="http://schemas.microsoft.com/office/drawing/2014/main" id="{A404659D-2F9C-6FB6-EAAA-9DEE3CE072E8}"/>
              </a:ext>
            </a:extLst>
          </p:cNvPr>
          <p:cNvSpPr/>
          <p:nvPr/>
        </p:nvSpPr>
        <p:spPr>
          <a:xfrm>
            <a:off x="10145486" y="1639853"/>
            <a:ext cx="1439499" cy="1004889"/>
          </a:xfrm>
          <a:prstGeom prst="flowChartDocument">
            <a:avLst/>
          </a:prstGeom>
          <a:solidFill>
            <a:srgbClr val="C1C7E1"/>
          </a:solidFill>
          <a:ln>
            <a:solidFill>
              <a:srgbClr val="747E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>
                <a:solidFill>
                  <a:schemeClr val="tx1"/>
                </a:solidFill>
              </a:rPr>
              <a:t>아이디 또는 비밀번호가 잘못되었습니다</a:t>
            </a:r>
            <a:r>
              <a:rPr lang="en-US" altLang="ko-KR" sz="1300" dirty="0">
                <a:solidFill>
                  <a:schemeClr val="tx1"/>
                </a:solidFill>
              </a:rPr>
              <a:t>.</a:t>
            </a:r>
            <a:endParaRPr lang="ko-KR" altLang="en-US" sz="1300" dirty="0">
              <a:solidFill>
                <a:schemeClr val="tx1"/>
              </a:solidFill>
            </a:endParaRPr>
          </a:p>
        </p:txBody>
      </p:sp>
      <p:sp>
        <p:nvSpPr>
          <p:cNvPr id="41" name="순서도: 수행의 시작/종료 40">
            <a:extLst>
              <a:ext uri="{FF2B5EF4-FFF2-40B4-BE49-F238E27FC236}">
                <a16:creationId xmlns:a16="http://schemas.microsoft.com/office/drawing/2014/main" id="{597017AB-7AA2-1A24-4EF0-7C61B065F9E0}"/>
              </a:ext>
            </a:extLst>
          </p:cNvPr>
          <p:cNvSpPr/>
          <p:nvPr/>
        </p:nvSpPr>
        <p:spPr>
          <a:xfrm>
            <a:off x="542522" y="1782781"/>
            <a:ext cx="1676400" cy="698500"/>
          </a:xfrm>
          <a:prstGeom prst="flowChartTerminator">
            <a:avLst/>
          </a:prstGeom>
          <a:solidFill>
            <a:srgbClr val="C1C7E1"/>
          </a:solidFill>
          <a:ln>
            <a:solidFill>
              <a:srgbClr val="747E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chemeClr val="tx1"/>
                </a:solidFill>
              </a:rPr>
              <a:t>START</a:t>
            </a:r>
            <a:endParaRPr lang="ko-KR" altLang="en-US" sz="1300" dirty="0">
              <a:solidFill>
                <a:schemeClr val="tx1"/>
              </a:solidFill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0E4CBAD2-78B4-4F52-5DAD-F076FDD92CEE}"/>
              </a:ext>
            </a:extLst>
          </p:cNvPr>
          <p:cNvCxnSpPr/>
          <p:nvPr/>
        </p:nvCxnSpPr>
        <p:spPr>
          <a:xfrm>
            <a:off x="4251392" y="2132031"/>
            <a:ext cx="685800" cy="0"/>
          </a:xfrm>
          <a:prstGeom prst="straightConnector1">
            <a:avLst/>
          </a:prstGeom>
          <a:ln w="38100">
            <a:solidFill>
              <a:srgbClr val="747EA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순서도: 판단 45">
            <a:extLst>
              <a:ext uri="{FF2B5EF4-FFF2-40B4-BE49-F238E27FC236}">
                <a16:creationId xmlns:a16="http://schemas.microsoft.com/office/drawing/2014/main" id="{7BC8B9D9-6323-3FCF-686F-286EA79CB88F}"/>
              </a:ext>
            </a:extLst>
          </p:cNvPr>
          <p:cNvSpPr/>
          <p:nvPr/>
        </p:nvSpPr>
        <p:spPr>
          <a:xfrm>
            <a:off x="7546506" y="1651216"/>
            <a:ext cx="1895535" cy="979237"/>
          </a:xfrm>
          <a:prstGeom prst="flowChartDecision">
            <a:avLst/>
          </a:prstGeom>
          <a:solidFill>
            <a:srgbClr val="C1C7E1"/>
          </a:solidFill>
          <a:ln>
            <a:solidFill>
              <a:srgbClr val="747E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chemeClr val="tx1"/>
                </a:solidFill>
              </a:rPr>
              <a:t>password</a:t>
            </a:r>
            <a:r>
              <a:rPr lang="ko-KR" altLang="en-US" sz="1300" dirty="0">
                <a:solidFill>
                  <a:schemeClr val="tx1"/>
                </a:solidFill>
              </a:rPr>
              <a:t> 일치여부</a:t>
            </a: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2E635D34-EAF8-30C8-E5A5-9B17CB0089FE}"/>
              </a:ext>
            </a:extLst>
          </p:cNvPr>
          <p:cNvCxnSpPr>
            <a:cxnSpLocks/>
          </p:cNvCxnSpPr>
          <p:nvPr/>
        </p:nvCxnSpPr>
        <p:spPr>
          <a:xfrm>
            <a:off x="8494273" y="2630453"/>
            <a:ext cx="8794" cy="40422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546AE80B-9671-CE83-56E4-64A445B1CFBB}"/>
              </a:ext>
            </a:extLst>
          </p:cNvPr>
          <p:cNvCxnSpPr/>
          <p:nvPr/>
        </p:nvCxnSpPr>
        <p:spPr>
          <a:xfrm>
            <a:off x="6813351" y="3420184"/>
            <a:ext cx="685800" cy="0"/>
          </a:xfrm>
          <a:prstGeom prst="straightConnector1">
            <a:avLst/>
          </a:prstGeom>
          <a:ln w="38100">
            <a:solidFill>
              <a:srgbClr val="747EA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7D862B41-6BBB-54F6-2EE2-E72A76CB69BA}"/>
              </a:ext>
            </a:extLst>
          </p:cNvPr>
          <p:cNvCxnSpPr/>
          <p:nvPr/>
        </p:nvCxnSpPr>
        <p:spPr>
          <a:xfrm>
            <a:off x="6860706" y="2132031"/>
            <a:ext cx="68580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A2F13251-52D6-25F0-4FA5-36502A595663}"/>
              </a:ext>
            </a:extLst>
          </p:cNvPr>
          <p:cNvSpPr/>
          <p:nvPr/>
        </p:nvSpPr>
        <p:spPr>
          <a:xfrm>
            <a:off x="4937192" y="3034676"/>
            <a:ext cx="1966512" cy="817462"/>
          </a:xfrm>
          <a:prstGeom prst="rect">
            <a:avLst/>
          </a:prstGeom>
          <a:solidFill>
            <a:srgbClr val="C1C7E1"/>
          </a:solidFill>
          <a:ln>
            <a:solidFill>
              <a:srgbClr val="747E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chemeClr val="tx1"/>
                </a:solidFill>
              </a:rPr>
              <a:t>Username, password</a:t>
            </a:r>
            <a:r>
              <a:rPr lang="ko-KR" altLang="en-US" sz="1300" dirty="0">
                <a:solidFill>
                  <a:schemeClr val="tx1"/>
                </a:solidFill>
              </a:rPr>
              <a:t>로 계정정보 생성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B4DC4A7E-7E60-371D-1146-A94F4BF8DA9F}"/>
              </a:ext>
            </a:extLst>
          </p:cNvPr>
          <p:cNvSpPr/>
          <p:nvPr/>
        </p:nvSpPr>
        <p:spPr>
          <a:xfrm>
            <a:off x="7511017" y="3034676"/>
            <a:ext cx="1966512" cy="817462"/>
          </a:xfrm>
          <a:prstGeom prst="rect">
            <a:avLst/>
          </a:prstGeom>
          <a:solidFill>
            <a:srgbClr val="C1C7E1"/>
          </a:solidFill>
          <a:ln>
            <a:solidFill>
              <a:srgbClr val="747E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chemeClr val="tx1"/>
                </a:solidFill>
              </a:rPr>
              <a:t>message</a:t>
            </a:r>
            <a:r>
              <a:rPr lang="ko-KR" altLang="en-US" sz="1300" dirty="0">
                <a:solidFill>
                  <a:schemeClr val="tx1"/>
                </a:solidFill>
              </a:rPr>
              <a:t> 타입 분류 </a:t>
            </a:r>
            <a:endParaRPr lang="en-US" altLang="ko-KR" sz="1300" dirty="0">
              <a:solidFill>
                <a:schemeClr val="tx1"/>
              </a:solidFill>
            </a:endParaRPr>
          </a:p>
          <a:p>
            <a:pPr algn="ctr"/>
            <a:r>
              <a:rPr lang="en-US" altLang="ko-KR" sz="1300" dirty="0">
                <a:solidFill>
                  <a:schemeClr val="tx1"/>
                </a:solidFill>
              </a:rPr>
              <a:t>-&gt; </a:t>
            </a:r>
            <a:r>
              <a:rPr lang="ko-KR" altLang="en-US" sz="1300" dirty="0">
                <a:solidFill>
                  <a:schemeClr val="tx1"/>
                </a:solidFill>
              </a:rPr>
              <a:t>해당 함수 실행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78EC68C-3782-7E4B-6636-9553EA890B9C}"/>
              </a:ext>
            </a:extLst>
          </p:cNvPr>
          <p:cNvSpPr txBox="1"/>
          <p:nvPr/>
        </p:nvSpPr>
        <p:spPr>
          <a:xfrm>
            <a:off x="542522" y="4917233"/>
            <a:ext cx="63834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DB</a:t>
            </a:r>
            <a:r>
              <a:rPr lang="ko-KR" altLang="en-US" dirty="0"/>
              <a:t>에 해당 아이디가 있으면 </a:t>
            </a:r>
            <a:r>
              <a:rPr lang="en-US" altLang="ko-KR" dirty="0"/>
              <a:t>: </a:t>
            </a:r>
            <a:r>
              <a:rPr lang="ko-KR" altLang="en-US" dirty="0"/>
              <a:t>입력한 정보로 로그인 시도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DB</a:t>
            </a:r>
            <a:r>
              <a:rPr lang="ko-KR" altLang="en-US" dirty="0"/>
              <a:t>에 해당 아이디가 없으면 </a:t>
            </a:r>
            <a:r>
              <a:rPr lang="en-US" altLang="ko-KR" dirty="0"/>
              <a:t>: </a:t>
            </a:r>
            <a:r>
              <a:rPr lang="ko-KR" altLang="en-US" dirty="0"/>
              <a:t>입력한 정보로 회원가입</a:t>
            </a: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B9EE04C6-48FC-62A9-0C50-E4933F0977C7}"/>
              </a:ext>
            </a:extLst>
          </p:cNvPr>
          <p:cNvCxnSpPr/>
          <p:nvPr/>
        </p:nvCxnSpPr>
        <p:spPr>
          <a:xfrm>
            <a:off x="9477529" y="3852138"/>
            <a:ext cx="506226" cy="5245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0368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E9D2F3D-D785-69D9-A3BA-5C94D1D6B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30" y="307772"/>
            <a:ext cx="7228258" cy="294861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F2B34C4-7527-54A8-31B3-5AEF0FC23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30" y="3429000"/>
            <a:ext cx="6135203" cy="32463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43E941C-A8F1-1FA8-5857-108C1421C9B1}"/>
              </a:ext>
            </a:extLst>
          </p:cNvPr>
          <p:cNvSpPr txBox="1"/>
          <p:nvPr/>
        </p:nvSpPr>
        <p:spPr>
          <a:xfrm>
            <a:off x="7753738" y="1782077"/>
            <a:ext cx="2194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위의 알고리즘 설계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122271-1421-596E-73C8-E6007E7AE913}"/>
              </a:ext>
            </a:extLst>
          </p:cNvPr>
          <p:cNvSpPr txBox="1"/>
          <p:nvPr/>
        </p:nvSpPr>
        <p:spPr>
          <a:xfrm>
            <a:off x="6475445" y="5080094"/>
            <a:ext cx="1027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DB </a:t>
            </a:r>
            <a:r>
              <a:rPr lang="ko-KR" altLang="en-US" dirty="0"/>
              <a:t>설계</a:t>
            </a:r>
          </a:p>
        </p:txBody>
      </p:sp>
    </p:spTree>
    <p:extLst>
      <p:ext uri="{BB962C8B-B14F-4D97-AF65-F5344CB8AC3E}">
        <p14:creationId xmlns:p14="http://schemas.microsoft.com/office/powerpoint/2010/main" val="189098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7B949C7-96DD-B5D9-8648-AA2743C2A014}"/>
              </a:ext>
            </a:extLst>
          </p:cNvPr>
          <p:cNvSpPr txBox="1"/>
          <p:nvPr/>
        </p:nvSpPr>
        <p:spPr>
          <a:xfrm>
            <a:off x="322544" y="404776"/>
            <a:ext cx="3876231" cy="609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dirty="0"/>
              <a:t>2. </a:t>
            </a:r>
            <a:r>
              <a:rPr lang="ko-KR" altLang="en-US" sz="2000" dirty="0"/>
              <a:t>오류발생 및 해결방안</a:t>
            </a:r>
            <a:endParaRPr lang="en-US" altLang="ko-KR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FDB03D-D705-939E-B234-0E8477D4C7A8}"/>
              </a:ext>
            </a:extLst>
          </p:cNvPr>
          <p:cNvSpPr txBox="1"/>
          <p:nvPr/>
        </p:nvSpPr>
        <p:spPr>
          <a:xfrm>
            <a:off x="438079" y="2165941"/>
            <a:ext cx="11753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설계 당시 사용자의 질문을 </a:t>
            </a:r>
            <a:r>
              <a:rPr lang="ko-KR" altLang="en-US" sz="2000" dirty="0" err="1"/>
              <a:t>파인콘</a:t>
            </a:r>
            <a:r>
              <a:rPr lang="ko-KR" altLang="en-US" sz="2000" dirty="0"/>
              <a:t> 유사도 분석을 통해 관련 데이터를 불러올 수 있을 것으로 판단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7C51E28-7558-342F-A8E8-165071E4EFBD}"/>
              </a:ext>
            </a:extLst>
          </p:cNvPr>
          <p:cNvSpPr/>
          <p:nvPr/>
        </p:nvSpPr>
        <p:spPr>
          <a:xfrm>
            <a:off x="658446" y="3347150"/>
            <a:ext cx="3642965" cy="11563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/>
              <a:t>질문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삼성전자의 주가는</a:t>
            </a:r>
            <a:r>
              <a:rPr lang="en-US" altLang="ko-KR" dirty="0"/>
              <a:t> </a:t>
            </a:r>
            <a:r>
              <a:rPr lang="ko-KR" altLang="en-US" dirty="0"/>
              <a:t>얼마인가요</a:t>
            </a:r>
            <a:r>
              <a:rPr lang="en-US" altLang="ko-KR" dirty="0"/>
              <a:t>?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E6979EF-056F-83D6-2B4F-F9A8D145B36E}"/>
              </a:ext>
            </a:extLst>
          </p:cNvPr>
          <p:cNvSpPr/>
          <p:nvPr/>
        </p:nvSpPr>
        <p:spPr>
          <a:xfrm>
            <a:off x="8005665" y="2911151"/>
            <a:ext cx="2557661" cy="34429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DB</a:t>
            </a:r>
          </a:p>
          <a:p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삼성전자 </a:t>
            </a:r>
            <a:r>
              <a:rPr lang="en-US" altLang="ko-KR" dirty="0"/>
              <a:t>: 58,000</a:t>
            </a:r>
            <a:r>
              <a:rPr lang="ko-KR" altLang="en-US" dirty="0"/>
              <a:t>원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A</a:t>
            </a:r>
            <a:r>
              <a:rPr lang="ko-KR" altLang="en-US" dirty="0"/>
              <a:t>기업 </a:t>
            </a:r>
            <a:r>
              <a:rPr lang="en-US" altLang="ko-KR" dirty="0"/>
              <a:t>: 10,000</a:t>
            </a:r>
            <a:r>
              <a:rPr lang="ko-KR" altLang="en-US" dirty="0"/>
              <a:t>원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B</a:t>
            </a:r>
            <a:r>
              <a:rPr lang="ko-KR" altLang="en-US" dirty="0"/>
              <a:t>기업 </a:t>
            </a:r>
            <a:r>
              <a:rPr lang="en-US" altLang="ko-KR" dirty="0"/>
              <a:t>: 20,000</a:t>
            </a:r>
            <a:r>
              <a:rPr lang="ko-KR" altLang="en-US" dirty="0"/>
              <a:t>원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C</a:t>
            </a:r>
            <a:r>
              <a:rPr lang="ko-KR" altLang="en-US" dirty="0"/>
              <a:t>기업 </a:t>
            </a:r>
            <a:r>
              <a:rPr lang="en-US" altLang="ko-KR" dirty="0"/>
              <a:t>: 30,000</a:t>
            </a:r>
            <a:r>
              <a:rPr lang="ko-KR" altLang="en-US" dirty="0"/>
              <a:t>원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D</a:t>
            </a:r>
            <a:r>
              <a:rPr lang="ko-KR" altLang="en-US" dirty="0"/>
              <a:t>기업 </a:t>
            </a:r>
            <a:r>
              <a:rPr lang="en-US" altLang="ko-KR" dirty="0"/>
              <a:t>: 40,000</a:t>
            </a:r>
            <a:r>
              <a:rPr lang="ko-KR" altLang="en-US" dirty="0"/>
              <a:t>원</a:t>
            </a:r>
            <a:endParaRPr lang="en-US" altLang="ko-KR" dirty="0"/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4EBEE732-CCB2-4C7E-A425-08E0474155DC}"/>
              </a:ext>
            </a:extLst>
          </p:cNvPr>
          <p:cNvSpPr/>
          <p:nvPr/>
        </p:nvSpPr>
        <p:spPr>
          <a:xfrm>
            <a:off x="4358948" y="4030825"/>
            <a:ext cx="3589180" cy="2425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2906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73E5B5D-19B5-C0B7-DA63-C51E36C38C12}"/>
              </a:ext>
            </a:extLst>
          </p:cNvPr>
          <p:cNvSpPr txBox="1"/>
          <p:nvPr/>
        </p:nvSpPr>
        <p:spPr>
          <a:xfrm>
            <a:off x="481165" y="936621"/>
            <a:ext cx="9521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하지만 프로그램 실행 결과 유사도 비교의 신뢰성이 많이 떨어진다는 것을 확인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F430344-8EDE-1725-0F7D-F08634BE8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146" y="2478968"/>
            <a:ext cx="3514593" cy="63233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8B7AE61-FDB4-D356-73C8-C4590B415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4000" y="1660849"/>
            <a:ext cx="3170662" cy="47772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8392AB-778C-2470-EF40-FC67900CF3F0}"/>
              </a:ext>
            </a:extLst>
          </p:cNvPr>
          <p:cNvSpPr txBox="1"/>
          <p:nvPr/>
        </p:nvSpPr>
        <p:spPr>
          <a:xfrm>
            <a:off x="705100" y="3746700"/>
            <a:ext cx="472757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질문 </a:t>
            </a:r>
            <a:r>
              <a:rPr lang="en-US" altLang="ko-KR" dirty="0"/>
              <a:t>“</a:t>
            </a:r>
            <a:r>
              <a:rPr lang="ko-KR" altLang="en-US" dirty="0" err="1"/>
              <a:t>코미코</a:t>
            </a:r>
            <a:r>
              <a:rPr lang="ko-KR" altLang="en-US" dirty="0"/>
              <a:t> 목표주가</a:t>
            </a:r>
            <a:r>
              <a:rPr lang="en-US" altLang="ko-KR" dirty="0"/>
              <a:t>.“ </a:t>
            </a:r>
            <a:r>
              <a:rPr lang="ko-KR" altLang="en-US" dirty="0"/>
              <a:t>를 검색 시 당연히 </a:t>
            </a:r>
            <a:endParaRPr lang="en-US" altLang="ko-KR" dirty="0"/>
          </a:p>
          <a:p>
            <a:r>
              <a:rPr lang="en-US" altLang="ko-KR" dirty="0"/>
              <a:t>‘</a:t>
            </a:r>
            <a:r>
              <a:rPr lang="ko-KR" altLang="en-US" dirty="0" err="1"/>
              <a:t>코미코</a:t>
            </a:r>
            <a:r>
              <a:rPr lang="ko-KR" altLang="en-US" dirty="0"/>
              <a:t> 목표주가</a:t>
            </a:r>
            <a:r>
              <a:rPr lang="en-US" altLang="ko-KR" dirty="0"/>
              <a:t>’</a:t>
            </a:r>
            <a:r>
              <a:rPr lang="ko-KR" altLang="en-US" dirty="0"/>
              <a:t> 데이터가 출력되어야 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하지만 질문 유사도 </a:t>
            </a:r>
            <a:r>
              <a:rPr lang="en-US" altLang="ko-KR" dirty="0"/>
              <a:t>top4 </a:t>
            </a:r>
            <a:r>
              <a:rPr lang="ko-KR" altLang="en-US" dirty="0"/>
              <a:t>출력 시 </a:t>
            </a:r>
            <a:endParaRPr lang="en-US" altLang="ko-KR" dirty="0"/>
          </a:p>
          <a:p>
            <a:r>
              <a:rPr lang="en-US" altLang="ko-KR" dirty="0"/>
              <a:t>‘</a:t>
            </a:r>
            <a:r>
              <a:rPr lang="ko-KR" altLang="en-US" dirty="0" err="1"/>
              <a:t>코미코</a:t>
            </a:r>
            <a:r>
              <a:rPr lang="en-US" altLang="ko-KR" dirty="0"/>
              <a:t> </a:t>
            </a:r>
            <a:r>
              <a:rPr lang="ko-KR" altLang="en-US" dirty="0"/>
              <a:t>목표주가</a:t>
            </a:r>
            <a:r>
              <a:rPr lang="en-US" altLang="ko-KR" dirty="0"/>
              <a:t>’</a:t>
            </a:r>
            <a:r>
              <a:rPr lang="ko-KR" altLang="en-US" dirty="0"/>
              <a:t> 데이터가</a:t>
            </a:r>
            <a:r>
              <a:rPr lang="en-US" altLang="ko-KR" dirty="0"/>
              <a:t> </a:t>
            </a:r>
            <a:r>
              <a:rPr lang="ko-KR" altLang="en-US" dirty="0"/>
              <a:t>출력되지 않음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98460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D405A3-F07A-08C5-7576-F087A31631D7}"/>
              </a:ext>
            </a:extLst>
          </p:cNvPr>
          <p:cNvSpPr txBox="1"/>
          <p:nvPr/>
        </p:nvSpPr>
        <p:spPr>
          <a:xfrm>
            <a:off x="290345" y="1810959"/>
            <a:ext cx="1190165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추측 </a:t>
            </a:r>
            <a:r>
              <a:rPr lang="en-US" altLang="ko-KR" sz="2000" dirty="0"/>
              <a:t>1 : </a:t>
            </a:r>
            <a:r>
              <a:rPr lang="ko-KR" altLang="en-US" sz="2000" dirty="0"/>
              <a:t>데이터 저장 시 자연어 처리를 하지 않았기 때문</a:t>
            </a:r>
            <a:r>
              <a:rPr lang="en-US" altLang="ko-KR" sz="2000" dirty="0"/>
              <a:t>. </a:t>
            </a:r>
          </a:p>
          <a:p>
            <a:r>
              <a:rPr lang="en-US" altLang="ko-KR" sz="2000" dirty="0"/>
              <a:t>	</a:t>
            </a:r>
            <a:r>
              <a:rPr lang="ko-KR" altLang="en-US" sz="2000" dirty="0"/>
              <a:t>이수경</a:t>
            </a:r>
            <a:r>
              <a:rPr lang="en-US" altLang="ko-KR" sz="2000" dirty="0"/>
              <a:t>: </a:t>
            </a:r>
            <a:r>
              <a:rPr lang="ko-KR" altLang="en-US" sz="2000" dirty="0"/>
              <a:t>데이터 </a:t>
            </a:r>
            <a:r>
              <a:rPr lang="ko-KR" altLang="en-US" sz="2000" dirty="0" err="1"/>
              <a:t>임베딩</a:t>
            </a:r>
            <a:r>
              <a:rPr lang="ko-KR" altLang="en-US" sz="2000" dirty="0"/>
              <a:t> 전에 자연어 처리를 하는 코드를 추가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/>
              <a:t>추측 </a:t>
            </a:r>
            <a:r>
              <a:rPr lang="en-US" altLang="ko-KR" sz="2000" dirty="0"/>
              <a:t>2 : </a:t>
            </a:r>
            <a:r>
              <a:rPr lang="ko-KR" altLang="en-US" sz="2000" dirty="0"/>
              <a:t>질문과 데이터의 비교 방식이 잘못됨</a:t>
            </a:r>
            <a:r>
              <a:rPr lang="en-US" altLang="ko-KR" sz="2000" dirty="0"/>
              <a:t>. (</a:t>
            </a:r>
            <a:r>
              <a:rPr lang="ko-KR" altLang="en-US" sz="2000" dirty="0"/>
              <a:t>양식 등</a:t>
            </a:r>
            <a:r>
              <a:rPr lang="en-US" altLang="ko-KR" sz="2000" dirty="0"/>
              <a:t>) &lt;- </a:t>
            </a:r>
            <a:r>
              <a:rPr lang="ko-KR" altLang="en-US" sz="2000" dirty="0"/>
              <a:t>정찬우</a:t>
            </a:r>
            <a:r>
              <a:rPr lang="en-US" altLang="ko-KR" sz="2000" dirty="0"/>
              <a:t>, </a:t>
            </a:r>
            <a:r>
              <a:rPr lang="ko-KR" altLang="en-US" sz="2000" dirty="0"/>
              <a:t>김현우</a:t>
            </a:r>
            <a:endParaRPr lang="en-US" altLang="ko-KR" sz="2000" dirty="0"/>
          </a:p>
          <a:p>
            <a:r>
              <a:rPr lang="en-US" altLang="ko-KR" sz="2000" dirty="0"/>
              <a:t>	</a:t>
            </a:r>
            <a:r>
              <a:rPr lang="ko-KR" altLang="en-US" sz="2000" dirty="0"/>
              <a:t>정찬우</a:t>
            </a:r>
            <a:r>
              <a:rPr lang="en-US" altLang="ko-KR" sz="2000" dirty="0"/>
              <a:t>: </a:t>
            </a:r>
            <a:r>
              <a:rPr lang="ko-KR" altLang="en-US" sz="2000" dirty="0"/>
              <a:t>간단한 질문은 자연어 처리 전에 따로 분류하는 방안 모색 </a:t>
            </a:r>
            <a:r>
              <a:rPr lang="en-US" altLang="ko-KR" sz="2000" dirty="0"/>
              <a:t>(</a:t>
            </a:r>
            <a:r>
              <a:rPr lang="ko-KR" altLang="en-US" sz="2000" dirty="0"/>
              <a:t>주식 종가 검색 등</a:t>
            </a:r>
            <a:r>
              <a:rPr lang="en-US" altLang="ko-KR" sz="2000" dirty="0"/>
              <a:t>)</a:t>
            </a:r>
          </a:p>
          <a:p>
            <a:r>
              <a:rPr lang="en-US" altLang="ko-KR" sz="2000" dirty="0"/>
              <a:t>	</a:t>
            </a:r>
            <a:r>
              <a:rPr lang="ko-KR" altLang="en-US" sz="2000" dirty="0"/>
              <a:t>김현우</a:t>
            </a:r>
            <a:r>
              <a:rPr lang="en-US" altLang="ko-KR" sz="2000" dirty="0"/>
              <a:t>: GPT API</a:t>
            </a:r>
            <a:r>
              <a:rPr lang="ko-KR" altLang="en-US" sz="2000" dirty="0"/>
              <a:t>를 활용하여 질문 분류와 코사인 비교를 보조하는 방안 모색</a:t>
            </a:r>
            <a:endParaRPr lang="en-US" altLang="ko-KR" sz="2000" dirty="0"/>
          </a:p>
          <a:p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ko-KR" altLang="en-US" sz="2000" dirty="0"/>
              <a:t>추측 </a:t>
            </a:r>
            <a:r>
              <a:rPr lang="en-US" altLang="ko-KR" sz="2000" dirty="0"/>
              <a:t>3 : </a:t>
            </a:r>
            <a:r>
              <a:rPr lang="ko-KR" altLang="en-US" sz="2000" dirty="0" err="1"/>
              <a:t>임베딩</a:t>
            </a:r>
            <a:r>
              <a:rPr lang="ko-KR" altLang="en-US" sz="2000" dirty="0"/>
              <a:t> 모델의 오류 </a:t>
            </a:r>
            <a:r>
              <a:rPr lang="en-US" altLang="ko-KR" sz="2000" dirty="0"/>
              <a:t>(</a:t>
            </a:r>
            <a:r>
              <a:rPr lang="ko-KR" altLang="en-US" sz="2000" dirty="0"/>
              <a:t>카카오뱅크 </a:t>
            </a:r>
            <a:r>
              <a:rPr lang="en-US" altLang="ko-KR" sz="2000" dirty="0"/>
              <a:t>KF </a:t>
            </a:r>
            <a:r>
              <a:rPr lang="en-US" altLang="ko-KR" sz="2000" dirty="0" err="1"/>
              <a:t>DeBERTa</a:t>
            </a:r>
            <a:r>
              <a:rPr lang="ko-KR" altLang="en-US" sz="2000" dirty="0"/>
              <a:t>는 대중적이지 않은 </a:t>
            </a:r>
            <a:r>
              <a:rPr lang="ko-KR" altLang="en-US" sz="2000" dirty="0" err="1"/>
              <a:t>임베딩모델</a:t>
            </a:r>
            <a:r>
              <a:rPr lang="en-US" altLang="ko-KR" sz="20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2000" dirty="0"/>
              <a:t>	</a:t>
            </a:r>
            <a:r>
              <a:rPr lang="ko-KR" altLang="en-US" sz="2000" dirty="0"/>
              <a:t>위의 방법으로 해결되지 않을 경우 상위 차원 </a:t>
            </a:r>
            <a:r>
              <a:rPr lang="ko-KR" altLang="en-US" sz="2000" dirty="0" err="1"/>
              <a:t>임베딩</a:t>
            </a:r>
            <a:r>
              <a:rPr lang="ko-KR" altLang="en-US" sz="2000" dirty="0"/>
              <a:t> 모델 </a:t>
            </a:r>
            <a:r>
              <a:rPr lang="en-US" altLang="ko-KR" sz="2000" dirty="0"/>
              <a:t>(</a:t>
            </a:r>
            <a:r>
              <a:rPr lang="en-US" altLang="ko-KR" sz="2000" dirty="0" err="1"/>
              <a:t>gpt</a:t>
            </a:r>
            <a:r>
              <a:rPr lang="ko-KR" altLang="en-US" sz="2000" dirty="0" err="1"/>
              <a:t>임베딩</a:t>
            </a:r>
            <a:r>
              <a:rPr lang="ko-KR" altLang="en-US" sz="2000" dirty="0"/>
              <a:t> 모델</a:t>
            </a:r>
            <a:r>
              <a:rPr lang="en-US" altLang="ko-KR" sz="2000" dirty="0"/>
              <a:t>)</a:t>
            </a:r>
            <a:r>
              <a:rPr lang="ko-KR" altLang="en-US" sz="2000" dirty="0"/>
              <a:t>로 변경 </a:t>
            </a:r>
            <a:r>
              <a:rPr lang="en-US" altLang="ko-KR" sz="2000" dirty="0"/>
              <a:t>(</a:t>
            </a:r>
            <a:r>
              <a:rPr lang="ko-KR" altLang="en-US" sz="2000" dirty="0"/>
              <a:t>유료</a:t>
            </a:r>
            <a:r>
              <a:rPr lang="en-US" altLang="ko-KR" sz="2000" dirty="0"/>
              <a:t>)</a:t>
            </a:r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414424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C503A-0F84-B573-993C-67B3C39EF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155A63-0DA1-B415-C346-A494A1E23E9A}"/>
              </a:ext>
            </a:extLst>
          </p:cNvPr>
          <p:cNvSpPr txBox="1"/>
          <p:nvPr/>
        </p:nvSpPr>
        <p:spPr>
          <a:xfrm>
            <a:off x="869950" y="946150"/>
            <a:ext cx="1076325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이승준</a:t>
            </a:r>
            <a:r>
              <a:rPr lang="en-US" altLang="ko-KR" dirty="0"/>
              <a:t>:</a:t>
            </a:r>
          </a:p>
          <a:p>
            <a:r>
              <a:rPr lang="ko-KR" altLang="en-US" b="0" i="0" dirty="0">
                <a:effectLst/>
                <a:latin typeface="gg sans"/>
              </a:rPr>
              <a:t>참고물이 없는 새로운 알고리즘을 짜려고 시도하는 것이 어려웠음 </a:t>
            </a:r>
            <a:r>
              <a:rPr lang="en-US" altLang="ko-KR" b="0" i="0" dirty="0">
                <a:effectLst/>
                <a:latin typeface="gg sans"/>
              </a:rPr>
              <a:t>-&gt; </a:t>
            </a:r>
            <a:r>
              <a:rPr lang="ko-KR" altLang="en-US" b="0" i="0" dirty="0">
                <a:effectLst/>
                <a:latin typeface="gg sans"/>
              </a:rPr>
              <a:t>의심이 가는 오류 원인을 수정해가며 목표 페이지를 순회하는 문제와 목표 요소를 선택하는 문제를 해결함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이수경</a:t>
            </a:r>
            <a:r>
              <a:rPr lang="en-US" altLang="ko-KR" dirty="0"/>
              <a:t>:</a:t>
            </a:r>
          </a:p>
          <a:p>
            <a:r>
              <a:rPr lang="en-US" altLang="ko-KR" dirty="0" err="1"/>
              <a:t>KoNLPy</a:t>
            </a:r>
            <a:r>
              <a:rPr lang="ko-KR" altLang="en-US" dirty="0"/>
              <a:t>에서 </a:t>
            </a:r>
            <a:r>
              <a:rPr lang="en-US" altLang="ko-KR" dirty="0" err="1"/>
              <a:t>Okt</a:t>
            </a:r>
            <a:r>
              <a:rPr lang="ko-KR" altLang="en-US" dirty="0"/>
              <a:t>를 사용할 때 </a:t>
            </a:r>
            <a:r>
              <a:rPr lang="en-US" altLang="ko-KR" dirty="0"/>
              <a:t>Java </a:t>
            </a:r>
            <a:r>
              <a:rPr lang="ko-KR" altLang="en-US" dirty="0"/>
              <a:t>환경에서 필요한 패키지가 로드되지 않거나 잘못된 </a:t>
            </a:r>
            <a:r>
              <a:rPr lang="en-US" altLang="ko-KR" dirty="0"/>
              <a:t>Java </a:t>
            </a:r>
            <a:r>
              <a:rPr lang="ko-KR" altLang="en-US" dirty="0"/>
              <a:t>설정으로 인해 발생하는 문제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 err="1"/>
              <a:t>JPype</a:t>
            </a:r>
            <a:r>
              <a:rPr lang="en-US" altLang="ko-KR" dirty="0"/>
              <a:t>, java, python</a:t>
            </a:r>
            <a:r>
              <a:rPr lang="ko-KR" altLang="en-US" dirty="0"/>
              <a:t> 서로 호환되는 버전으로 재설치 및 설치경로에 한글이 없는 위치로 변경함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김현우 </a:t>
            </a:r>
            <a:r>
              <a:rPr lang="en-US" altLang="ko-KR" dirty="0"/>
              <a:t>&amp; </a:t>
            </a:r>
            <a:r>
              <a:rPr lang="ko-KR" altLang="en-US" dirty="0"/>
              <a:t>정찬우</a:t>
            </a:r>
            <a:endParaRPr lang="en-US" altLang="ko-KR" dirty="0"/>
          </a:p>
          <a:p>
            <a:r>
              <a:rPr lang="ko-KR" altLang="en-US" dirty="0" err="1"/>
              <a:t>라마인덱스로</a:t>
            </a:r>
            <a:r>
              <a:rPr lang="ko-KR" altLang="en-US" dirty="0"/>
              <a:t> 코사인 유사도 오류 수정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/>
              <a:t>Pinecone</a:t>
            </a:r>
            <a:r>
              <a:rPr lang="ko-KR" altLang="en-US" dirty="0"/>
              <a:t>에 저장된 데이터에 맞게 자연어 처리 필터링 코드 수정</a:t>
            </a:r>
            <a:endParaRPr lang="en-US" altLang="ko-KR" dirty="0"/>
          </a:p>
          <a:p>
            <a:r>
              <a:rPr lang="ko-KR" altLang="en-US" dirty="0" err="1"/>
              <a:t>라마인덱스와</a:t>
            </a:r>
            <a:r>
              <a:rPr lang="ko-KR" altLang="en-US" dirty="0"/>
              <a:t> </a:t>
            </a:r>
            <a:r>
              <a:rPr lang="en-US" altLang="ko-KR" dirty="0"/>
              <a:t>pinecone</a:t>
            </a:r>
            <a:r>
              <a:rPr lang="ko-KR" altLang="en-US" dirty="0"/>
              <a:t>이 </a:t>
            </a:r>
            <a:r>
              <a:rPr lang="ko-KR" altLang="en-US" dirty="0" err="1"/>
              <a:t>결함된</a:t>
            </a:r>
            <a:r>
              <a:rPr lang="ko-KR" altLang="en-US" dirty="0"/>
              <a:t> 참고 코드가 많이 없음</a:t>
            </a:r>
            <a:r>
              <a:rPr lang="en-US" altLang="ko-KR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dirty="0"/>
              <a:t>라마 인덱스의 공식 문서 자료를 참고하며 코드 수정이 </a:t>
            </a:r>
            <a:r>
              <a:rPr lang="ko-KR" altLang="en-US" dirty="0" err="1"/>
              <a:t>필요해보임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2D9C06-D3D8-B31B-AC8E-3E35C1DA6E32}"/>
              </a:ext>
            </a:extLst>
          </p:cNvPr>
          <p:cNvSpPr txBox="1"/>
          <p:nvPr/>
        </p:nvSpPr>
        <p:spPr>
          <a:xfrm>
            <a:off x="381000" y="82867"/>
            <a:ext cx="6096000" cy="558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800" dirty="0"/>
              <a:t>2. </a:t>
            </a:r>
            <a:r>
              <a:rPr lang="ko-KR" altLang="en-US" sz="1800" dirty="0"/>
              <a:t>오류발생 및 해결방안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1679086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0E1D11B-E7DE-6960-316F-7A26E3F0ADDD}"/>
              </a:ext>
            </a:extLst>
          </p:cNvPr>
          <p:cNvSpPr txBox="1"/>
          <p:nvPr/>
        </p:nvSpPr>
        <p:spPr>
          <a:xfrm>
            <a:off x="323850" y="285750"/>
            <a:ext cx="4178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/>
              <a:t>3. WBS </a:t>
            </a:r>
            <a:r>
              <a:rPr lang="ko-KR" altLang="en-US" sz="1800" dirty="0"/>
              <a:t>업데이트</a:t>
            </a:r>
            <a:endParaRPr lang="en-US" altLang="ko-KR" sz="1800" dirty="0"/>
          </a:p>
          <a:p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E0FA81-3BE3-737B-D1B8-24485991E451}"/>
              </a:ext>
            </a:extLst>
          </p:cNvPr>
          <p:cNvSpPr txBox="1"/>
          <p:nvPr/>
        </p:nvSpPr>
        <p:spPr>
          <a:xfrm>
            <a:off x="527050" y="12226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2"/>
              </a:rPr>
              <a:t>분류별 진척사항 </a:t>
            </a:r>
            <a:r>
              <a:rPr lang="en-US" altLang="ko-KR" dirty="0">
                <a:hlinkClick r:id="rId2"/>
              </a:rPr>
              <a:t>- Google Sheets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809347-2FD7-F76D-DA0D-9DFBF016F92A}"/>
              </a:ext>
            </a:extLst>
          </p:cNvPr>
          <p:cNvSpPr txBox="1"/>
          <p:nvPr/>
        </p:nvSpPr>
        <p:spPr>
          <a:xfrm>
            <a:off x="558800" y="717550"/>
            <a:ext cx="568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분류별 진척사항으로 가시성이 좋게 수정</a:t>
            </a:r>
          </a:p>
        </p:txBody>
      </p:sp>
    </p:spTree>
    <p:extLst>
      <p:ext uri="{BB962C8B-B14F-4D97-AF65-F5344CB8AC3E}">
        <p14:creationId xmlns:p14="http://schemas.microsoft.com/office/powerpoint/2010/main" val="1900198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EDE8BC60-3262-04A4-C4BD-0CE04FFBE111}"/>
              </a:ext>
            </a:extLst>
          </p:cNvPr>
          <p:cNvGraphicFramePr/>
          <p:nvPr/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2507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58CDA9-0364-91F4-1BD9-F2C1B340837E}"/>
              </a:ext>
            </a:extLst>
          </p:cNvPr>
          <p:cNvSpPr txBox="1"/>
          <p:nvPr/>
        </p:nvSpPr>
        <p:spPr>
          <a:xfrm>
            <a:off x="129462" y="362566"/>
            <a:ext cx="5111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4. </a:t>
            </a:r>
            <a:r>
              <a:rPr lang="ko-KR" altLang="en-US" dirty="0"/>
              <a:t>다음주 진행 목표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9941C5-3980-98BF-853F-C9021E10575F}"/>
              </a:ext>
            </a:extLst>
          </p:cNvPr>
          <p:cNvSpPr txBox="1"/>
          <p:nvPr/>
        </p:nvSpPr>
        <p:spPr>
          <a:xfrm>
            <a:off x="296658" y="845606"/>
            <a:ext cx="11104595" cy="5982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base" latinLnBrk="1">
              <a:lnSpc>
                <a:spcPct val="130000"/>
              </a:lnSpc>
              <a:spcAft>
                <a:spcPts val="1000"/>
              </a:spcAft>
              <a:buSzPts val="1000"/>
              <a:tabLst>
                <a:tab pos="457200" algn="l"/>
              </a:tabLst>
            </a:pPr>
            <a:r>
              <a:rPr lang="ko-KR" altLang="ko-KR" sz="20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  <a:t>정찬우</a:t>
            </a:r>
            <a:r>
              <a:rPr lang="en-US" altLang="ko-KR" sz="20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  <a:t> </a:t>
            </a:r>
            <a:br>
              <a:rPr lang="en-US" altLang="ko-KR" sz="2000" kern="0" dirty="0">
                <a:solidFill>
                  <a:srgbClr val="000000"/>
                </a:solidFill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</a:br>
            <a:r>
              <a:rPr lang="ko-KR" altLang="ko-KR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  <a:t>사용자가 요청한 주식 종가 출력 함수 구현</a:t>
            </a:r>
            <a:br>
              <a:rPr lang="en-US" altLang="ko-KR" kern="0" dirty="0">
                <a:solidFill>
                  <a:srgbClr val="000000"/>
                </a:solidFill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</a:br>
            <a:r>
              <a:rPr lang="ko-KR" altLang="en-US" kern="0" dirty="0">
                <a:solidFill>
                  <a:srgbClr val="000000"/>
                </a:solidFill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  <a:t>질문 </a:t>
            </a:r>
            <a:r>
              <a:rPr lang="ko-KR" altLang="en-US" kern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  <a:t>임베딩</a:t>
            </a:r>
            <a:r>
              <a:rPr lang="ko-KR" altLang="en-US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  <a:t> 전에 특정 질문을 파악하는 함수 구현</a:t>
            </a:r>
            <a:endParaRPr lang="en-US" altLang="ko-KR" kern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나눔바른고딕"/>
              <a:cs typeface="굴림" panose="020B0600000101010101" pitchFamily="50" charset="-127"/>
            </a:endParaRPr>
          </a:p>
          <a:p>
            <a:pPr lvl="0" fontAlgn="base" latinLnBrk="1">
              <a:lnSpc>
                <a:spcPct val="130000"/>
              </a:lnSpc>
              <a:spcAft>
                <a:spcPts val="1000"/>
              </a:spcAft>
              <a:buSzPts val="1000"/>
              <a:tabLst>
                <a:tab pos="457200" algn="l"/>
              </a:tabLst>
            </a:pPr>
            <a:endParaRPr lang="en-US" altLang="ko-KR" kern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나눔바른고딕"/>
              <a:cs typeface="굴림" panose="020B0600000101010101" pitchFamily="50" charset="-127"/>
            </a:endParaRPr>
          </a:p>
          <a:p>
            <a:pPr lvl="0" fontAlgn="base" latinLnBrk="1">
              <a:lnSpc>
                <a:spcPct val="130000"/>
              </a:lnSpc>
              <a:spcAft>
                <a:spcPts val="1000"/>
              </a:spcAft>
              <a:buSzPts val="1000"/>
              <a:tabLst>
                <a:tab pos="457200" algn="l"/>
              </a:tabLst>
            </a:pPr>
            <a:r>
              <a:rPr lang="ko-KR" altLang="ko-KR" sz="20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  <a:t>이승준</a:t>
            </a:r>
            <a:br>
              <a:rPr lang="en-US" altLang="ko-KR" sz="2000" kern="0" dirty="0">
                <a:solidFill>
                  <a:srgbClr val="000000"/>
                </a:solidFill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</a:br>
            <a:r>
              <a:rPr lang="ko-KR" altLang="en-US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  <a:t>공시 데이터를 불러오는 함수 구현</a:t>
            </a:r>
            <a:endParaRPr lang="en-US" altLang="ko-KR" kern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나눔바른고딕"/>
              <a:cs typeface="굴림" panose="020B0600000101010101" pitchFamily="50" charset="-127"/>
            </a:endParaRPr>
          </a:p>
          <a:p>
            <a:pPr lvl="0" fontAlgn="base" latinLnBrk="1">
              <a:lnSpc>
                <a:spcPct val="130000"/>
              </a:lnSpc>
              <a:spcAft>
                <a:spcPts val="1000"/>
              </a:spcAft>
              <a:buSzPts val="1000"/>
              <a:tabLst>
                <a:tab pos="457200" algn="l"/>
              </a:tabLst>
            </a:pPr>
            <a:endParaRPr lang="en-US" altLang="ko-KR" sz="2000" kern="0" dirty="0">
              <a:solidFill>
                <a:srgbClr val="000000"/>
              </a:solidFill>
              <a:latin typeface="맑은 고딕" panose="020B0503020000020004" pitchFamily="50" charset="-127"/>
              <a:ea typeface="나눔바른고딕"/>
              <a:cs typeface="굴림" panose="020B0600000101010101" pitchFamily="50" charset="-127"/>
            </a:endParaRPr>
          </a:p>
          <a:p>
            <a:r>
              <a:rPr lang="ko-KR" altLang="ko-KR" sz="2000" kern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  <a:t>이수경</a:t>
            </a:r>
            <a:br>
              <a:rPr lang="en-US" altLang="ko-KR" sz="2000" kern="0" dirty="0">
                <a:solidFill>
                  <a:srgbClr val="000000"/>
                </a:solidFill>
                <a:latin typeface="맑은 고딕" panose="020B0503020000020004" pitchFamily="50" charset="-127"/>
                <a:ea typeface="나눔바른고딕"/>
                <a:cs typeface="굴림" panose="020B0600000101010101" pitchFamily="50" charset="-127"/>
              </a:rPr>
            </a:br>
            <a:r>
              <a:rPr lang="ko-KR" altLang="en-US" sz="2000" dirty="0" err="1"/>
              <a:t>임베딩</a:t>
            </a:r>
            <a:r>
              <a:rPr lang="ko-KR" altLang="en-US" sz="2000" dirty="0"/>
              <a:t> 데이터의 테스트 및 정확성 검증</a:t>
            </a:r>
          </a:p>
          <a:p>
            <a:r>
              <a:rPr lang="ko-KR" altLang="en-US" sz="2000" dirty="0"/>
              <a:t>코드 개선 및 효율성 향상</a:t>
            </a:r>
          </a:p>
          <a:p>
            <a:pPr lvl="0" fontAlgn="base" latinLnBrk="1">
              <a:lnSpc>
                <a:spcPct val="130000"/>
              </a:lnSpc>
              <a:spcAft>
                <a:spcPts val="1000"/>
              </a:spcAft>
              <a:buSzPts val="1000"/>
              <a:tabLst>
                <a:tab pos="457200" algn="l"/>
              </a:tabLst>
            </a:pPr>
            <a:endParaRPr lang="en-US" altLang="ko-KR" sz="2000" kern="0" dirty="0">
              <a:solidFill>
                <a:srgbClr val="000000"/>
              </a:solidFill>
              <a:effectLst/>
              <a:ea typeface="나눔바른고딕"/>
              <a:cs typeface="굴림" panose="020B0600000101010101" pitchFamily="50" charset="-127"/>
            </a:endParaRPr>
          </a:p>
          <a:p>
            <a:pPr lvl="0" fontAlgn="base" latinLnBrk="1">
              <a:lnSpc>
                <a:spcPct val="130000"/>
              </a:lnSpc>
              <a:spcAft>
                <a:spcPts val="1000"/>
              </a:spcAft>
              <a:buSzPts val="1000"/>
              <a:tabLst>
                <a:tab pos="457200" algn="l"/>
              </a:tabLst>
            </a:pPr>
            <a:r>
              <a:rPr lang="ko-KR" altLang="ko-KR" sz="2000" kern="0" dirty="0">
                <a:solidFill>
                  <a:srgbClr val="000000"/>
                </a:solidFill>
                <a:effectLst/>
                <a:ea typeface="나눔바른고딕"/>
                <a:cs typeface="굴림" panose="020B0600000101010101" pitchFamily="50" charset="-127"/>
              </a:rPr>
              <a:t>김현우</a:t>
            </a:r>
            <a:br>
              <a:rPr lang="en-US" altLang="ko-KR" sz="2000" kern="0" dirty="0">
                <a:solidFill>
                  <a:srgbClr val="000000"/>
                </a:solidFill>
                <a:ea typeface="나눔바른고딕"/>
                <a:cs typeface="굴림" panose="020B0600000101010101" pitchFamily="50" charset="-127"/>
              </a:rPr>
            </a:br>
            <a:r>
              <a:rPr lang="ko-KR" altLang="ko-KR" sz="2000" kern="0" dirty="0">
                <a:solidFill>
                  <a:srgbClr val="000000"/>
                </a:solidFill>
                <a:effectLst/>
                <a:ea typeface="나눔바른고딕"/>
                <a:cs typeface="굴림" panose="020B0600000101010101" pitchFamily="50" charset="-127"/>
              </a:rPr>
              <a:t>자연어처리가 완료된 파일에</a:t>
            </a:r>
            <a:r>
              <a:rPr lang="en-US" altLang="ko-KR" sz="2000" kern="0" dirty="0">
                <a:solidFill>
                  <a:srgbClr val="000000"/>
                </a:solidFill>
                <a:effectLst/>
                <a:ea typeface="나눔바른고딕"/>
                <a:cs typeface="굴림" panose="020B0600000101010101" pitchFamily="50" charset="-127"/>
              </a:rPr>
              <a:t> </a:t>
            </a:r>
            <a:r>
              <a:rPr lang="en-US" altLang="ko-KR" sz="2000" kern="0" dirty="0" err="1">
                <a:solidFill>
                  <a:srgbClr val="000000"/>
                </a:solidFill>
                <a:effectLst/>
                <a:ea typeface="나눔바른고딕"/>
                <a:cs typeface="굴림" panose="020B0600000101010101" pitchFamily="50" charset="-127"/>
              </a:rPr>
              <a:t>LlamaIndex</a:t>
            </a:r>
            <a:r>
              <a:rPr lang="en-US" altLang="ko-KR" sz="2000" kern="0" dirty="0">
                <a:solidFill>
                  <a:srgbClr val="000000"/>
                </a:solidFill>
                <a:effectLst/>
                <a:ea typeface="나눔바른고딕"/>
                <a:cs typeface="굴림" panose="020B0600000101010101" pitchFamily="50" charset="-127"/>
              </a:rPr>
              <a:t> </a:t>
            </a:r>
            <a:r>
              <a:rPr lang="ko-KR" altLang="ko-KR" sz="2000" kern="0" dirty="0">
                <a:solidFill>
                  <a:srgbClr val="000000"/>
                </a:solidFill>
                <a:effectLst/>
                <a:ea typeface="나눔바른고딕"/>
                <a:cs typeface="굴림" panose="020B0600000101010101" pitchFamily="50" charset="-127"/>
              </a:rPr>
              <a:t>추가</a:t>
            </a:r>
            <a:endParaRPr lang="en-US" altLang="ko-KR" sz="2000" kern="0" dirty="0">
              <a:solidFill>
                <a:srgbClr val="000000"/>
              </a:solidFill>
              <a:effectLst/>
              <a:ea typeface="나눔바른고딕"/>
              <a:cs typeface="굴림" panose="020B0600000101010101" pitchFamily="50" charset="-127"/>
            </a:endParaRPr>
          </a:p>
          <a:p>
            <a:pPr lvl="0" fontAlgn="base" latinLnBrk="1">
              <a:lnSpc>
                <a:spcPct val="130000"/>
              </a:lnSpc>
              <a:spcAft>
                <a:spcPts val="1000"/>
              </a:spcAft>
              <a:buSzPts val="1000"/>
              <a:tabLst>
                <a:tab pos="457200" algn="l"/>
              </a:tabLst>
            </a:pPr>
            <a:r>
              <a:rPr lang="en-US" altLang="ko-KR" sz="2000" kern="0" dirty="0">
                <a:solidFill>
                  <a:srgbClr val="000000"/>
                </a:solidFill>
              </a:rPr>
              <a:t>Llama-index</a:t>
            </a:r>
            <a:r>
              <a:rPr lang="ko-KR" altLang="en-US" sz="2000" kern="0" dirty="0">
                <a:solidFill>
                  <a:srgbClr val="000000"/>
                </a:solidFill>
              </a:rPr>
              <a:t>의 캐시를 구현하여 계속된 반복 질문에 대해 속도 개선과 </a:t>
            </a:r>
            <a:r>
              <a:rPr lang="en-US" altLang="ko-KR" sz="2000" kern="0" dirty="0" err="1">
                <a:solidFill>
                  <a:srgbClr val="000000"/>
                </a:solidFill>
              </a:rPr>
              <a:t>api</a:t>
            </a:r>
            <a:r>
              <a:rPr lang="ko-KR" altLang="en-US" sz="2000" kern="0" dirty="0">
                <a:solidFill>
                  <a:srgbClr val="000000"/>
                </a:solidFill>
              </a:rPr>
              <a:t> 반복 호출에 대비</a:t>
            </a:r>
            <a:r>
              <a:rPr lang="en-US" altLang="ko-KR" sz="2000" kern="0" dirty="0">
                <a:solidFill>
                  <a:srgbClr val="000000"/>
                </a:solidFill>
              </a:rPr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036845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609</TotalTime>
  <Words>655</Words>
  <Application>Microsoft Office PowerPoint</Application>
  <PresentationFormat>와이드스크린</PresentationFormat>
  <Paragraphs>107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2" baseType="lpstr">
      <vt:lpstr>gg sans</vt:lpstr>
      <vt:lpstr>inherit</vt:lpstr>
      <vt:lpstr>나눔바른고딕</vt:lpstr>
      <vt:lpstr>맑은 고딕</vt:lpstr>
      <vt:lpstr>Arial</vt:lpstr>
      <vt:lpstr>Wingdings</vt:lpstr>
      <vt:lpstr>Office 테마</vt:lpstr>
      <vt:lpstr>LLM의 정상화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정찬우</dc:creator>
  <cp:lastModifiedBy>dltnrud377@naver.com</cp:lastModifiedBy>
  <cp:revision>7</cp:revision>
  <dcterms:created xsi:type="dcterms:W3CDTF">2024-11-12T20:27:06Z</dcterms:created>
  <dcterms:modified xsi:type="dcterms:W3CDTF">2024-11-27T02:48:19Z</dcterms:modified>
</cp:coreProperties>
</file>